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Hydrological and Hydraulic Modeling + AI/ML-Based Prediction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789920" y="137160"/>
            <a:ext cx="1371600" cy="457200"/>
          </a:xfrm>
          <a:prstGeom prst="rect">
            <a:avLst/>
          </a:prstGeom>
          <a:solidFill>
            <a:srgbClr val="000000"/>
          </a:solidFill>
          <a:ln w="25400">
            <a:solidFill>
              <a:srgbClr val="6B9F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137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743200" cy="4297680"/>
          </a:xfrm>
          <a:prstGeom prst="rect">
            <a:avLst/>
          </a:prstGeom>
          <a:solidFill>
            <a:srgbClr val="E8E8E8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7B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BA7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91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water level sensors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92024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0.1–30+ m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65760" y="210312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&lt;3m, Warning 3–5m, Danger &gt;5m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0040" y="2395728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414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gauges (intensity)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67004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0–300 mm/hr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5760" y="285292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&lt;20, Moderate 20–50, Extreme &gt;100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20040" y="3145536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9125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Density Data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419856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1–50,000 people/sq km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5760" y="3602736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/ Dense / Highly Dense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0040" y="3895344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94106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Footprints, Roads, Infrastructure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16966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Roads, bridges, buildings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5760" y="435254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Exposure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20040" y="4645152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908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topography (UAV, Slope, Elevation, DEM)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919472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1–30 m spatial resolution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65760" y="5102352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/ Moderate Slope / Steep Terrain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00400" y="1051560"/>
            <a:ext cx="2651760" cy="4297680"/>
          </a:xfrm>
          <a:prstGeom prst="rect">
            <a:avLst/>
          </a:prstGeom>
          <a:solidFill>
            <a:srgbClr val="6B9FA0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0" y="91440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7B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BA7"/>
                </a:solidFill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00400" y="1280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MODELING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91840" y="1691640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1719072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Water Level Sensors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37560" y="1865376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0.1–30+ m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337560" y="1984248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&lt;3m, Warning 3–5m, Danger &gt;5m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3291840" y="2130552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2157984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Gauges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37560" y="2304288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0–300 mm/hr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3337560" y="2423160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&lt;20, Moderate 20–50, Extreme &gt;100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3291840" y="2569464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2596896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Discharge Sensors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337560" y="2743200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1–100,000 m³/s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3337560" y="2862072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/ Elevated / Flood Surge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291840" y="3008376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3035808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Data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37560" y="3182112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0–100%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3337560" y="3300984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/ Saturated / Critical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3291840" y="3447288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37560" y="3474720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Topography (DEM/UAV)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337560" y="3621024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1–30 m spatial resolution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3337560" y="3739896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/ Moderate Slope / Steep Terrain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3291840" y="3886200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3913632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Density Data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37560" y="4059936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1–50,000 people/sq km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3337560" y="4178808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/ Dense / Highly Dense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3291840" y="4325112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37560" y="4352544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Infrastructure Data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337560" y="4498848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Roads, bridges, buildings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3337560" y="4617720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Exposure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3291840" y="4764024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4791456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API Integration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337560" y="4937760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5 sec – 15 min refresh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3337560" y="5056632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/ Delayed / Offline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3291840" y="5257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080760" y="1051560"/>
            <a:ext cx="2651760" cy="4297680"/>
          </a:xfrm>
          <a:prstGeom prst="rect">
            <a:avLst/>
          </a:prstGeom>
          <a:solidFill>
            <a:srgbClr val="5A5A5A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086600" y="91440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7BA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8660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BA7"/>
                </a:solidFill>
              </a:rPr>
              <a:t>3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080760" y="1280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AI / ML ENHANCEMENT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172200" y="1691640"/>
            <a:ext cx="2468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17920" y="176479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Neural Networks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flood forecasting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172200" y="2404872"/>
            <a:ext cx="2468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17920" y="247802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flood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 mapping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172200" y="3118104"/>
            <a:ext cx="2468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17920" y="319125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MCDM-AHP risk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scoring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172200" y="3831336"/>
            <a:ext cx="2468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17920" y="39044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flood predictive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(real-time)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172200" y="4526280"/>
            <a:ext cx="2468880" cy="777240"/>
          </a:xfrm>
          <a:prstGeom prst="rect">
            <a:avLst/>
          </a:prstGeom>
          <a:solidFill>
            <a:srgbClr val="000000"/>
          </a:solidFill>
          <a:ln w="25400">
            <a:solidFill>
              <a:srgbClr val="E67E22"/>
            </a:solidFill>
            <a:prstDash val="dash"/>
          </a:ln>
        </p:spPr>
      </p:sp>
      <p:sp>
        <p:nvSpPr>
          <p:cNvPr id="80" name="Text 78"/>
          <p:cNvSpPr/>
          <p:nvPr/>
        </p:nvSpPr>
        <p:spPr>
          <a:xfrm>
            <a:off x="6217920" y="45720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263640" y="4800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enhancement to be integrated in Phase 2 — augmenting deterministic models with predictive intelligence. Starting ~3 months past sensor data availability.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8961120" y="1051560"/>
            <a:ext cx="2880360" cy="4297680"/>
          </a:xfrm>
          <a:prstGeom prst="rect">
            <a:avLst/>
          </a:prstGeom>
          <a:solidFill>
            <a:srgbClr val="1E3A5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241280" y="91440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7BA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24128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BA7"/>
                </a:solidFill>
              </a:rPr>
              <a:t>4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8961120" y="12801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&amp; ALERTS [Pillar 1]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9052560" y="169164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098280" y="173736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extent &amp; inundation map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9098280" y="1984248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&lt;5 to 10,000+ sq km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9098280" y="2167128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/ Moderate / Severe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9052560" y="2441448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098280" y="24871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infrastructure exposure index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9098280" y="2734056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100 – millions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9098280" y="2916936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Critical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9052560" y="3191256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098280" y="323697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Evacuation safe zone analysis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9098280" y="3483864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1–20 km radius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9098280" y="3666744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Restricted / Unsafe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9052560" y="3941064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098280" y="3986784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Pre-Disaster warning information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9098280" y="423367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Seconds–minutes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9098280" y="441655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/ Watch / Warning / Emergency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228600" y="548640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Data Requirement Note: Large-scale historical and predictive analysis will be performed using geospatial AI and ML-based approaches integrated with satellite imagery, remote sensing data, terrain data sources, river flow parameters, time-series data, socio-economic datasets, and census information.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274320" y="5943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Straive</a:t>
            </a:r>
            <a:endParaRPr lang="en-US" sz="1400" dirty="0"/>
          </a:p>
        </p:txBody>
      </p:sp>
      <p:sp>
        <p:nvSpPr>
          <p:cNvPr id="104" name="Text 102"/>
          <p:cNvSpPr/>
          <p:nvPr/>
        </p:nvSpPr>
        <p:spPr>
          <a:xfrm>
            <a:off x="4572000" y="5989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Straive. All rights reserved | www.straive.com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Label: General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2026-05-16T08:15:29Z</dcterms:created>
  <dcterms:modified xsi:type="dcterms:W3CDTF">2026-05-16T08:15:29Z</dcterms:modified>
</cp:coreProperties>
</file>