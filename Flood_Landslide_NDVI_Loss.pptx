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2194560" cy="2926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 •  LANDSLIDE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0467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NDVI Loss: Vegetation Stripped by Debris Flow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NDVI comparison reveals the spatial footprint of vegetation lost when intense rainfall triggered a hillslope failure and debris flow.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" y="2167128"/>
            <a:ext cx="4169664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10328" y="2167128"/>
            <a:ext cx="4169664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9" name="Image 0" descr="/home/claude/slide/ndvi_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40280"/>
            <a:ext cx="4023360" cy="3017520"/>
          </a:xfrm>
          <a:prstGeom prst="rect">
            <a:avLst/>
          </a:prstGeom>
        </p:spPr>
      </p:pic>
      <p:pic>
        <p:nvPicPr>
          <p:cNvPr id="10" name="Image 1" descr="/home/claude/slide/ndvi_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240280"/>
            <a:ext cx="4023360" cy="30175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2960" y="2377440"/>
            <a:ext cx="1280160" cy="320040"/>
          </a:xfrm>
          <a:prstGeom prst="rect">
            <a:avLst/>
          </a:prstGeom>
          <a:solidFill>
            <a:srgbClr val="1B2A1B"/>
          </a:solidFill>
          <a:ln/>
        </p:spPr>
      </p:sp>
      <p:sp>
        <p:nvSpPr>
          <p:cNvPr id="12" name="Text 8"/>
          <p:cNvSpPr/>
          <p:nvPr/>
        </p:nvSpPr>
        <p:spPr>
          <a:xfrm>
            <a:off x="822960" y="2377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Mar 2024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120640" y="2377440"/>
            <a:ext cx="1188720" cy="320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4" name="Text 10"/>
          <p:cNvSpPr/>
          <p:nvPr/>
        </p:nvSpPr>
        <p:spPr>
          <a:xfrm>
            <a:off x="512064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Aug 2024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85800" y="5349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canopy, NDVI ≈ 0.75–0.85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83480" y="5349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scar exposed, NDVI drops below 0.1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189720" y="21945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9189720" y="24688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86,000 m²</a:t>
            </a:r>
            <a:endParaRPr lang="en-US" sz="3400" dirty="0"/>
          </a:p>
        </p:txBody>
      </p:sp>
      <p:sp>
        <p:nvSpPr>
          <p:cNvPr id="19" name="Text 15"/>
          <p:cNvSpPr/>
          <p:nvPr/>
        </p:nvSpPr>
        <p:spPr>
          <a:xfrm>
            <a:off x="9189720" y="3063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land mass displaced along the debris-flow corridor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9189720" y="3566160"/>
            <a:ext cx="2606040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189720" y="36576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 km</a:t>
            </a:r>
            <a:endParaRPr lang="en-US" sz="3400" dirty="0"/>
          </a:p>
        </p:txBody>
      </p:sp>
      <p:sp>
        <p:nvSpPr>
          <p:cNvPr id="22" name="Text 18"/>
          <p:cNvSpPr/>
          <p:nvPr/>
        </p:nvSpPr>
        <p:spPr>
          <a:xfrm>
            <a:off x="9189720" y="4206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vegetation scar from source to deposition fan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189720" y="4709160"/>
            <a:ext cx="2606040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189720" y="4800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9189720" y="507492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short-duration rainfall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Steep, saturated forest slopes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B2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root cohesion &amp; soil anchoring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85800" y="5989320"/>
            <a:ext cx="137160" cy="201168"/>
          </a:xfrm>
          <a:prstGeom prst="rect">
            <a:avLst/>
          </a:prstGeom>
          <a:solidFill>
            <a:srgbClr val="8C3228"/>
          </a:solidFill>
          <a:ln/>
        </p:spPr>
      </p:sp>
      <p:sp>
        <p:nvSpPr>
          <p:cNvPr id="27" name="Shape 23"/>
          <p:cNvSpPr/>
          <p:nvPr/>
        </p:nvSpPr>
        <p:spPr>
          <a:xfrm>
            <a:off x="818388" y="5989320"/>
            <a:ext cx="137160" cy="201168"/>
          </a:xfrm>
          <a:prstGeom prst="rect">
            <a:avLst/>
          </a:prstGeom>
          <a:solidFill>
            <a:srgbClr val="91372A"/>
          </a:solidFill>
          <a:ln/>
        </p:spPr>
      </p:sp>
      <p:sp>
        <p:nvSpPr>
          <p:cNvPr id="28" name="Shape 24"/>
          <p:cNvSpPr/>
          <p:nvPr/>
        </p:nvSpPr>
        <p:spPr>
          <a:xfrm>
            <a:off x="950976" y="5989320"/>
            <a:ext cx="137160" cy="201168"/>
          </a:xfrm>
          <a:prstGeom prst="rect">
            <a:avLst/>
          </a:prstGeom>
          <a:solidFill>
            <a:srgbClr val="953D2C"/>
          </a:solidFill>
          <a:ln/>
        </p:spPr>
      </p:sp>
      <p:sp>
        <p:nvSpPr>
          <p:cNvPr id="29" name="Shape 25"/>
          <p:cNvSpPr/>
          <p:nvPr/>
        </p:nvSpPr>
        <p:spPr>
          <a:xfrm>
            <a:off x="1083564" y="5989320"/>
            <a:ext cx="137160" cy="201168"/>
          </a:xfrm>
          <a:prstGeom prst="rect">
            <a:avLst/>
          </a:prstGeom>
          <a:solidFill>
            <a:srgbClr val="9A422D"/>
          </a:solidFill>
          <a:ln/>
        </p:spPr>
      </p:sp>
      <p:sp>
        <p:nvSpPr>
          <p:cNvPr id="30" name="Shape 26"/>
          <p:cNvSpPr/>
          <p:nvPr/>
        </p:nvSpPr>
        <p:spPr>
          <a:xfrm>
            <a:off x="1216152" y="5989320"/>
            <a:ext cx="137160" cy="201168"/>
          </a:xfrm>
          <a:prstGeom prst="rect">
            <a:avLst/>
          </a:prstGeom>
          <a:solidFill>
            <a:srgbClr val="9F472F"/>
          </a:solidFill>
          <a:ln/>
        </p:spPr>
      </p:sp>
      <p:sp>
        <p:nvSpPr>
          <p:cNvPr id="31" name="Shape 27"/>
          <p:cNvSpPr/>
          <p:nvPr/>
        </p:nvSpPr>
        <p:spPr>
          <a:xfrm>
            <a:off x="1348740" y="5989320"/>
            <a:ext cx="137160" cy="201168"/>
          </a:xfrm>
          <a:prstGeom prst="rect">
            <a:avLst/>
          </a:prstGeom>
          <a:solidFill>
            <a:srgbClr val="A44D31"/>
          </a:solidFill>
          <a:ln/>
        </p:spPr>
      </p:sp>
      <p:sp>
        <p:nvSpPr>
          <p:cNvPr id="32" name="Shape 28"/>
          <p:cNvSpPr/>
          <p:nvPr/>
        </p:nvSpPr>
        <p:spPr>
          <a:xfrm>
            <a:off x="1481328" y="5989320"/>
            <a:ext cx="137160" cy="201168"/>
          </a:xfrm>
          <a:prstGeom prst="rect">
            <a:avLst/>
          </a:prstGeom>
          <a:solidFill>
            <a:srgbClr val="A85233"/>
          </a:solidFill>
          <a:ln/>
        </p:spPr>
      </p:sp>
      <p:sp>
        <p:nvSpPr>
          <p:cNvPr id="33" name="Shape 29"/>
          <p:cNvSpPr/>
          <p:nvPr/>
        </p:nvSpPr>
        <p:spPr>
          <a:xfrm>
            <a:off x="1613916" y="5989320"/>
            <a:ext cx="137160" cy="201168"/>
          </a:xfrm>
          <a:prstGeom prst="rect">
            <a:avLst/>
          </a:prstGeom>
          <a:solidFill>
            <a:srgbClr val="AD5734"/>
          </a:solidFill>
          <a:ln/>
        </p:spPr>
      </p:sp>
      <p:sp>
        <p:nvSpPr>
          <p:cNvPr id="34" name="Shape 30"/>
          <p:cNvSpPr/>
          <p:nvPr/>
        </p:nvSpPr>
        <p:spPr>
          <a:xfrm>
            <a:off x="1746504" y="5989320"/>
            <a:ext cx="137160" cy="201168"/>
          </a:xfrm>
          <a:prstGeom prst="rect">
            <a:avLst/>
          </a:prstGeom>
          <a:solidFill>
            <a:srgbClr val="B25D36"/>
          </a:solidFill>
          <a:ln/>
        </p:spPr>
      </p:sp>
      <p:sp>
        <p:nvSpPr>
          <p:cNvPr id="35" name="Shape 31"/>
          <p:cNvSpPr/>
          <p:nvPr/>
        </p:nvSpPr>
        <p:spPr>
          <a:xfrm>
            <a:off x="1879092" y="5989320"/>
            <a:ext cx="137160" cy="201168"/>
          </a:xfrm>
          <a:prstGeom prst="rect">
            <a:avLst/>
          </a:prstGeom>
          <a:solidFill>
            <a:srgbClr val="B66439"/>
          </a:solidFill>
          <a:ln/>
        </p:spPr>
      </p:sp>
      <p:sp>
        <p:nvSpPr>
          <p:cNvPr id="36" name="Shape 32"/>
          <p:cNvSpPr/>
          <p:nvPr/>
        </p:nvSpPr>
        <p:spPr>
          <a:xfrm>
            <a:off x="2011680" y="5989320"/>
            <a:ext cx="137160" cy="201168"/>
          </a:xfrm>
          <a:prstGeom prst="rect">
            <a:avLst/>
          </a:prstGeom>
          <a:solidFill>
            <a:srgbClr val="BB6C3C"/>
          </a:solidFill>
          <a:ln/>
        </p:spPr>
      </p:sp>
      <p:sp>
        <p:nvSpPr>
          <p:cNvPr id="37" name="Shape 33"/>
          <p:cNvSpPr/>
          <p:nvPr/>
        </p:nvSpPr>
        <p:spPr>
          <a:xfrm>
            <a:off x="2144268" y="5989320"/>
            <a:ext cx="137160" cy="201168"/>
          </a:xfrm>
          <a:prstGeom prst="rect">
            <a:avLst/>
          </a:prstGeom>
          <a:solidFill>
            <a:srgbClr val="BF743F"/>
          </a:solidFill>
          <a:ln/>
        </p:spPr>
      </p:sp>
      <p:sp>
        <p:nvSpPr>
          <p:cNvPr id="38" name="Shape 34"/>
          <p:cNvSpPr/>
          <p:nvPr/>
        </p:nvSpPr>
        <p:spPr>
          <a:xfrm>
            <a:off x="2276856" y="5989320"/>
            <a:ext cx="137160" cy="201168"/>
          </a:xfrm>
          <a:prstGeom prst="rect">
            <a:avLst/>
          </a:prstGeom>
          <a:solidFill>
            <a:srgbClr val="C37D42"/>
          </a:solidFill>
          <a:ln/>
        </p:spPr>
      </p:sp>
      <p:sp>
        <p:nvSpPr>
          <p:cNvPr id="39" name="Shape 35"/>
          <p:cNvSpPr/>
          <p:nvPr/>
        </p:nvSpPr>
        <p:spPr>
          <a:xfrm>
            <a:off x="2409444" y="5989320"/>
            <a:ext cx="137160" cy="201168"/>
          </a:xfrm>
          <a:prstGeom prst="rect">
            <a:avLst/>
          </a:prstGeom>
          <a:solidFill>
            <a:srgbClr val="C78545"/>
          </a:solidFill>
          <a:ln/>
        </p:spPr>
      </p:sp>
      <p:sp>
        <p:nvSpPr>
          <p:cNvPr id="40" name="Shape 36"/>
          <p:cNvSpPr/>
          <p:nvPr/>
        </p:nvSpPr>
        <p:spPr>
          <a:xfrm>
            <a:off x="2542032" y="5989320"/>
            <a:ext cx="137160" cy="201168"/>
          </a:xfrm>
          <a:prstGeom prst="rect">
            <a:avLst/>
          </a:prstGeom>
          <a:solidFill>
            <a:srgbClr val="CB8D48"/>
          </a:solidFill>
          <a:ln/>
        </p:spPr>
      </p:sp>
      <p:sp>
        <p:nvSpPr>
          <p:cNvPr id="41" name="Shape 37"/>
          <p:cNvSpPr/>
          <p:nvPr/>
        </p:nvSpPr>
        <p:spPr>
          <a:xfrm>
            <a:off x="2674620" y="5989320"/>
            <a:ext cx="137160" cy="201168"/>
          </a:xfrm>
          <a:prstGeom prst="rect">
            <a:avLst/>
          </a:prstGeom>
          <a:solidFill>
            <a:srgbClr val="CF964A"/>
          </a:solidFill>
          <a:ln/>
        </p:spPr>
      </p:sp>
      <p:sp>
        <p:nvSpPr>
          <p:cNvPr id="42" name="Shape 38"/>
          <p:cNvSpPr/>
          <p:nvPr/>
        </p:nvSpPr>
        <p:spPr>
          <a:xfrm>
            <a:off x="2807208" y="5989320"/>
            <a:ext cx="137160" cy="201168"/>
          </a:xfrm>
          <a:prstGeom prst="rect">
            <a:avLst/>
          </a:prstGeom>
          <a:solidFill>
            <a:srgbClr val="D39E4D"/>
          </a:solidFill>
          <a:ln/>
        </p:spPr>
      </p:sp>
      <p:sp>
        <p:nvSpPr>
          <p:cNvPr id="43" name="Shape 39"/>
          <p:cNvSpPr/>
          <p:nvPr/>
        </p:nvSpPr>
        <p:spPr>
          <a:xfrm>
            <a:off x="2939796" y="5989320"/>
            <a:ext cx="137160" cy="201168"/>
          </a:xfrm>
          <a:prstGeom prst="rect">
            <a:avLst/>
          </a:prstGeom>
          <a:solidFill>
            <a:srgbClr val="D7A651"/>
          </a:solidFill>
          <a:ln/>
        </p:spPr>
      </p:sp>
      <p:sp>
        <p:nvSpPr>
          <p:cNvPr id="44" name="Shape 40"/>
          <p:cNvSpPr/>
          <p:nvPr/>
        </p:nvSpPr>
        <p:spPr>
          <a:xfrm>
            <a:off x="3072384" y="5989320"/>
            <a:ext cx="137160" cy="201168"/>
          </a:xfrm>
          <a:prstGeom prst="rect">
            <a:avLst/>
          </a:prstGeom>
          <a:solidFill>
            <a:srgbClr val="DAAC54"/>
          </a:solidFill>
          <a:ln/>
        </p:spPr>
      </p:sp>
      <p:sp>
        <p:nvSpPr>
          <p:cNvPr id="45" name="Shape 41"/>
          <p:cNvSpPr/>
          <p:nvPr/>
        </p:nvSpPr>
        <p:spPr>
          <a:xfrm>
            <a:off x="3204972" y="5989320"/>
            <a:ext cx="137160" cy="201168"/>
          </a:xfrm>
          <a:prstGeom prst="rect">
            <a:avLst/>
          </a:prstGeom>
          <a:solidFill>
            <a:srgbClr val="DCB258"/>
          </a:solidFill>
          <a:ln/>
        </p:spPr>
      </p:sp>
      <p:sp>
        <p:nvSpPr>
          <p:cNvPr id="46" name="Shape 42"/>
          <p:cNvSpPr/>
          <p:nvPr/>
        </p:nvSpPr>
        <p:spPr>
          <a:xfrm>
            <a:off x="3337560" y="5989320"/>
            <a:ext cx="137160" cy="201168"/>
          </a:xfrm>
          <a:prstGeom prst="rect">
            <a:avLst/>
          </a:prstGeom>
          <a:solidFill>
            <a:srgbClr val="DEB85B"/>
          </a:solidFill>
          <a:ln/>
        </p:spPr>
      </p:sp>
      <p:sp>
        <p:nvSpPr>
          <p:cNvPr id="47" name="Shape 43"/>
          <p:cNvSpPr/>
          <p:nvPr/>
        </p:nvSpPr>
        <p:spPr>
          <a:xfrm>
            <a:off x="3470148" y="5989320"/>
            <a:ext cx="137160" cy="201168"/>
          </a:xfrm>
          <a:prstGeom prst="rect">
            <a:avLst/>
          </a:prstGeom>
          <a:solidFill>
            <a:srgbClr val="E1BE5F"/>
          </a:solidFill>
          <a:ln/>
        </p:spPr>
      </p:sp>
      <p:sp>
        <p:nvSpPr>
          <p:cNvPr id="48" name="Shape 44"/>
          <p:cNvSpPr/>
          <p:nvPr/>
        </p:nvSpPr>
        <p:spPr>
          <a:xfrm>
            <a:off x="3602736" y="5989320"/>
            <a:ext cx="137160" cy="201168"/>
          </a:xfrm>
          <a:prstGeom prst="rect">
            <a:avLst/>
          </a:prstGeom>
          <a:solidFill>
            <a:srgbClr val="E3C462"/>
          </a:solidFill>
          <a:ln/>
        </p:spPr>
      </p:sp>
      <p:sp>
        <p:nvSpPr>
          <p:cNvPr id="49" name="Shape 45"/>
          <p:cNvSpPr/>
          <p:nvPr/>
        </p:nvSpPr>
        <p:spPr>
          <a:xfrm>
            <a:off x="3735324" y="5989320"/>
            <a:ext cx="137160" cy="201168"/>
          </a:xfrm>
          <a:prstGeom prst="rect">
            <a:avLst/>
          </a:prstGeom>
          <a:solidFill>
            <a:srgbClr val="E6C966"/>
          </a:solidFill>
          <a:ln/>
        </p:spPr>
      </p:sp>
      <p:sp>
        <p:nvSpPr>
          <p:cNvPr id="50" name="Shape 46"/>
          <p:cNvSpPr/>
          <p:nvPr/>
        </p:nvSpPr>
        <p:spPr>
          <a:xfrm>
            <a:off x="3867912" y="5989320"/>
            <a:ext cx="137160" cy="201168"/>
          </a:xfrm>
          <a:prstGeom prst="rect">
            <a:avLst/>
          </a:prstGeom>
          <a:solidFill>
            <a:srgbClr val="E8CF69"/>
          </a:solidFill>
          <a:ln/>
        </p:spPr>
      </p:sp>
      <p:sp>
        <p:nvSpPr>
          <p:cNvPr id="51" name="Shape 47"/>
          <p:cNvSpPr/>
          <p:nvPr/>
        </p:nvSpPr>
        <p:spPr>
          <a:xfrm>
            <a:off x="4000500" y="5989320"/>
            <a:ext cx="137160" cy="201168"/>
          </a:xfrm>
          <a:prstGeom prst="rect">
            <a:avLst/>
          </a:prstGeom>
          <a:solidFill>
            <a:srgbClr val="EAD56D"/>
          </a:solidFill>
          <a:ln/>
        </p:spPr>
      </p:sp>
      <p:sp>
        <p:nvSpPr>
          <p:cNvPr id="52" name="Shape 48"/>
          <p:cNvSpPr/>
          <p:nvPr/>
        </p:nvSpPr>
        <p:spPr>
          <a:xfrm>
            <a:off x="4133088" y="5989320"/>
            <a:ext cx="137160" cy="201168"/>
          </a:xfrm>
          <a:prstGeom prst="rect">
            <a:avLst/>
          </a:prstGeom>
          <a:solidFill>
            <a:srgbClr val="E6D66D"/>
          </a:solidFill>
          <a:ln/>
        </p:spPr>
      </p:sp>
      <p:sp>
        <p:nvSpPr>
          <p:cNvPr id="53" name="Shape 49"/>
          <p:cNvSpPr/>
          <p:nvPr/>
        </p:nvSpPr>
        <p:spPr>
          <a:xfrm>
            <a:off x="4265676" y="5989320"/>
            <a:ext cx="137160" cy="201168"/>
          </a:xfrm>
          <a:prstGeom prst="rect">
            <a:avLst/>
          </a:prstGeom>
          <a:solidFill>
            <a:srgbClr val="E0D56B"/>
          </a:solidFill>
          <a:ln/>
        </p:spPr>
      </p:sp>
      <p:sp>
        <p:nvSpPr>
          <p:cNvPr id="54" name="Shape 50"/>
          <p:cNvSpPr/>
          <p:nvPr/>
        </p:nvSpPr>
        <p:spPr>
          <a:xfrm>
            <a:off x="4398264" y="5989320"/>
            <a:ext cx="137160" cy="201168"/>
          </a:xfrm>
          <a:prstGeom prst="rect">
            <a:avLst/>
          </a:prstGeom>
          <a:solidFill>
            <a:srgbClr val="D9D469"/>
          </a:solidFill>
          <a:ln/>
        </p:spPr>
      </p:sp>
      <p:sp>
        <p:nvSpPr>
          <p:cNvPr id="55" name="Shape 51"/>
          <p:cNvSpPr/>
          <p:nvPr/>
        </p:nvSpPr>
        <p:spPr>
          <a:xfrm>
            <a:off x="4530852" y="5989320"/>
            <a:ext cx="137160" cy="201168"/>
          </a:xfrm>
          <a:prstGeom prst="rect">
            <a:avLst/>
          </a:prstGeom>
          <a:solidFill>
            <a:srgbClr val="D3D367"/>
          </a:solidFill>
          <a:ln/>
        </p:spPr>
      </p:sp>
      <p:sp>
        <p:nvSpPr>
          <p:cNvPr id="56" name="Shape 52"/>
          <p:cNvSpPr/>
          <p:nvPr/>
        </p:nvSpPr>
        <p:spPr>
          <a:xfrm>
            <a:off x="4663440" y="5989320"/>
            <a:ext cx="137160" cy="201168"/>
          </a:xfrm>
          <a:prstGeom prst="rect">
            <a:avLst/>
          </a:prstGeom>
          <a:solidFill>
            <a:srgbClr val="CCD166"/>
          </a:solidFill>
          <a:ln/>
        </p:spPr>
      </p:sp>
      <p:sp>
        <p:nvSpPr>
          <p:cNvPr id="57" name="Shape 53"/>
          <p:cNvSpPr/>
          <p:nvPr/>
        </p:nvSpPr>
        <p:spPr>
          <a:xfrm>
            <a:off x="4796028" y="5989320"/>
            <a:ext cx="137160" cy="201168"/>
          </a:xfrm>
          <a:prstGeom prst="rect">
            <a:avLst/>
          </a:prstGeom>
          <a:solidFill>
            <a:srgbClr val="C6D064"/>
          </a:solidFill>
          <a:ln/>
        </p:spPr>
      </p:sp>
      <p:sp>
        <p:nvSpPr>
          <p:cNvPr id="58" name="Shape 54"/>
          <p:cNvSpPr/>
          <p:nvPr/>
        </p:nvSpPr>
        <p:spPr>
          <a:xfrm>
            <a:off x="4928616" y="5989320"/>
            <a:ext cx="137160" cy="201168"/>
          </a:xfrm>
          <a:prstGeom prst="rect">
            <a:avLst/>
          </a:prstGeom>
          <a:solidFill>
            <a:srgbClr val="BFCF62"/>
          </a:solidFill>
          <a:ln/>
        </p:spPr>
      </p:sp>
      <p:sp>
        <p:nvSpPr>
          <p:cNvPr id="59" name="Shape 55"/>
          <p:cNvSpPr/>
          <p:nvPr/>
        </p:nvSpPr>
        <p:spPr>
          <a:xfrm>
            <a:off x="5061204" y="5989320"/>
            <a:ext cx="137160" cy="201168"/>
          </a:xfrm>
          <a:prstGeom prst="rect">
            <a:avLst/>
          </a:prstGeom>
          <a:solidFill>
            <a:srgbClr val="B9CE60"/>
          </a:solidFill>
          <a:ln/>
        </p:spPr>
      </p:sp>
      <p:sp>
        <p:nvSpPr>
          <p:cNvPr id="60" name="Shape 56"/>
          <p:cNvSpPr/>
          <p:nvPr/>
        </p:nvSpPr>
        <p:spPr>
          <a:xfrm>
            <a:off x="5193792" y="5989320"/>
            <a:ext cx="137160" cy="201168"/>
          </a:xfrm>
          <a:prstGeom prst="rect">
            <a:avLst/>
          </a:prstGeom>
          <a:solidFill>
            <a:srgbClr val="B2CC5E"/>
          </a:solidFill>
          <a:ln/>
        </p:spPr>
      </p:sp>
      <p:sp>
        <p:nvSpPr>
          <p:cNvPr id="61" name="Shape 57"/>
          <p:cNvSpPr/>
          <p:nvPr/>
        </p:nvSpPr>
        <p:spPr>
          <a:xfrm>
            <a:off x="5326380" y="5989320"/>
            <a:ext cx="137160" cy="201168"/>
          </a:xfrm>
          <a:prstGeom prst="rect">
            <a:avLst/>
          </a:prstGeom>
          <a:solidFill>
            <a:srgbClr val="A9C85C"/>
          </a:solidFill>
          <a:ln/>
        </p:spPr>
      </p:sp>
      <p:sp>
        <p:nvSpPr>
          <p:cNvPr id="62" name="Shape 58"/>
          <p:cNvSpPr/>
          <p:nvPr/>
        </p:nvSpPr>
        <p:spPr>
          <a:xfrm>
            <a:off x="5458968" y="5989320"/>
            <a:ext cx="137160" cy="201168"/>
          </a:xfrm>
          <a:prstGeom prst="rect">
            <a:avLst/>
          </a:prstGeom>
          <a:solidFill>
            <a:srgbClr val="A1C55A"/>
          </a:solidFill>
          <a:ln/>
        </p:spPr>
      </p:sp>
      <p:sp>
        <p:nvSpPr>
          <p:cNvPr id="63" name="Shape 59"/>
          <p:cNvSpPr/>
          <p:nvPr/>
        </p:nvSpPr>
        <p:spPr>
          <a:xfrm>
            <a:off x="5591556" y="5989320"/>
            <a:ext cx="137160" cy="201168"/>
          </a:xfrm>
          <a:prstGeom prst="rect">
            <a:avLst/>
          </a:prstGeom>
          <a:solidFill>
            <a:srgbClr val="99C157"/>
          </a:solidFill>
          <a:ln/>
        </p:spPr>
      </p:sp>
      <p:sp>
        <p:nvSpPr>
          <p:cNvPr id="64" name="Shape 60"/>
          <p:cNvSpPr/>
          <p:nvPr/>
        </p:nvSpPr>
        <p:spPr>
          <a:xfrm>
            <a:off x="5724144" y="5989320"/>
            <a:ext cx="137160" cy="201168"/>
          </a:xfrm>
          <a:prstGeom prst="rect">
            <a:avLst/>
          </a:prstGeom>
          <a:solidFill>
            <a:srgbClr val="90BE55"/>
          </a:solidFill>
          <a:ln/>
        </p:spPr>
      </p:sp>
      <p:sp>
        <p:nvSpPr>
          <p:cNvPr id="65" name="Shape 61"/>
          <p:cNvSpPr/>
          <p:nvPr/>
        </p:nvSpPr>
        <p:spPr>
          <a:xfrm>
            <a:off x="5856732" y="5989320"/>
            <a:ext cx="137160" cy="201168"/>
          </a:xfrm>
          <a:prstGeom prst="rect">
            <a:avLst/>
          </a:prstGeom>
          <a:solidFill>
            <a:srgbClr val="88BA52"/>
          </a:solidFill>
          <a:ln/>
        </p:spPr>
      </p:sp>
      <p:sp>
        <p:nvSpPr>
          <p:cNvPr id="66" name="Shape 62"/>
          <p:cNvSpPr/>
          <p:nvPr/>
        </p:nvSpPr>
        <p:spPr>
          <a:xfrm>
            <a:off x="5989320" y="5989320"/>
            <a:ext cx="137160" cy="201168"/>
          </a:xfrm>
          <a:prstGeom prst="rect">
            <a:avLst/>
          </a:prstGeom>
          <a:solidFill>
            <a:srgbClr val="80B750"/>
          </a:solidFill>
          <a:ln/>
        </p:spPr>
      </p:sp>
      <p:sp>
        <p:nvSpPr>
          <p:cNvPr id="67" name="Shape 63"/>
          <p:cNvSpPr/>
          <p:nvPr/>
        </p:nvSpPr>
        <p:spPr>
          <a:xfrm>
            <a:off x="6121908" y="5989320"/>
            <a:ext cx="137160" cy="201168"/>
          </a:xfrm>
          <a:prstGeom prst="rect">
            <a:avLst/>
          </a:prstGeom>
          <a:solidFill>
            <a:srgbClr val="77B34E"/>
          </a:solidFill>
          <a:ln/>
        </p:spPr>
      </p:sp>
      <p:sp>
        <p:nvSpPr>
          <p:cNvPr id="68" name="Shape 64"/>
          <p:cNvSpPr/>
          <p:nvPr/>
        </p:nvSpPr>
        <p:spPr>
          <a:xfrm>
            <a:off x="6254496" y="5989320"/>
            <a:ext cx="137160" cy="201168"/>
          </a:xfrm>
          <a:prstGeom prst="rect">
            <a:avLst/>
          </a:prstGeom>
          <a:solidFill>
            <a:srgbClr val="6FB04B"/>
          </a:solidFill>
          <a:ln/>
        </p:spPr>
      </p:sp>
      <p:sp>
        <p:nvSpPr>
          <p:cNvPr id="69" name="Shape 65"/>
          <p:cNvSpPr/>
          <p:nvPr/>
        </p:nvSpPr>
        <p:spPr>
          <a:xfrm>
            <a:off x="6387084" y="5989320"/>
            <a:ext cx="137160" cy="201168"/>
          </a:xfrm>
          <a:prstGeom prst="rect">
            <a:avLst/>
          </a:prstGeom>
          <a:solidFill>
            <a:srgbClr val="68AA49"/>
          </a:solidFill>
          <a:ln/>
        </p:spPr>
      </p:sp>
      <p:sp>
        <p:nvSpPr>
          <p:cNvPr id="70" name="Shape 66"/>
          <p:cNvSpPr/>
          <p:nvPr/>
        </p:nvSpPr>
        <p:spPr>
          <a:xfrm>
            <a:off x="6519672" y="5989320"/>
            <a:ext cx="137160" cy="201168"/>
          </a:xfrm>
          <a:prstGeom prst="rect">
            <a:avLst/>
          </a:prstGeom>
          <a:solidFill>
            <a:srgbClr val="62A548"/>
          </a:solidFill>
          <a:ln/>
        </p:spPr>
      </p:sp>
      <p:sp>
        <p:nvSpPr>
          <p:cNvPr id="71" name="Shape 67"/>
          <p:cNvSpPr/>
          <p:nvPr/>
        </p:nvSpPr>
        <p:spPr>
          <a:xfrm>
            <a:off x="6652260" y="5989320"/>
            <a:ext cx="137160" cy="201168"/>
          </a:xfrm>
          <a:prstGeom prst="rect">
            <a:avLst/>
          </a:prstGeom>
          <a:solidFill>
            <a:srgbClr val="5BA046"/>
          </a:solidFill>
          <a:ln/>
        </p:spPr>
      </p:sp>
      <p:sp>
        <p:nvSpPr>
          <p:cNvPr id="72" name="Shape 68"/>
          <p:cNvSpPr/>
          <p:nvPr/>
        </p:nvSpPr>
        <p:spPr>
          <a:xfrm>
            <a:off x="6784848" y="5989320"/>
            <a:ext cx="137160" cy="201168"/>
          </a:xfrm>
          <a:prstGeom prst="rect">
            <a:avLst/>
          </a:prstGeom>
          <a:solidFill>
            <a:srgbClr val="559A44"/>
          </a:solidFill>
          <a:ln/>
        </p:spPr>
      </p:sp>
      <p:sp>
        <p:nvSpPr>
          <p:cNvPr id="73" name="Shape 69"/>
          <p:cNvSpPr/>
          <p:nvPr/>
        </p:nvSpPr>
        <p:spPr>
          <a:xfrm>
            <a:off x="6917436" y="5989320"/>
            <a:ext cx="137160" cy="201168"/>
          </a:xfrm>
          <a:prstGeom prst="rect">
            <a:avLst/>
          </a:prstGeom>
          <a:solidFill>
            <a:srgbClr val="4E9542"/>
          </a:solidFill>
          <a:ln/>
        </p:spPr>
      </p:sp>
      <p:sp>
        <p:nvSpPr>
          <p:cNvPr id="74" name="Shape 70"/>
          <p:cNvSpPr/>
          <p:nvPr/>
        </p:nvSpPr>
        <p:spPr>
          <a:xfrm>
            <a:off x="7050024" y="5989320"/>
            <a:ext cx="137160" cy="201168"/>
          </a:xfrm>
          <a:prstGeom prst="rect">
            <a:avLst/>
          </a:prstGeom>
          <a:solidFill>
            <a:srgbClr val="489041"/>
          </a:solidFill>
          <a:ln/>
        </p:spPr>
      </p:sp>
      <p:sp>
        <p:nvSpPr>
          <p:cNvPr id="75" name="Shape 71"/>
          <p:cNvSpPr/>
          <p:nvPr/>
        </p:nvSpPr>
        <p:spPr>
          <a:xfrm>
            <a:off x="7182612" y="5989320"/>
            <a:ext cx="137160" cy="201168"/>
          </a:xfrm>
          <a:prstGeom prst="rect">
            <a:avLst/>
          </a:prstGeom>
          <a:solidFill>
            <a:srgbClr val="418A3F"/>
          </a:solidFill>
          <a:ln/>
        </p:spPr>
      </p:sp>
      <p:sp>
        <p:nvSpPr>
          <p:cNvPr id="76" name="Shape 72"/>
          <p:cNvSpPr/>
          <p:nvPr/>
        </p:nvSpPr>
        <p:spPr>
          <a:xfrm>
            <a:off x="7315200" y="5989320"/>
            <a:ext cx="137160" cy="201168"/>
          </a:xfrm>
          <a:prstGeom prst="rect">
            <a:avLst/>
          </a:prstGeom>
          <a:solidFill>
            <a:srgbClr val="3B853D"/>
          </a:solidFill>
          <a:ln/>
        </p:spPr>
      </p:sp>
      <p:sp>
        <p:nvSpPr>
          <p:cNvPr id="77" name="Shape 73"/>
          <p:cNvSpPr/>
          <p:nvPr/>
        </p:nvSpPr>
        <p:spPr>
          <a:xfrm>
            <a:off x="7447788" y="5989320"/>
            <a:ext cx="137160" cy="201168"/>
          </a:xfrm>
          <a:prstGeom prst="rect">
            <a:avLst/>
          </a:prstGeom>
          <a:solidFill>
            <a:srgbClr val="35803B"/>
          </a:solidFill>
          <a:ln/>
        </p:spPr>
      </p:sp>
      <p:sp>
        <p:nvSpPr>
          <p:cNvPr id="78" name="Shape 74"/>
          <p:cNvSpPr/>
          <p:nvPr/>
        </p:nvSpPr>
        <p:spPr>
          <a:xfrm>
            <a:off x="7580376" y="5989320"/>
            <a:ext cx="137160" cy="201168"/>
          </a:xfrm>
          <a:prstGeom prst="rect">
            <a:avLst/>
          </a:prstGeom>
          <a:solidFill>
            <a:srgbClr val="327B39"/>
          </a:solidFill>
          <a:ln/>
        </p:spPr>
      </p:sp>
      <p:sp>
        <p:nvSpPr>
          <p:cNvPr id="79" name="Shape 75"/>
          <p:cNvSpPr/>
          <p:nvPr/>
        </p:nvSpPr>
        <p:spPr>
          <a:xfrm>
            <a:off x="7712964" y="5989320"/>
            <a:ext cx="137160" cy="201168"/>
          </a:xfrm>
          <a:prstGeom prst="rect">
            <a:avLst/>
          </a:prstGeom>
          <a:solidFill>
            <a:srgbClr val="2E7638"/>
          </a:solidFill>
          <a:ln/>
        </p:spPr>
      </p:sp>
      <p:sp>
        <p:nvSpPr>
          <p:cNvPr id="80" name="Shape 76"/>
          <p:cNvSpPr/>
          <p:nvPr/>
        </p:nvSpPr>
        <p:spPr>
          <a:xfrm>
            <a:off x="7845552" y="5989320"/>
            <a:ext cx="137160" cy="201168"/>
          </a:xfrm>
          <a:prstGeom prst="rect">
            <a:avLst/>
          </a:prstGeom>
          <a:solidFill>
            <a:srgbClr val="2B7236"/>
          </a:solidFill>
          <a:ln/>
        </p:spPr>
      </p:sp>
      <p:sp>
        <p:nvSpPr>
          <p:cNvPr id="81" name="Shape 77"/>
          <p:cNvSpPr/>
          <p:nvPr/>
        </p:nvSpPr>
        <p:spPr>
          <a:xfrm>
            <a:off x="7978140" y="5989320"/>
            <a:ext cx="137160" cy="201168"/>
          </a:xfrm>
          <a:prstGeom prst="rect">
            <a:avLst/>
          </a:prstGeom>
          <a:solidFill>
            <a:srgbClr val="276D34"/>
          </a:solidFill>
          <a:ln/>
        </p:spPr>
      </p:sp>
      <p:sp>
        <p:nvSpPr>
          <p:cNvPr id="82" name="Shape 78"/>
          <p:cNvSpPr/>
          <p:nvPr/>
        </p:nvSpPr>
        <p:spPr>
          <a:xfrm>
            <a:off x="8110728" y="5989320"/>
            <a:ext cx="137160" cy="201168"/>
          </a:xfrm>
          <a:prstGeom prst="rect">
            <a:avLst/>
          </a:prstGeom>
          <a:solidFill>
            <a:srgbClr val="246832"/>
          </a:solidFill>
          <a:ln/>
        </p:spPr>
      </p:sp>
      <p:sp>
        <p:nvSpPr>
          <p:cNvPr id="83" name="Shape 79"/>
          <p:cNvSpPr/>
          <p:nvPr/>
        </p:nvSpPr>
        <p:spPr>
          <a:xfrm>
            <a:off x="8243316" y="5989320"/>
            <a:ext cx="137160" cy="201168"/>
          </a:xfrm>
          <a:prstGeom prst="rect">
            <a:avLst/>
          </a:prstGeom>
          <a:solidFill>
            <a:srgbClr val="206331"/>
          </a:solidFill>
          <a:ln/>
        </p:spPr>
      </p:sp>
      <p:sp>
        <p:nvSpPr>
          <p:cNvPr id="84" name="Shape 80"/>
          <p:cNvSpPr/>
          <p:nvPr/>
        </p:nvSpPr>
        <p:spPr>
          <a:xfrm>
            <a:off x="8375904" y="5989320"/>
            <a:ext cx="137160" cy="201168"/>
          </a:xfrm>
          <a:prstGeom prst="rect">
            <a:avLst/>
          </a:prstGeom>
          <a:solidFill>
            <a:srgbClr val="1D5F2F"/>
          </a:solidFill>
          <a:ln/>
        </p:spPr>
      </p:sp>
      <p:sp>
        <p:nvSpPr>
          <p:cNvPr id="85" name="Shape 81"/>
          <p:cNvSpPr/>
          <p:nvPr/>
        </p:nvSpPr>
        <p:spPr>
          <a:xfrm>
            <a:off x="8508492" y="5989320"/>
            <a:ext cx="137160" cy="201168"/>
          </a:xfrm>
          <a:prstGeom prst="rect">
            <a:avLst/>
          </a:prstGeom>
          <a:solidFill>
            <a:srgbClr val="195A2D"/>
          </a:solidFill>
          <a:ln/>
        </p:spPr>
      </p:sp>
      <p:sp>
        <p:nvSpPr>
          <p:cNvPr id="86" name="Text 82"/>
          <p:cNvSpPr/>
          <p:nvPr/>
        </p:nvSpPr>
        <p:spPr>
          <a:xfrm>
            <a:off x="640080" y="62362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</a:t>
            </a:r>
            <a:endParaRPr lang="en-US" sz="1000" dirty="0"/>
          </a:p>
        </p:txBody>
      </p:sp>
      <p:sp>
        <p:nvSpPr>
          <p:cNvPr id="87" name="Text 83"/>
          <p:cNvSpPr/>
          <p:nvPr/>
        </p:nvSpPr>
        <p:spPr>
          <a:xfrm>
            <a:off x="1234440" y="62362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/ Loss</a:t>
            </a:r>
            <a:endParaRPr lang="en-US" sz="900" dirty="0"/>
          </a:p>
        </p:txBody>
      </p:sp>
      <p:sp>
        <p:nvSpPr>
          <p:cNvPr id="88" name="Text 84"/>
          <p:cNvSpPr/>
          <p:nvPr/>
        </p:nvSpPr>
        <p:spPr>
          <a:xfrm>
            <a:off x="3231490" y="6236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</a:t>
            </a:r>
            <a:endParaRPr lang="en-US" sz="900" dirty="0"/>
          </a:p>
        </p:txBody>
      </p:sp>
      <p:sp>
        <p:nvSpPr>
          <p:cNvPr id="89" name="Text 85"/>
          <p:cNvSpPr/>
          <p:nvPr/>
        </p:nvSpPr>
        <p:spPr>
          <a:xfrm>
            <a:off x="5299862" y="6236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90" name="Text 86"/>
          <p:cNvSpPr/>
          <p:nvPr/>
        </p:nvSpPr>
        <p:spPr>
          <a:xfrm>
            <a:off x="7086600" y="62362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vegetation</a:t>
            </a:r>
            <a:endParaRPr lang="en-US" sz="900" dirty="0"/>
          </a:p>
        </p:txBody>
      </p:sp>
      <p:sp>
        <p:nvSpPr>
          <p:cNvPr id="91" name="Text 87"/>
          <p:cNvSpPr/>
          <p:nvPr/>
        </p:nvSpPr>
        <p:spPr>
          <a:xfrm>
            <a:off x="685800" y="644652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scenario based on Wayanad, Kerala (Jul 2024) — debris flow ~8 km, ~86,000 m² area displaced. Methodology: Sentinel-2 NDVI change detection.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Flood &amp; Landslide — NDVI Vegetation Loss</dc:title>
  <dc:subject>PptxGenJS Presentation</dc:subject>
  <dc:creator>PptxGenJS</dc:creator>
  <cp:lastModifiedBy>PptxGenJS</cp:lastModifiedBy>
  <cp:revision>1</cp:revision>
  <dcterms:created xsi:type="dcterms:W3CDTF">2026-05-19T05:42:08Z</dcterms:created>
  <dcterms:modified xsi:type="dcterms:W3CDTF">2026-05-19T05:42:08Z</dcterms:modified>
</cp:coreProperties>
</file>