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and Hydraulic Modeling + AI/ML-Based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89920" y="137160"/>
            <a:ext cx="1371600" cy="457200"/>
          </a:xfrm>
          <a:prstGeom prst="rect">
            <a:avLst/>
          </a:prstGeom>
          <a:solidFill>
            <a:srgbClr val="000000"/>
          </a:solidFill>
          <a:ln w="25400">
            <a:solidFill>
              <a:srgbClr val="6B9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137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4297680"/>
          </a:xfrm>
          <a:prstGeom prst="rect">
            <a:avLst/>
          </a:prstGeom>
          <a:solidFill>
            <a:srgbClr val="E8E8E8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91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water level sensors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0.1–30+ m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&lt;3m, Warning 3–5m, Danger &gt;5m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414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gauges (intensity)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0–300 mm/hr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&lt;20, Moderate 20–50, Extreme &gt;100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912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41985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people/sq km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36027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410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Footprints, Roads, Infrastructure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169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Roads, bridges, buildings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35254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Exposure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4645152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90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(UAV, Slope, Elevation, DEM)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1947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 m spatial resolution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10235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Slope / Steep Terrain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0" y="1051560"/>
            <a:ext cx="2651760" cy="4297680"/>
          </a:xfrm>
          <a:prstGeom prst="rect">
            <a:avLst/>
          </a:prstGeom>
          <a:solidFill>
            <a:srgbClr val="6B9FA0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171907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Water Level Sensors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186537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0.1–30+ m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337560" y="198424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&lt;3m, Warning 3–5m, Danger &gt;5m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291840" y="2130552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15798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Gauges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230428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0–300 mm/hr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37560" y="242316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&lt;20, Moderate 20–50, Extreme &gt;100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291840" y="2569464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59689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Discharge Sensors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37560" y="274320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1–100,000 m³/s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337560" y="286207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Elevated / Flood Surge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91840" y="3008376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035808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Data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37560" y="318211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0–100%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337560" y="3300984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/ Saturated / Critical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291840" y="3447288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34747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(DEM/UAV)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37560" y="3621024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 m spatial resolution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337560" y="373989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Slope / Steep Terrain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291840" y="38862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3913632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Data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37560" y="4059936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people/sq km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3337560" y="417880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291840" y="4325112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43525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Infrastructure Data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337560" y="4498848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Roads, bridges, buildings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337560" y="461772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Exposure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291840" y="4764024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4791456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API Integration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37560" y="4937760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 sec – 15 min refresh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337560" y="5056632"/>
            <a:ext cx="2377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Delayed / Offline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3291840" y="5257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80760" y="1051560"/>
            <a:ext cx="2651760" cy="4297680"/>
          </a:xfrm>
          <a:prstGeom prst="rect">
            <a:avLst/>
          </a:prstGeom>
          <a:solidFill>
            <a:srgbClr val="5A5A5A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8660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866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080760" y="1280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/ ML ENHANCEMENT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172200" y="1691640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176479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flood forecasting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72200" y="2404872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24780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flood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mapping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172200" y="3118104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319125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MCDM-AHP risk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scoring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172200" y="3831336"/>
            <a:ext cx="2468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0" y="39044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 predictive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(real-time)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72200" y="4526280"/>
            <a:ext cx="2468880" cy="777240"/>
          </a:xfrm>
          <a:prstGeom prst="rect">
            <a:avLst/>
          </a:prstGeom>
          <a:solidFill>
            <a:srgbClr val="000000"/>
          </a:solidFill>
          <a:ln w="25400">
            <a:solidFill>
              <a:srgbClr val="E67E22"/>
            </a:solidFill>
            <a:prstDash val="dash"/>
          </a:ln>
        </p:spPr>
      </p:sp>
      <p:sp>
        <p:nvSpPr>
          <p:cNvPr id="80" name="Text 78"/>
          <p:cNvSpPr/>
          <p:nvPr/>
        </p:nvSpPr>
        <p:spPr>
          <a:xfrm>
            <a:off x="6217920" y="45720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63640" y="4800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enhancement to be integrated in Phase 2 — augmenting deterministic models with predictive intelligence. Starting ~3 months past sensor data availability.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961120" y="1051560"/>
            <a:ext cx="2880360" cy="4297680"/>
          </a:xfrm>
          <a:prstGeom prst="rect">
            <a:avLst/>
          </a:prstGeom>
          <a:solidFill>
            <a:srgbClr val="1E3A5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41280" y="9144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A7BA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24128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A7"/>
                </a:solidFill>
              </a:rPr>
              <a:t>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961120" y="1280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ALERTS [Pillar 1]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052560" y="169164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98280" y="17373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extent &amp; inundation map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098280" y="198424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&lt;5 to 10,000+ sq km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9098280" y="216712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/ Moderate / Severe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9052560" y="2441448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98280" y="24871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infrastructure exposure index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098280" y="273405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100 – millions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9098280" y="291693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Critical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052560" y="3191256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098280" y="32369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safe zone analysis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098280" y="348386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1–20 km radius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9098280" y="3666744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Restricted / Unsafe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052560" y="3941064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98280" y="398678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Pre-Disaster warning information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098280" y="423367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Seconds–minutes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098280" y="441655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9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/ Watch / Warning / Emergency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28600" y="54864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Requirement Note: Large-scale historical and predictive analysis will be performed using geospatial AI and ML-based approaches integrated with satellite imagery, remote sensing data, terrain data sources, river flow parameters, time-series data, socio-economic datasets, and census information.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74320" y="5943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Straive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457200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Straive. All rights reserved | www.straive.com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Label: General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2026-05-16T08:14:53Z</dcterms:created>
  <dcterms:modified xsi:type="dcterms:W3CDTF">2026-05-16T08:14:53Z</dcterms:modified>
</cp:coreProperties>
</file>