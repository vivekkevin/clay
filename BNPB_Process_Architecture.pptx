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slideLayout" Target="../slideLayouts/slideLayout1.xml"/><Relationship Id="rId3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DD3FC"/>
                </a:solidFill>
              </a:rPr>
              <a:t>DATA FLOW (COMMON)  —  SOLUTION PROCESS IN A NUTSHELL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7432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How We Work &amp; What We Deliver — Aligned to BNPB Disaster Intelligence Platform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235440" y="3657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BAE6FD"/>
                </a:solidFill>
              </a:rPr>
              <a:t>★ AI model explained for each solution</a:t>
            </a:r>
            <a:endParaRPr lang="en-US" sz="750" dirty="0"/>
          </a:p>
          <a:p>
            <a:pPr algn="r" indent="0" marL="0">
              <a:buNone/>
            </a:pPr>
            <a:r>
              <a:rPr lang="en-US" sz="750" i="1" dirty="0">
                <a:solidFill>
                  <a:srgbClr val="BAE6FD"/>
                </a:solidFill>
              </a:rPr>
              <a:t>   explained in detail for each section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09728" y="658368"/>
            <a:ext cx="201168" cy="5907024"/>
          </a:xfrm>
          <a:prstGeom prst="rect">
            <a:avLst/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64008" y="2788920"/>
            <a:ext cx="2926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6B"/>
                </a:solidFill>
              </a:rPr>
              <a:t>INPUT DATA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47472" y="658368"/>
            <a:ext cx="1664208" cy="169164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850392"/>
            <a:ext cx="566928" cy="566928"/>
          </a:xfrm>
          <a:prstGeom prst="ellipse">
            <a:avLst/>
          </a:prstGeom>
          <a:solidFill>
            <a:srgbClr val="DBEAFE"/>
          </a:solidFill>
          <a:ln w="15240">
            <a:solidFill>
              <a:srgbClr val="93C5F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1" y="977951"/>
            <a:ext cx="311810" cy="31181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84048" y="1481328"/>
            <a:ext cx="1581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A6B"/>
                </a:solidFill>
              </a:rPr>
              <a:t>High-res Satellite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3A6B"/>
                </a:solidFill>
              </a:rPr>
              <a:t>Imagery for HIGH-RISK AoIs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84048" y="1956816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334E68"/>
                </a:solidFill>
              </a:rPr>
              <a:t>LAPAN  |  Sentinel-1 SAR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334E68"/>
                </a:solidFill>
              </a:rPr>
              <a:t>MODIS  |  VIIRS  |  GPM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051560" y="2350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E68"/>
                </a:solidFill>
              </a:rPr>
              <a:t>▼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47472" y="2606040"/>
            <a:ext cx="1664208" cy="288036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7472" y="2606040"/>
            <a:ext cx="1664208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7472" y="260604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Geospatial Characteristics Data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57200" y="2999232"/>
            <a:ext cx="329184" cy="329184"/>
          </a:xfrm>
          <a:prstGeom prst="ellipse">
            <a:avLst/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017520"/>
            <a:ext cx="312725" cy="31272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22960" y="3008376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1) Waterbodies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457200" y="3314700"/>
            <a:ext cx="329184" cy="329184"/>
          </a:xfrm>
          <a:prstGeom prst="ellipse">
            <a:avLst/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3332988"/>
            <a:ext cx="312725" cy="31272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2960" y="332384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2) Road Network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457200" y="3630168"/>
            <a:ext cx="329184" cy="329184"/>
          </a:xfrm>
          <a:prstGeom prst="ellipse">
            <a:avLst/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" y="3648456"/>
            <a:ext cx="312725" cy="3127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22960" y="363931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3) TWI (Topographic Wetness)</a:t>
            </a:r>
            <a:endParaRPr lang="en-US" sz="750" dirty="0"/>
          </a:p>
        </p:txBody>
      </p:sp>
      <p:sp>
        <p:nvSpPr>
          <p:cNvPr id="26" name="Shape 20"/>
          <p:cNvSpPr/>
          <p:nvPr/>
        </p:nvSpPr>
        <p:spPr>
          <a:xfrm>
            <a:off x="457200" y="3945636"/>
            <a:ext cx="329184" cy="329184"/>
          </a:xfrm>
          <a:prstGeom prst="ellipse">
            <a:avLst/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" y="3963924"/>
            <a:ext cx="312725" cy="31272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22960" y="3954780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4) Elevation (DEM)</a:t>
            </a:r>
            <a:endParaRPr lang="en-US" sz="750" dirty="0"/>
          </a:p>
        </p:txBody>
      </p:sp>
      <p:sp>
        <p:nvSpPr>
          <p:cNvPr id="29" name="Shape 22"/>
          <p:cNvSpPr/>
          <p:nvPr/>
        </p:nvSpPr>
        <p:spPr>
          <a:xfrm>
            <a:off x="457200" y="4261104"/>
            <a:ext cx="329184" cy="329184"/>
          </a:xfrm>
          <a:prstGeom prst="ellipse">
            <a:avLst/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" y="4279392"/>
            <a:ext cx="312725" cy="31272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22960" y="4270248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5) Vegetation</a:t>
            </a:r>
            <a:endParaRPr lang="en-US" sz="750" dirty="0"/>
          </a:p>
        </p:txBody>
      </p:sp>
      <p:sp>
        <p:nvSpPr>
          <p:cNvPr id="32" name="Shape 24"/>
          <p:cNvSpPr/>
          <p:nvPr/>
        </p:nvSpPr>
        <p:spPr>
          <a:xfrm>
            <a:off x="457200" y="4576572"/>
            <a:ext cx="329184" cy="329184"/>
          </a:xfrm>
          <a:prstGeom prst="ellipse">
            <a:avLst/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" y="4594860"/>
            <a:ext cx="312725" cy="31272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22960" y="4585716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6) Impervious Surface</a:t>
            </a:r>
            <a:endParaRPr lang="en-US" sz="750" dirty="0"/>
          </a:p>
        </p:txBody>
      </p:sp>
      <p:sp>
        <p:nvSpPr>
          <p:cNvPr id="35" name="Shape 26"/>
          <p:cNvSpPr/>
          <p:nvPr/>
        </p:nvSpPr>
        <p:spPr>
          <a:xfrm>
            <a:off x="457200" y="4892040"/>
            <a:ext cx="329184" cy="329184"/>
          </a:xfrm>
          <a:prstGeom prst="ellipse">
            <a:avLst/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" y="4910328"/>
            <a:ext cx="312725" cy="312725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822960" y="490118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7) Landslide / Fire Risk</a:t>
            </a:r>
            <a:endParaRPr lang="en-US" sz="750" dirty="0"/>
          </a:p>
        </p:txBody>
      </p:sp>
      <p:sp>
        <p:nvSpPr>
          <p:cNvPr id="38" name="Shape 28"/>
          <p:cNvSpPr/>
          <p:nvPr/>
        </p:nvSpPr>
        <p:spPr>
          <a:xfrm>
            <a:off x="457200" y="5207508"/>
            <a:ext cx="329184" cy="329184"/>
          </a:xfrm>
          <a:prstGeom prst="ellipse">
            <a:avLst/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344" y="5225796"/>
            <a:ext cx="312725" cy="312725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822960" y="521665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8) Building Footprints</a:t>
            </a:r>
            <a:endParaRPr lang="en-US" sz="750" dirty="0"/>
          </a:p>
        </p:txBody>
      </p:sp>
      <p:sp>
        <p:nvSpPr>
          <p:cNvPr id="41" name="Text 30"/>
          <p:cNvSpPr/>
          <p:nvPr/>
        </p:nvSpPr>
        <p:spPr>
          <a:xfrm>
            <a:off x="1051560" y="5486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E68"/>
                </a:solidFill>
              </a:rPr>
              <a:t>▼</a:t>
            </a:r>
            <a:endParaRPr lang="en-US" sz="1200" dirty="0"/>
          </a:p>
        </p:txBody>
      </p:sp>
      <p:sp>
        <p:nvSpPr>
          <p:cNvPr id="42" name="Shape 31"/>
          <p:cNvSpPr/>
          <p:nvPr/>
        </p:nvSpPr>
        <p:spPr>
          <a:xfrm>
            <a:off x="347472" y="5742432"/>
            <a:ext cx="1664208" cy="685800"/>
          </a:xfrm>
          <a:prstGeom prst="rect">
            <a:avLst/>
          </a:prstGeom>
          <a:solidFill>
            <a:srgbClr val="F3E8FF"/>
          </a:solidFill>
          <a:ln w="12700">
            <a:solidFill>
              <a:srgbClr val="D8B4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5852160"/>
            <a:ext cx="347472" cy="347472"/>
          </a:xfrm>
          <a:prstGeom prst="rect">
            <a:avLst/>
          </a:prstGeom>
        </p:spPr>
      </p:pic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6968" y="5852160"/>
            <a:ext cx="347472" cy="347472"/>
          </a:xfrm>
          <a:prstGeom prst="rect">
            <a:avLst/>
          </a:prstGeom>
        </p:spPr>
      </p:pic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16736" y="5852160"/>
            <a:ext cx="347472" cy="347472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384048" y="6217920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D28D9"/>
                </a:solidFill>
              </a:rPr>
              <a:t>Ancillary Datasets + Ground Truth</a:t>
            </a:r>
            <a:endParaRPr lang="en-US" sz="750" dirty="0"/>
          </a:p>
        </p:txBody>
      </p:sp>
      <p:sp>
        <p:nvSpPr>
          <p:cNvPr id="47" name="Text 33"/>
          <p:cNvSpPr/>
          <p:nvPr/>
        </p:nvSpPr>
        <p:spPr>
          <a:xfrm>
            <a:off x="2029968" y="3465576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3A6B"/>
                </a:solidFill>
              </a:rPr>
              <a:t>▶</a:t>
            </a:r>
            <a:endParaRPr lang="en-US" sz="1300" dirty="0"/>
          </a:p>
        </p:txBody>
      </p:sp>
      <p:sp>
        <p:nvSpPr>
          <p:cNvPr id="48" name="Text 34"/>
          <p:cNvSpPr/>
          <p:nvPr/>
        </p:nvSpPr>
        <p:spPr>
          <a:xfrm>
            <a:off x="1993392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334E68"/>
                </a:solidFill>
              </a:rPr>
              <a:t>Raw /</a:t>
            </a:r>
            <a:endParaRPr lang="en-US" sz="650" dirty="0"/>
          </a:p>
          <a:p>
            <a:pPr algn="ctr" indent="0" marL="0">
              <a:buNone/>
            </a:pPr>
            <a:r>
              <a:rPr lang="en-US" sz="650" i="1" dirty="0">
                <a:solidFill>
                  <a:srgbClr val="334E68"/>
                </a:solidFill>
              </a:rPr>
              <a:t>Unlabeled</a:t>
            </a:r>
            <a:endParaRPr lang="en-US" sz="650" dirty="0"/>
          </a:p>
          <a:p>
            <a:pPr algn="ctr" indent="0" marL="0">
              <a:buNone/>
            </a:pPr>
            <a:r>
              <a:rPr lang="en-US" sz="650" i="1" dirty="0">
                <a:solidFill>
                  <a:srgbClr val="334E68"/>
                </a:solidFill>
              </a:rPr>
              <a:t>Data</a:t>
            </a:r>
            <a:endParaRPr lang="en-US" sz="650" dirty="0"/>
          </a:p>
        </p:txBody>
      </p:sp>
      <p:sp>
        <p:nvSpPr>
          <p:cNvPr id="49" name="Shape 35"/>
          <p:cNvSpPr/>
          <p:nvPr/>
        </p:nvSpPr>
        <p:spPr>
          <a:xfrm>
            <a:off x="2286000" y="658368"/>
            <a:ext cx="2240280" cy="5907024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50" name="Shape 36"/>
          <p:cNvSpPr/>
          <p:nvPr/>
        </p:nvSpPr>
        <p:spPr>
          <a:xfrm>
            <a:off x="2286000" y="658368"/>
            <a:ext cx="2240280" cy="475488"/>
          </a:xfrm>
          <a:prstGeom prst="rect">
            <a:avLst/>
          </a:prstGeom>
          <a:solidFill>
            <a:srgbClr val="0D7C6E"/>
          </a:solidFill>
          <a:ln/>
        </p:spPr>
      </p:sp>
      <p:pic>
        <p:nvPicPr>
          <p:cNvPr id="5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95728" y="731520"/>
            <a:ext cx="329184" cy="329184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2761488" y="65836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Pre-Processing Engine</a:t>
            </a:r>
            <a:endParaRPr lang="en-US" sz="900" dirty="0"/>
          </a:p>
        </p:txBody>
      </p:sp>
      <p:sp>
        <p:nvSpPr>
          <p:cNvPr id="53" name="Text 38"/>
          <p:cNvSpPr/>
          <p:nvPr/>
        </p:nvSpPr>
        <p:spPr>
          <a:xfrm>
            <a:off x="2359152" y="950976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1FAE5"/>
                </a:solidFill>
              </a:rPr>
              <a:t>Collection · Storage · Indexing · Transformation &amp; Retrieval</a:t>
            </a:r>
            <a:endParaRPr lang="en-US" sz="650" dirty="0"/>
          </a:p>
        </p:txBody>
      </p:sp>
      <p:sp>
        <p:nvSpPr>
          <p:cNvPr id="54" name="Shape 39"/>
          <p:cNvSpPr/>
          <p:nvPr/>
        </p:nvSpPr>
        <p:spPr>
          <a:xfrm>
            <a:off x="2395728" y="1225296"/>
            <a:ext cx="2020824" cy="123444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55" name="Shape 40"/>
          <p:cNvSpPr/>
          <p:nvPr/>
        </p:nvSpPr>
        <p:spPr>
          <a:xfrm>
            <a:off x="2450592" y="1280160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41118" y="1370686"/>
            <a:ext cx="221285" cy="221285"/>
          </a:xfrm>
          <a:prstGeom prst="rect">
            <a:avLst/>
          </a:prstGeom>
        </p:spPr>
      </p:pic>
      <p:sp>
        <p:nvSpPr>
          <p:cNvPr id="57" name="Text 41"/>
          <p:cNvSpPr/>
          <p:nvPr/>
        </p:nvSpPr>
        <p:spPr>
          <a:xfrm>
            <a:off x="2926080" y="128016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C6E"/>
                </a:solidFill>
              </a:rPr>
              <a:t>Data Normalization</a:t>
            </a:r>
            <a:endParaRPr lang="en-US" sz="850" dirty="0"/>
          </a:p>
        </p:txBody>
      </p:sp>
      <p:sp>
        <p:nvSpPr>
          <p:cNvPr id="58" name="Text 42"/>
          <p:cNvSpPr/>
          <p:nvPr/>
        </p:nvSpPr>
        <p:spPr>
          <a:xfrm>
            <a:off x="2450592" y="1700784"/>
            <a:ext cx="1984248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Standardize formats, CRS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projection alignment, unit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conversion &amp; schema mapping</a:t>
            </a:r>
            <a:endParaRPr lang="en-US" sz="750" dirty="0"/>
          </a:p>
        </p:txBody>
      </p:sp>
      <p:sp>
        <p:nvSpPr>
          <p:cNvPr id="59" name="Shape 43"/>
          <p:cNvSpPr/>
          <p:nvPr/>
        </p:nvSpPr>
        <p:spPr>
          <a:xfrm>
            <a:off x="4215384" y="1280160"/>
            <a:ext cx="237744" cy="237744"/>
          </a:xfrm>
          <a:prstGeom prst="ellipse">
            <a:avLst/>
          </a:prstGeom>
          <a:solidFill>
            <a:srgbClr val="0D7C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44"/>
          <p:cNvSpPr/>
          <p:nvPr/>
        </p:nvSpPr>
        <p:spPr>
          <a:xfrm>
            <a:off x="4215384" y="1280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61" name="Shape 45"/>
          <p:cNvSpPr/>
          <p:nvPr/>
        </p:nvSpPr>
        <p:spPr>
          <a:xfrm>
            <a:off x="2395728" y="2578608"/>
            <a:ext cx="2020824" cy="123444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2" name="Shape 46"/>
          <p:cNvSpPr/>
          <p:nvPr/>
        </p:nvSpPr>
        <p:spPr>
          <a:xfrm>
            <a:off x="2450592" y="2633472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93C5F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6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41118" y="2723998"/>
            <a:ext cx="221285" cy="221285"/>
          </a:xfrm>
          <a:prstGeom prst="rect">
            <a:avLst/>
          </a:prstGeom>
        </p:spPr>
      </p:pic>
      <p:sp>
        <p:nvSpPr>
          <p:cNvPr id="64" name="Text 47"/>
          <p:cNvSpPr/>
          <p:nvPr/>
        </p:nvSpPr>
        <p:spPr>
          <a:xfrm>
            <a:off x="2926080" y="263347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3A6B"/>
                </a:solidFill>
              </a:rPr>
              <a:t>Initial Stats &amp;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B3A6B"/>
                </a:solidFill>
              </a:rPr>
              <a:t>Computations</a:t>
            </a:r>
            <a:endParaRPr lang="en-US" sz="850" dirty="0"/>
          </a:p>
        </p:txBody>
      </p:sp>
      <p:sp>
        <p:nvSpPr>
          <p:cNvPr id="65" name="Text 48"/>
          <p:cNvSpPr/>
          <p:nvPr/>
        </p:nvSpPr>
        <p:spPr>
          <a:xfrm>
            <a:off x="2450592" y="3054096"/>
            <a:ext cx="1984248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Feature extraction,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statistical summaries,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geospatial indexing</a:t>
            </a:r>
            <a:endParaRPr lang="en-US" sz="750" dirty="0"/>
          </a:p>
        </p:txBody>
      </p:sp>
      <p:sp>
        <p:nvSpPr>
          <p:cNvPr id="66" name="Shape 49"/>
          <p:cNvSpPr/>
          <p:nvPr/>
        </p:nvSpPr>
        <p:spPr>
          <a:xfrm>
            <a:off x="4215384" y="2633472"/>
            <a:ext cx="237744" cy="23774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50"/>
          <p:cNvSpPr/>
          <p:nvPr/>
        </p:nvSpPr>
        <p:spPr>
          <a:xfrm>
            <a:off x="4215384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68" name="Shape 51"/>
          <p:cNvSpPr/>
          <p:nvPr/>
        </p:nvSpPr>
        <p:spPr>
          <a:xfrm>
            <a:off x="2395728" y="3931920"/>
            <a:ext cx="2020824" cy="1234440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9" name="Shape 52"/>
          <p:cNvSpPr/>
          <p:nvPr/>
        </p:nvSpPr>
        <p:spPr>
          <a:xfrm>
            <a:off x="2450592" y="3986784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4B5F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7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41118" y="4077310"/>
            <a:ext cx="221285" cy="221285"/>
          </a:xfrm>
          <a:prstGeom prst="rect">
            <a:avLst/>
          </a:prstGeom>
        </p:spPr>
      </p:pic>
      <p:sp>
        <p:nvSpPr>
          <p:cNvPr id="71" name="Text 53"/>
          <p:cNvSpPr/>
          <p:nvPr/>
        </p:nvSpPr>
        <p:spPr>
          <a:xfrm>
            <a:off x="2926080" y="398678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Data Enrichment</a:t>
            </a:r>
            <a:endParaRPr lang="en-US" sz="850" dirty="0"/>
          </a:p>
        </p:txBody>
      </p:sp>
      <p:sp>
        <p:nvSpPr>
          <p:cNvPr id="72" name="Text 54"/>
          <p:cNvSpPr/>
          <p:nvPr/>
        </p:nvSpPr>
        <p:spPr>
          <a:xfrm>
            <a:off x="2450592" y="4407408"/>
            <a:ext cx="1984248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Merge geospatial layers,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enrich with metadata,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contextual fusion</a:t>
            </a:r>
            <a:endParaRPr lang="en-US" sz="750" dirty="0"/>
          </a:p>
        </p:txBody>
      </p:sp>
      <p:sp>
        <p:nvSpPr>
          <p:cNvPr id="73" name="Shape 55"/>
          <p:cNvSpPr/>
          <p:nvPr/>
        </p:nvSpPr>
        <p:spPr>
          <a:xfrm>
            <a:off x="4215384" y="3986784"/>
            <a:ext cx="237744" cy="23774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56"/>
          <p:cNvSpPr/>
          <p:nvPr/>
        </p:nvSpPr>
        <p:spPr>
          <a:xfrm>
            <a:off x="4215384" y="39867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75" name="Shape 57"/>
          <p:cNvSpPr/>
          <p:nvPr/>
        </p:nvSpPr>
        <p:spPr>
          <a:xfrm>
            <a:off x="2395728" y="5285232"/>
            <a:ext cx="2020824" cy="123444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6" name="Shape 58"/>
          <p:cNvSpPr/>
          <p:nvPr/>
        </p:nvSpPr>
        <p:spPr>
          <a:xfrm>
            <a:off x="2450592" y="5340096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7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41118" y="5430622"/>
            <a:ext cx="221285" cy="221285"/>
          </a:xfrm>
          <a:prstGeom prst="rect">
            <a:avLst/>
          </a:prstGeom>
        </p:spPr>
      </p:pic>
      <p:sp>
        <p:nvSpPr>
          <p:cNvPr id="78" name="Text 59"/>
          <p:cNvSpPr/>
          <p:nvPr/>
        </p:nvSpPr>
        <p:spPr>
          <a:xfrm>
            <a:off x="2926080" y="534009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Data Labeling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(Auto / Semi-Auto)</a:t>
            </a:r>
            <a:endParaRPr lang="en-US" sz="850" dirty="0"/>
          </a:p>
        </p:txBody>
      </p:sp>
      <p:sp>
        <p:nvSpPr>
          <p:cNvPr id="79" name="Text 60"/>
          <p:cNvSpPr/>
          <p:nvPr/>
        </p:nvSpPr>
        <p:spPr>
          <a:xfrm>
            <a:off x="2450592" y="5760720"/>
            <a:ext cx="1984248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Ground truth matching,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ML-ready label generation,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auto-annotation pipelines</a:t>
            </a:r>
            <a:endParaRPr lang="en-US" sz="750" dirty="0"/>
          </a:p>
        </p:txBody>
      </p:sp>
      <p:sp>
        <p:nvSpPr>
          <p:cNvPr id="80" name="Shape 61"/>
          <p:cNvSpPr/>
          <p:nvPr/>
        </p:nvSpPr>
        <p:spPr>
          <a:xfrm>
            <a:off x="4215384" y="5340096"/>
            <a:ext cx="237744" cy="23774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Text 62"/>
          <p:cNvSpPr/>
          <p:nvPr/>
        </p:nvSpPr>
        <p:spPr>
          <a:xfrm>
            <a:off x="4215384" y="53400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82" name="Text 63"/>
          <p:cNvSpPr/>
          <p:nvPr/>
        </p:nvSpPr>
        <p:spPr>
          <a:xfrm>
            <a:off x="4562856" y="3465576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7C6E"/>
                </a:solidFill>
              </a:rPr>
              <a:t>▶</a:t>
            </a:r>
            <a:endParaRPr lang="en-US" sz="1300" dirty="0"/>
          </a:p>
        </p:txBody>
      </p:sp>
      <p:sp>
        <p:nvSpPr>
          <p:cNvPr id="83" name="Shape 64"/>
          <p:cNvSpPr/>
          <p:nvPr/>
        </p:nvSpPr>
        <p:spPr>
          <a:xfrm>
            <a:off x="4736592" y="658368"/>
            <a:ext cx="2423160" cy="2487168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84" name="Shape 65"/>
          <p:cNvSpPr/>
          <p:nvPr/>
        </p:nvSpPr>
        <p:spPr>
          <a:xfrm>
            <a:off x="4736592" y="658368"/>
            <a:ext cx="2423160" cy="438912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8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46320" y="722376"/>
            <a:ext cx="310896" cy="310896"/>
          </a:xfrm>
          <a:prstGeom prst="rect">
            <a:avLst/>
          </a:prstGeom>
        </p:spPr>
      </p:pic>
      <p:sp>
        <p:nvSpPr>
          <p:cNvPr id="86" name="Text 66"/>
          <p:cNvSpPr/>
          <p:nvPr/>
        </p:nvSpPr>
        <p:spPr>
          <a:xfrm>
            <a:off x="5212080" y="658368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Post-Processing Engine</a:t>
            </a:r>
            <a:endParaRPr lang="en-US" sz="900" dirty="0"/>
          </a:p>
        </p:txBody>
      </p:sp>
      <p:sp>
        <p:nvSpPr>
          <p:cNvPr id="87" name="Text 67"/>
          <p:cNvSpPr/>
          <p:nvPr/>
        </p:nvSpPr>
        <p:spPr>
          <a:xfrm>
            <a:off x="4809744" y="950976"/>
            <a:ext cx="2313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EF3C7"/>
                </a:solidFill>
              </a:rPr>
              <a:t>Risk Score Adjustment · Human SME in the loop</a:t>
            </a:r>
            <a:endParaRPr lang="en-US" sz="650" dirty="0"/>
          </a:p>
        </p:txBody>
      </p:sp>
      <p:sp>
        <p:nvSpPr>
          <p:cNvPr id="88" name="Shape 68"/>
          <p:cNvSpPr/>
          <p:nvPr/>
        </p:nvSpPr>
        <p:spPr>
          <a:xfrm>
            <a:off x="4846320" y="1170432"/>
            <a:ext cx="10469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89" name="Shape 69"/>
          <p:cNvSpPr/>
          <p:nvPr/>
        </p:nvSpPr>
        <p:spPr>
          <a:xfrm>
            <a:off x="5186934" y="1243584"/>
            <a:ext cx="365760" cy="365760"/>
          </a:xfrm>
          <a:prstGeom prst="ellipse">
            <a:avLst/>
          </a:prstGeom>
          <a:solidFill>
            <a:srgbClr val="FEF9C3"/>
          </a:solidFill>
          <a:ln w="1524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69230" y="1325880"/>
            <a:ext cx="201168" cy="201168"/>
          </a:xfrm>
          <a:prstGeom prst="rect">
            <a:avLst/>
          </a:prstGeom>
        </p:spPr>
      </p:pic>
      <p:sp>
        <p:nvSpPr>
          <p:cNvPr id="91" name="Text 70"/>
          <p:cNvSpPr/>
          <p:nvPr/>
        </p:nvSpPr>
        <p:spPr>
          <a:xfrm>
            <a:off x="4846320" y="1517904"/>
            <a:ext cx="10469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Classification /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Reclassification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of Risk Score</a:t>
            </a:r>
            <a:endParaRPr lang="en-US" sz="700" dirty="0"/>
          </a:p>
        </p:txBody>
      </p:sp>
      <p:sp>
        <p:nvSpPr>
          <p:cNvPr id="92" name="Shape 71"/>
          <p:cNvSpPr/>
          <p:nvPr/>
        </p:nvSpPr>
        <p:spPr>
          <a:xfrm>
            <a:off x="5948172" y="1170432"/>
            <a:ext cx="10469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93" name="Shape 72"/>
          <p:cNvSpPr/>
          <p:nvPr/>
        </p:nvSpPr>
        <p:spPr>
          <a:xfrm>
            <a:off x="6288786" y="1243584"/>
            <a:ext cx="365760" cy="365760"/>
          </a:xfrm>
          <a:prstGeom prst="ellipse">
            <a:avLst/>
          </a:prstGeom>
          <a:solidFill>
            <a:srgbClr val="F1F5F9"/>
          </a:solidFill>
          <a:ln w="15240">
            <a:solidFill>
              <a:srgbClr val="94A3B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4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71082" y="1325880"/>
            <a:ext cx="201168" cy="201168"/>
          </a:xfrm>
          <a:prstGeom prst="rect">
            <a:avLst/>
          </a:prstGeom>
        </p:spPr>
      </p:pic>
      <p:sp>
        <p:nvSpPr>
          <p:cNvPr id="95" name="Text 73"/>
          <p:cNvSpPr/>
          <p:nvPr/>
        </p:nvSpPr>
        <p:spPr>
          <a:xfrm>
            <a:off x="5948172" y="1517904"/>
            <a:ext cx="10469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Business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Rule Engine</a:t>
            </a:r>
            <a:endParaRPr lang="en-US" sz="700" dirty="0"/>
          </a:p>
        </p:txBody>
      </p:sp>
      <p:sp>
        <p:nvSpPr>
          <p:cNvPr id="96" name="Shape 74"/>
          <p:cNvSpPr/>
          <p:nvPr/>
        </p:nvSpPr>
        <p:spPr>
          <a:xfrm>
            <a:off x="4846320" y="2121408"/>
            <a:ext cx="2203704" cy="841248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97" name="Shape 75"/>
          <p:cNvSpPr/>
          <p:nvPr/>
        </p:nvSpPr>
        <p:spPr>
          <a:xfrm>
            <a:off x="4901184" y="2212848"/>
            <a:ext cx="402336" cy="402336"/>
          </a:xfrm>
          <a:prstGeom prst="ellipse">
            <a:avLst/>
          </a:prstGeom>
          <a:solidFill>
            <a:srgbClr val="FEF3C7"/>
          </a:solidFill>
          <a:ln w="1524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991710" y="2303374"/>
            <a:ext cx="221285" cy="221285"/>
          </a:xfrm>
          <a:prstGeom prst="rect">
            <a:avLst/>
          </a:prstGeom>
        </p:spPr>
      </p:pic>
      <p:sp>
        <p:nvSpPr>
          <p:cNvPr id="99" name="Text 76"/>
          <p:cNvSpPr/>
          <p:nvPr/>
        </p:nvSpPr>
        <p:spPr>
          <a:xfrm>
            <a:off x="5303520" y="2139696"/>
            <a:ext cx="1728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Human SME Override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&amp; Expert Validation</a:t>
            </a:r>
            <a:endParaRPr lang="en-US" sz="800" dirty="0"/>
          </a:p>
        </p:txBody>
      </p:sp>
      <p:sp>
        <p:nvSpPr>
          <p:cNvPr id="100" name="Text 77"/>
          <p:cNvSpPr/>
          <p:nvPr/>
        </p:nvSpPr>
        <p:spPr>
          <a:xfrm>
            <a:off x="4901184" y="2560320"/>
            <a:ext cx="216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E68"/>
                </a:solidFill>
              </a:rPr>
              <a:t>Disaster Mitigation Staff interactively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4E68"/>
                </a:solidFill>
              </a:rPr>
              <a:t>validate &amp; adjust model outputs</a:t>
            </a:r>
            <a:endParaRPr lang="en-US" sz="700" dirty="0"/>
          </a:p>
        </p:txBody>
      </p:sp>
      <p:sp>
        <p:nvSpPr>
          <p:cNvPr id="101" name="Text 78"/>
          <p:cNvSpPr/>
          <p:nvPr/>
        </p:nvSpPr>
        <p:spPr>
          <a:xfrm>
            <a:off x="5820156" y="3163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6B"/>
                </a:solidFill>
              </a:rPr>
              <a:t>▼</a:t>
            </a:r>
            <a:endParaRPr lang="en-US" sz="1200" dirty="0"/>
          </a:p>
        </p:txBody>
      </p:sp>
      <p:sp>
        <p:nvSpPr>
          <p:cNvPr id="102" name="Shape 79"/>
          <p:cNvSpPr/>
          <p:nvPr/>
        </p:nvSpPr>
        <p:spPr>
          <a:xfrm>
            <a:off x="4736592" y="3465576"/>
            <a:ext cx="2423160" cy="3072384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03" name="Shape 80"/>
          <p:cNvSpPr/>
          <p:nvPr/>
        </p:nvSpPr>
        <p:spPr>
          <a:xfrm>
            <a:off x="4736592" y="3465576"/>
            <a:ext cx="2423160" cy="402336"/>
          </a:xfrm>
          <a:prstGeom prst="rect">
            <a:avLst/>
          </a:prstGeom>
          <a:solidFill>
            <a:srgbClr val="1B3A6B"/>
          </a:solidFill>
          <a:ln/>
        </p:spPr>
      </p:sp>
      <p:pic>
        <p:nvPicPr>
          <p:cNvPr id="10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46320" y="3511296"/>
            <a:ext cx="310896" cy="310896"/>
          </a:xfrm>
          <a:prstGeom prst="rect">
            <a:avLst/>
          </a:prstGeom>
        </p:spPr>
      </p:pic>
      <p:sp>
        <p:nvSpPr>
          <p:cNvPr id="105" name="Text 81"/>
          <p:cNvSpPr/>
          <p:nvPr/>
        </p:nvSpPr>
        <p:spPr>
          <a:xfrm>
            <a:off x="5212080" y="3465576"/>
            <a:ext cx="1911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 Model Pipeline</a:t>
            </a:r>
            <a:endParaRPr lang="en-US" sz="950" dirty="0"/>
          </a:p>
        </p:txBody>
      </p:sp>
      <p:sp>
        <p:nvSpPr>
          <p:cNvPr id="106" name="Shape 82"/>
          <p:cNvSpPr/>
          <p:nvPr/>
        </p:nvSpPr>
        <p:spPr>
          <a:xfrm>
            <a:off x="4846320" y="3941064"/>
            <a:ext cx="2203704" cy="621792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07" name="Shape 83"/>
          <p:cNvSpPr/>
          <p:nvPr/>
        </p:nvSpPr>
        <p:spPr>
          <a:xfrm>
            <a:off x="4901184" y="3995928"/>
            <a:ext cx="329184" cy="3291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8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975250" y="4069994"/>
            <a:ext cx="181051" cy="181051"/>
          </a:xfrm>
          <a:prstGeom prst="rect">
            <a:avLst/>
          </a:prstGeom>
        </p:spPr>
      </p:pic>
      <p:sp>
        <p:nvSpPr>
          <p:cNvPr id="109" name="Text 84"/>
          <p:cNvSpPr/>
          <p:nvPr/>
        </p:nvSpPr>
        <p:spPr>
          <a:xfrm>
            <a:off x="5266944" y="3977640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C6E"/>
                </a:solidFill>
              </a:rPr>
              <a:t>Input Pipeline</a:t>
            </a:r>
            <a:endParaRPr lang="en-US" sz="800" dirty="0"/>
          </a:p>
        </p:txBody>
      </p:sp>
      <p:sp>
        <p:nvSpPr>
          <p:cNvPr id="110" name="Text 85"/>
          <p:cNvSpPr/>
          <p:nvPr/>
        </p:nvSpPr>
        <p:spPr>
          <a:xfrm>
            <a:off x="5266944" y="4233672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E68"/>
                </a:solidFill>
              </a:rPr>
              <a:t>Data ingestion, feature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4E68"/>
                </a:solidFill>
              </a:rPr>
              <a:t>prep, validation checks</a:t>
            </a:r>
            <a:endParaRPr lang="en-US" sz="700" dirty="0"/>
          </a:p>
        </p:txBody>
      </p:sp>
      <p:sp>
        <p:nvSpPr>
          <p:cNvPr id="111" name="Shape 86"/>
          <p:cNvSpPr/>
          <p:nvPr/>
        </p:nvSpPr>
        <p:spPr>
          <a:xfrm>
            <a:off x="4846320" y="4654296"/>
            <a:ext cx="2203704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12" name="Shape 87"/>
          <p:cNvSpPr/>
          <p:nvPr/>
        </p:nvSpPr>
        <p:spPr>
          <a:xfrm>
            <a:off x="4901184" y="4709160"/>
            <a:ext cx="329184" cy="3291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93C5F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3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975250" y="4783226"/>
            <a:ext cx="181051" cy="181051"/>
          </a:xfrm>
          <a:prstGeom prst="rect">
            <a:avLst/>
          </a:prstGeom>
        </p:spPr>
      </p:pic>
      <p:sp>
        <p:nvSpPr>
          <p:cNvPr id="114" name="Text 88"/>
          <p:cNvSpPr/>
          <p:nvPr/>
        </p:nvSpPr>
        <p:spPr>
          <a:xfrm>
            <a:off x="5266944" y="4690872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6B"/>
                </a:solidFill>
              </a:rPr>
              <a:t>Model Pipeline</a:t>
            </a:r>
            <a:endParaRPr lang="en-US" sz="800" dirty="0"/>
          </a:p>
        </p:txBody>
      </p:sp>
      <p:sp>
        <p:nvSpPr>
          <p:cNvPr id="115" name="Text 89"/>
          <p:cNvSpPr/>
          <p:nvPr/>
        </p:nvSpPr>
        <p:spPr>
          <a:xfrm>
            <a:off x="5266944" y="4946904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E68"/>
                </a:solidFill>
              </a:rPr>
              <a:t>Training, validation,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4E68"/>
                </a:solidFill>
              </a:rPr>
              <a:t>inference &amp; versioning</a:t>
            </a:r>
            <a:endParaRPr lang="en-US" sz="700" dirty="0"/>
          </a:p>
        </p:txBody>
      </p:sp>
      <p:sp>
        <p:nvSpPr>
          <p:cNvPr id="116" name="Shape 90"/>
          <p:cNvSpPr/>
          <p:nvPr/>
        </p:nvSpPr>
        <p:spPr>
          <a:xfrm>
            <a:off x="4846320" y="5367528"/>
            <a:ext cx="2203704" cy="621792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17" name="Shape 91"/>
          <p:cNvSpPr/>
          <p:nvPr/>
        </p:nvSpPr>
        <p:spPr>
          <a:xfrm>
            <a:off x="4901184" y="5422392"/>
            <a:ext cx="329184" cy="3291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8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975250" y="5496458"/>
            <a:ext cx="181051" cy="181051"/>
          </a:xfrm>
          <a:prstGeom prst="rect">
            <a:avLst/>
          </a:prstGeom>
        </p:spPr>
      </p:pic>
      <p:sp>
        <p:nvSpPr>
          <p:cNvPr id="119" name="Text 92"/>
          <p:cNvSpPr/>
          <p:nvPr/>
        </p:nvSpPr>
        <p:spPr>
          <a:xfrm>
            <a:off x="5266944" y="5404104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803D"/>
                </a:solidFill>
              </a:rPr>
              <a:t>Output Pipeline</a:t>
            </a:r>
            <a:endParaRPr lang="en-US" sz="800" dirty="0"/>
          </a:p>
        </p:txBody>
      </p:sp>
      <p:sp>
        <p:nvSpPr>
          <p:cNvPr id="120" name="Text 93"/>
          <p:cNvSpPr/>
          <p:nvPr/>
        </p:nvSpPr>
        <p:spPr>
          <a:xfrm>
            <a:off x="5266944" y="5660136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E68"/>
                </a:solidFill>
              </a:rPr>
              <a:t>Results, scoring,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4E68"/>
                </a:solidFill>
              </a:rPr>
              <a:t>hazard maps generation</a:t>
            </a:r>
            <a:endParaRPr lang="en-US" sz="700" dirty="0"/>
          </a:p>
        </p:txBody>
      </p:sp>
      <p:sp>
        <p:nvSpPr>
          <p:cNvPr id="121" name="Shape 94"/>
          <p:cNvSpPr/>
          <p:nvPr/>
        </p:nvSpPr>
        <p:spPr>
          <a:xfrm>
            <a:off x="4846320" y="6153912"/>
            <a:ext cx="2203704" cy="292608"/>
          </a:xfrm>
          <a:prstGeom prst="rect">
            <a:avLst/>
          </a:prstGeom>
          <a:solidFill>
            <a:srgbClr val="E0F2FE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22" name="Text 95"/>
          <p:cNvSpPr/>
          <p:nvPr/>
        </p:nvSpPr>
        <p:spPr>
          <a:xfrm>
            <a:off x="4901184" y="619048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69A1"/>
                </a:solidFill>
              </a:rPr>
              <a:t>AI Model*</a:t>
            </a:r>
            <a:endParaRPr lang="en-US" sz="800" dirty="0"/>
          </a:p>
        </p:txBody>
      </p:sp>
      <p:sp>
        <p:nvSpPr>
          <p:cNvPr id="123" name="Text 96"/>
          <p:cNvSpPr/>
          <p:nvPr/>
        </p:nvSpPr>
        <p:spPr>
          <a:xfrm>
            <a:off x="4873752" y="6373368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E68"/>
                </a:solidFill>
              </a:rPr>
              <a:t>Building Footprint + Computer Vision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334E68"/>
                </a:solidFill>
              </a:rPr>
              <a:t>+ Risk Modeling + Vulnerability &amp; Exposure</a:t>
            </a:r>
            <a:endParaRPr lang="en-US" sz="700" dirty="0"/>
          </a:p>
        </p:txBody>
      </p:sp>
      <p:sp>
        <p:nvSpPr>
          <p:cNvPr id="124" name="Text 97"/>
          <p:cNvSpPr/>
          <p:nvPr/>
        </p:nvSpPr>
        <p:spPr>
          <a:xfrm>
            <a:off x="7196328" y="3465576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3A6B"/>
                </a:solidFill>
              </a:rPr>
              <a:t>▶</a:t>
            </a:r>
            <a:endParaRPr lang="en-US" sz="1300" dirty="0"/>
          </a:p>
        </p:txBody>
      </p:sp>
      <p:sp>
        <p:nvSpPr>
          <p:cNvPr id="125" name="Shape 98"/>
          <p:cNvSpPr/>
          <p:nvPr/>
        </p:nvSpPr>
        <p:spPr>
          <a:xfrm>
            <a:off x="7370064" y="658368"/>
            <a:ext cx="2176272" cy="5907024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26" name="Shape 99"/>
          <p:cNvSpPr/>
          <p:nvPr/>
        </p:nvSpPr>
        <p:spPr>
          <a:xfrm>
            <a:off x="7370064" y="658368"/>
            <a:ext cx="2176272" cy="402336"/>
          </a:xfrm>
          <a:prstGeom prst="rect">
            <a:avLst/>
          </a:prstGeom>
          <a:solidFill>
            <a:srgbClr val="15803D"/>
          </a:solidFill>
          <a:ln/>
        </p:spPr>
      </p:sp>
      <p:pic>
        <p:nvPicPr>
          <p:cNvPr id="1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61504" y="704088"/>
            <a:ext cx="310896" cy="310896"/>
          </a:xfrm>
          <a:prstGeom prst="rect">
            <a:avLst/>
          </a:prstGeom>
        </p:spPr>
      </p:pic>
      <p:sp>
        <p:nvSpPr>
          <p:cNvPr id="128" name="Text 100"/>
          <p:cNvSpPr/>
          <p:nvPr/>
        </p:nvSpPr>
        <p:spPr>
          <a:xfrm>
            <a:off x="7827264" y="658368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Outputs &amp; Visualization</a:t>
            </a:r>
            <a:endParaRPr lang="en-US" sz="900" dirty="0"/>
          </a:p>
        </p:txBody>
      </p:sp>
      <p:sp>
        <p:nvSpPr>
          <p:cNvPr id="129" name="Shape 101"/>
          <p:cNvSpPr/>
          <p:nvPr/>
        </p:nvSpPr>
        <p:spPr>
          <a:xfrm>
            <a:off x="7479792" y="1152144"/>
            <a:ext cx="1956816" cy="1261872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30" name="Shape 102"/>
          <p:cNvSpPr/>
          <p:nvPr/>
        </p:nvSpPr>
        <p:spPr>
          <a:xfrm>
            <a:off x="7516368" y="1225296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1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06894" y="1315822"/>
            <a:ext cx="221285" cy="221285"/>
          </a:xfrm>
          <a:prstGeom prst="rect">
            <a:avLst/>
          </a:prstGeom>
        </p:spPr>
      </p:pic>
      <p:sp>
        <p:nvSpPr>
          <p:cNvPr id="132" name="Text 103"/>
          <p:cNvSpPr/>
          <p:nvPr/>
        </p:nvSpPr>
        <p:spPr>
          <a:xfrm>
            <a:off x="7955280" y="12070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C6E"/>
                </a:solidFill>
              </a:rPr>
              <a:t>Web-App Dashboard</a:t>
            </a:r>
            <a:endParaRPr lang="en-US" sz="850" dirty="0"/>
          </a:p>
        </p:txBody>
      </p:sp>
      <p:sp>
        <p:nvSpPr>
          <p:cNvPr id="133" name="Text 104"/>
          <p:cNvSpPr/>
          <p:nvPr/>
        </p:nvSpPr>
        <p:spPr>
          <a:xfrm>
            <a:off x="7534656" y="1627632"/>
            <a:ext cx="1901952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Maps, heatmaps, hazard layers,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vulnerable hotspot visualization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&amp; drill-down analytics</a:t>
            </a:r>
            <a:endParaRPr lang="en-US" sz="750" dirty="0"/>
          </a:p>
        </p:txBody>
      </p:sp>
      <p:sp>
        <p:nvSpPr>
          <p:cNvPr id="134" name="Shape 105"/>
          <p:cNvSpPr/>
          <p:nvPr/>
        </p:nvSpPr>
        <p:spPr>
          <a:xfrm>
            <a:off x="7479792" y="2523744"/>
            <a:ext cx="1956816" cy="1261872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35" name="Shape 106"/>
          <p:cNvSpPr/>
          <p:nvPr/>
        </p:nvSpPr>
        <p:spPr>
          <a:xfrm>
            <a:off x="7516368" y="2596896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93C5F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6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606894" y="2687422"/>
            <a:ext cx="221285" cy="221285"/>
          </a:xfrm>
          <a:prstGeom prst="rect">
            <a:avLst/>
          </a:prstGeom>
        </p:spPr>
      </p:pic>
      <p:sp>
        <p:nvSpPr>
          <p:cNvPr id="137" name="Text 107"/>
          <p:cNvSpPr/>
          <p:nvPr/>
        </p:nvSpPr>
        <p:spPr>
          <a:xfrm>
            <a:off x="7955280" y="25786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3A6B"/>
                </a:solidFill>
              </a:rPr>
              <a:t>Hazard Risk Maps</a:t>
            </a:r>
            <a:endParaRPr lang="en-US" sz="850" dirty="0"/>
          </a:p>
        </p:txBody>
      </p:sp>
      <p:sp>
        <p:nvSpPr>
          <p:cNvPr id="138" name="Text 108"/>
          <p:cNvSpPr/>
          <p:nvPr/>
        </p:nvSpPr>
        <p:spPr>
          <a:xfrm>
            <a:off x="7534656" y="2999232"/>
            <a:ext cx="1901952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Flood / Landslide / Wildfire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extent, exposure &amp; severity index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with GIS overlay layers</a:t>
            </a:r>
            <a:endParaRPr lang="en-US" sz="750" dirty="0"/>
          </a:p>
        </p:txBody>
      </p:sp>
      <p:sp>
        <p:nvSpPr>
          <p:cNvPr id="139" name="Shape 109"/>
          <p:cNvSpPr/>
          <p:nvPr/>
        </p:nvSpPr>
        <p:spPr>
          <a:xfrm>
            <a:off x="7479792" y="3895344"/>
            <a:ext cx="1956816" cy="1261872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40" name="Shape 110"/>
          <p:cNvSpPr/>
          <p:nvPr/>
        </p:nvSpPr>
        <p:spPr>
          <a:xfrm>
            <a:off x="7516368" y="3968496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4B5F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1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606894" y="4059022"/>
            <a:ext cx="221285" cy="221285"/>
          </a:xfrm>
          <a:prstGeom prst="rect">
            <a:avLst/>
          </a:prstGeom>
        </p:spPr>
      </p:pic>
      <p:sp>
        <p:nvSpPr>
          <p:cNvPr id="142" name="Text 111"/>
          <p:cNvSpPr/>
          <p:nvPr/>
        </p:nvSpPr>
        <p:spPr>
          <a:xfrm>
            <a:off x="7955280" y="39502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Analytics Reports</a:t>
            </a:r>
            <a:endParaRPr lang="en-US" sz="850" dirty="0"/>
          </a:p>
        </p:txBody>
      </p:sp>
      <p:sp>
        <p:nvSpPr>
          <p:cNvPr id="143" name="Text 112"/>
          <p:cNvSpPr/>
          <p:nvPr/>
        </p:nvSpPr>
        <p:spPr>
          <a:xfrm>
            <a:off x="7534656" y="4370832"/>
            <a:ext cx="1901952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Pre / During / Post disaster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summaries, comparisons &amp;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export (PDF, Excel, PNG)</a:t>
            </a:r>
            <a:endParaRPr lang="en-US" sz="750" dirty="0"/>
          </a:p>
        </p:txBody>
      </p:sp>
      <p:sp>
        <p:nvSpPr>
          <p:cNvPr id="144" name="Shape 113"/>
          <p:cNvSpPr/>
          <p:nvPr/>
        </p:nvSpPr>
        <p:spPr>
          <a:xfrm>
            <a:off x="7479792" y="5266944"/>
            <a:ext cx="1956816" cy="1261872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45" name="Shape 114"/>
          <p:cNvSpPr/>
          <p:nvPr/>
        </p:nvSpPr>
        <p:spPr>
          <a:xfrm>
            <a:off x="7516368" y="5340096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6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606894" y="5430622"/>
            <a:ext cx="221285" cy="221285"/>
          </a:xfrm>
          <a:prstGeom prst="rect">
            <a:avLst/>
          </a:prstGeom>
        </p:spPr>
      </p:pic>
      <p:sp>
        <p:nvSpPr>
          <p:cNvPr id="147" name="Text 115"/>
          <p:cNvSpPr/>
          <p:nvPr/>
        </p:nvSpPr>
        <p:spPr>
          <a:xfrm>
            <a:off x="7955280" y="53218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Alert System</a:t>
            </a:r>
            <a:endParaRPr lang="en-US" sz="850" dirty="0"/>
          </a:p>
        </p:txBody>
      </p:sp>
      <p:sp>
        <p:nvSpPr>
          <p:cNvPr id="148" name="Text 116"/>
          <p:cNvSpPr/>
          <p:nvPr/>
        </p:nvSpPr>
        <p:spPr>
          <a:xfrm>
            <a:off x="7534656" y="5742432"/>
            <a:ext cx="1901952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Automated SMS, Push &amp; Email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with BNPB SOP actions &amp;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escalation rules</a:t>
            </a:r>
            <a:endParaRPr lang="en-US" sz="750" dirty="0"/>
          </a:p>
        </p:txBody>
      </p:sp>
      <p:sp>
        <p:nvSpPr>
          <p:cNvPr id="149" name="Text 117"/>
          <p:cNvSpPr/>
          <p:nvPr/>
        </p:nvSpPr>
        <p:spPr>
          <a:xfrm>
            <a:off x="9582912" y="3465576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803D"/>
                </a:solidFill>
              </a:rPr>
              <a:t>▶</a:t>
            </a:r>
            <a:endParaRPr lang="en-US" sz="1300" dirty="0"/>
          </a:p>
        </p:txBody>
      </p:sp>
      <p:sp>
        <p:nvSpPr>
          <p:cNvPr id="150" name="Shape 118"/>
          <p:cNvSpPr/>
          <p:nvPr/>
        </p:nvSpPr>
        <p:spPr>
          <a:xfrm>
            <a:off x="9747504" y="658368"/>
            <a:ext cx="2267712" cy="59070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51" name="Shape 119"/>
          <p:cNvSpPr/>
          <p:nvPr/>
        </p:nvSpPr>
        <p:spPr>
          <a:xfrm>
            <a:off x="9747504" y="658368"/>
            <a:ext cx="2267712" cy="402336"/>
          </a:xfrm>
          <a:prstGeom prst="rect">
            <a:avLst/>
          </a:prstGeom>
          <a:solidFill>
            <a:srgbClr val="334E68"/>
          </a:solidFill>
          <a:ln/>
        </p:spPr>
      </p:sp>
      <p:pic>
        <p:nvPicPr>
          <p:cNvPr id="15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838944" y="704088"/>
            <a:ext cx="310896" cy="310896"/>
          </a:xfrm>
          <a:prstGeom prst="rect">
            <a:avLst/>
          </a:prstGeom>
        </p:spPr>
      </p:pic>
      <p:sp>
        <p:nvSpPr>
          <p:cNvPr id="153" name="Text 120"/>
          <p:cNvSpPr/>
          <p:nvPr/>
        </p:nvSpPr>
        <p:spPr>
          <a:xfrm>
            <a:off x="10204704" y="658368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End Users</a:t>
            </a:r>
            <a:endParaRPr lang="en-US" sz="900" dirty="0"/>
          </a:p>
        </p:txBody>
      </p:sp>
      <p:sp>
        <p:nvSpPr>
          <p:cNvPr id="154" name="Shape 121"/>
          <p:cNvSpPr/>
          <p:nvPr/>
        </p:nvSpPr>
        <p:spPr>
          <a:xfrm>
            <a:off x="9857232" y="1152144"/>
            <a:ext cx="2048256" cy="1261872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55" name="Shape 122"/>
          <p:cNvSpPr/>
          <p:nvPr/>
        </p:nvSpPr>
        <p:spPr>
          <a:xfrm>
            <a:off x="9893808" y="1225296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93C5F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6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984334" y="1315822"/>
            <a:ext cx="221285" cy="221285"/>
          </a:xfrm>
          <a:prstGeom prst="rect">
            <a:avLst/>
          </a:prstGeom>
        </p:spPr>
      </p:pic>
      <p:sp>
        <p:nvSpPr>
          <p:cNvPr id="157" name="Text 123"/>
          <p:cNvSpPr/>
          <p:nvPr/>
        </p:nvSpPr>
        <p:spPr>
          <a:xfrm>
            <a:off x="10332720" y="12070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3A6B"/>
                </a:solidFill>
              </a:rPr>
              <a:t>Disaster Mitigation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B3A6B"/>
                </a:solidFill>
              </a:rPr>
              <a:t>Staff</a:t>
            </a:r>
            <a:endParaRPr lang="en-US" sz="850" dirty="0"/>
          </a:p>
        </p:txBody>
      </p:sp>
      <p:sp>
        <p:nvSpPr>
          <p:cNvPr id="158" name="Text 124"/>
          <p:cNvSpPr/>
          <p:nvPr/>
        </p:nvSpPr>
        <p:spPr>
          <a:xfrm>
            <a:off x="9912096" y="1627632"/>
            <a:ext cx="1993392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Interactively update advisory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for on-ground action &amp;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field team coordination</a:t>
            </a:r>
            <a:endParaRPr lang="en-US" sz="750" dirty="0"/>
          </a:p>
        </p:txBody>
      </p:sp>
      <p:sp>
        <p:nvSpPr>
          <p:cNvPr id="159" name="Shape 125"/>
          <p:cNvSpPr/>
          <p:nvPr/>
        </p:nvSpPr>
        <p:spPr>
          <a:xfrm>
            <a:off x="9857232" y="2523744"/>
            <a:ext cx="2048256" cy="1261872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60" name="Shape 126"/>
          <p:cNvSpPr/>
          <p:nvPr/>
        </p:nvSpPr>
        <p:spPr>
          <a:xfrm>
            <a:off x="9893808" y="2596896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61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984334" y="2687422"/>
            <a:ext cx="221285" cy="221285"/>
          </a:xfrm>
          <a:prstGeom prst="rect">
            <a:avLst/>
          </a:prstGeom>
        </p:spPr>
      </p:pic>
      <p:sp>
        <p:nvSpPr>
          <p:cNvPr id="162" name="Text 127"/>
          <p:cNvSpPr/>
          <p:nvPr/>
        </p:nvSpPr>
        <p:spPr>
          <a:xfrm>
            <a:off x="10332720" y="25786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C6E"/>
                </a:solidFill>
              </a:rPr>
              <a:t>BNPB Officers</a:t>
            </a:r>
            <a:endParaRPr lang="en-US" sz="850" dirty="0"/>
          </a:p>
        </p:txBody>
      </p:sp>
      <p:sp>
        <p:nvSpPr>
          <p:cNvPr id="163" name="Text 128"/>
          <p:cNvSpPr/>
          <p:nvPr/>
        </p:nvSpPr>
        <p:spPr>
          <a:xfrm>
            <a:off x="9912096" y="2999232"/>
            <a:ext cx="1993392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Full system access,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configuration control &amp;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analysis oversight</a:t>
            </a:r>
            <a:endParaRPr lang="en-US" sz="750" dirty="0"/>
          </a:p>
        </p:txBody>
      </p:sp>
      <p:sp>
        <p:nvSpPr>
          <p:cNvPr id="164" name="Shape 129"/>
          <p:cNvSpPr/>
          <p:nvPr/>
        </p:nvSpPr>
        <p:spPr>
          <a:xfrm>
            <a:off x="9857232" y="3895344"/>
            <a:ext cx="2048256" cy="12618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65" name="Shape 130"/>
          <p:cNvSpPr/>
          <p:nvPr/>
        </p:nvSpPr>
        <p:spPr>
          <a:xfrm>
            <a:off x="9893808" y="3968496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66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984334" y="4059022"/>
            <a:ext cx="221285" cy="221285"/>
          </a:xfrm>
          <a:prstGeom prst="rect">
            <a:avLst/>
          </a:prstGeom>
        </p:spPr>
      </p:pic>
      <p:sp>
        <p:nvSpPr>
          <p:cNvPr id="167" name="Text 131"/>
          <p:cNvSpPr/>
          <p:nvPr/>
        </p:nvSpPr>
        <p:spPr>
          <a:xfrm>
            <a:off x="10332720" y="39502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E68"/>
                </a:solidFill>
              </a:rPr>
              <a:t>BPBD Regional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334E68"/>
                </a:solidFill>
              </a:rPr>
              <a:t>Users</a:t>
            </a:r>
            <a:endParaRPr lang="en-US" sz="850" dirty="0"/>
          </a:p>
        </p:txBody>
      </p:sp>
      <p:sp>
        <p:nvSpPr>
          <p:cNvPr id="168" name="Text 132"/>
          <p:cNvSpPr/>
          <p:nvPr/>
        </p:nvSpPr>
        <p:spPr>
          <a:xfrm>
            <a:off x="9912096" y="4370832"/>
            <a:ext cx="1993392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Scoped regional dashboards,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alerts &amp; field team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communication</a:t>
            </a:r>
            <a:endParaRPr lang="en-US" sz="750" dirty="0"/>
          </a:p>
        </p:txBody>
      </p:sp>
      <p:sp>
        <p:nvSpPr>
          <p:cNvPr id="169" name="Shape 133"/>
          <p:cNvSpPr/>
          <p:nvPr/>
        </p:nvSpPr>
        <p:spPr>
          <a:xfrm>
            <a:off x="9857232" y="5266944"/>
            <a:ext cx="2048256" cy="1261872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70" name="Shape 134"/>
          <p:cNvSpPr/>
          <p:nvPr/>
        </p:nvSpPr>
        <p:spPr>
          <a:xfrm>
            <a:off x="9893808" y="5340096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1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984334" y="5430622"/>
            <a:ext cx="221285" cy="221285"/>
          </a:xfrm>
          <a:prstGeom prst="rect">
            <a:avLst/>
          </a:prstGeom>
        </p:spPr>
      </p:pic>
      <p:sp>
        <p:nvSpPr>
          <p:cNvPr id="172" name="Text 135"/>
          <p:cNvSpPr/>
          <p:nvPr/>
        </p:nvSpPr>
        <p:spPr>
          <a:xfrm>
            <a:off x="10332720" y="53218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Public Users</a:t>
            </a:r>
            <a:endParaRPr lang="en-US" sz="850" dirty="0"/>
          </a:p>
        </p:txBody>
      </p:sp>
      <p:sp>
        <p:nvSpPr>
          <p:cNvPr id="173" name="Text 136"/>
          <p:cNvSpPr/>
          <p:nvPr/>
        </p:nvSpPr>
        <p:spPr>
          <a:xfrm>
            <a:off x="9912096" y="5742432"/>
            <a:ext cx="1993392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Read-only hazard maps,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early warning alerts via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Super App (mobile &amp; web)</a:t>
            </a:r>
            <a:endParaRPr lang="en-US" sz="750" dirty="0"/>
          </a:p>
        </p:txBody>
      </p:sp>
      <p:sp>
        <p:nvSpPr>
          <p:cNvPr id="174" name="Shape 137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FEF9C3"/>
          </a:solidFill>
          <a:ln w="6350">
            <a:solidFill>
              <a:srgbClr val="FDE047"/>
            </a:solidFill>
            <a:prstDash val="solid"/>
          </a:ln>
        </p:spPr>
      </p:sp>
      <p:sp>
        <p:nvSpPr>
          <p:cNvPr id="175" name="Text 138"/>
          <p:cNvSpPr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2400E"/>
                </a:solidFill>
              </a:rPr>
              <a:t>★  This is a tentative architecture. Subject to availability of the data and requirement gathering phase.  |  © 2025 Straive™  |  BNPB Confidential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2026-05-13T03:43:16Z</dcterms:created>
  <dcterms:modified xsi:type="dcterms:W3CDTF">2026-05-13T03:43:16Z</dcterms:modified>
</cp:coreProperties>
</file>