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A090"/>
                </a:solidFill>
              </a:rPr>
              <a:t>BNPB DISASTER INTELLIGENCE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Our Scope &amp; Solution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EC5FE"/>
                </a:solidFill>
              </a:rPr>
              <a:t>Aligned with BNPB High-Level System Diagram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1920240" cy="539496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E68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2618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Rainfall Radar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River Water Level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49424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2494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Landslide Sensors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743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CCTV / Cameras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23697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2369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UAV / Drones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7307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Satellite Imagery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4224528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4224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Social Media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718304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47183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News / RSS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40280" y="822960"/>
            <a:ext cx="1828800" cy="5394960"/>
          </a:xfrm>
          <a:prstGeom prst="rect">
            <a:avLst/>
          </a:prstGeom>
          <a:solidFill>
            <a:srgbClr val="E8F4FD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DATA INGESTION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INTEGRATION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141732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1417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3A6B"/>
                </a:solidFill>
              </a:rPr>
              <a:t>Real-time 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3A6B"/>
                </a:solidFill>
              </a:rPr>
              <a:t>Ingestion (Kafka)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77440" y="256032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2560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3A6B"/>
                </a:solidFill>
              </a:rPr>
              <a:t>Data Validation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3A6B"/>
                </a:solidFill>
              </a:rPr>
              <a:t>Quality Control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77440" y="370332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3A6B"/>
                </a:solidFill>
              </a:rPr>
              <a:t>Master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3A6B"/>
                </a:solidFill>
              </a:rPr>
              <a:t>Management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377440" y="484632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4846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3A6B"/>
                </a:solidFill>
              </a:rPr>
              <a:t>Data Lake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3A6B"/>
                </a:solidFill>
              </a:rPr>
              <a:t>(Raw &amp; Processed)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06240" y="822960"/>
            <a:ext cx="603504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0" y="8229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 INTELLIGENT PLATFORM  ◀ OUR SCOPE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87952" y="804672"/>
            <a:ext cx="6080760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51960" y="1261872"/>
            <a:ext cx="1920240" cy="48463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51960" y="1261872"/>
            <a:ext cx="1920240" cy="411480"/>
          </a:xfrm>
          <a:prstGeom prst="rect">
            <a:avLst/>
          </a:prstGeom>
          <a:solidFill>
            <a:srgbClr val="0D7C6E"/>
          </a:solidFill>
          <a:ln/>
        </p:spPr>
      </p:sp>
      <p:sp>
        <p:nvSpPr>
          <p:cNvPr id="39" name="Text 37"/>
          <p:cNvSpPr/>
          <p:nvPr/>
        </p:nvSpPr>
        <p:spPr>
          <a:xfrm>
            <a:off x="425196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① EWS LAYER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51960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Monitor hazard in real-time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343400" y="1764792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3400" y="1764792"/>
            <a:ext cx="17373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Hydrology &amp; hydraulic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model for Flood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(HEC-HMS / HEC-RAS)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343400" y="288036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3400" y="2880360"/>
            <a:ext cx="17373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Geotechnical model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for Landslide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(TRIGRS / FLO-2D)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343400" y="3995928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3400" y="3995928"/>
            <a:ext cx="17373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ML-driven predictive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modeling for alerting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enhancement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343400" y="5120640"/>
            <a:ext cx="173736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43400" y="5120640"/>
            <a:ext cx="17373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6534"/>
                </a:solidFill>
              </a:rPr>
              <a:t>Outputs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66534"/>
                </a:solidFill>
              </a:rPr>
              <a:t>On-the-fly flood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66534"/>
                </a:solidFill>
              </a:rPr>
              <a:t>landslide detection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263640" y="1261872"/>
            <a:ext cx="2011680" cy="484632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63640" y="1261872"/>
            <a:ext cx="2011680" cy="4114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51" name="Text 49"/>
          <p:cNvSpPr/>
          <p:nvPr/>
        </p:nvSpPr>
        <p:spPr>
          <a:xfrm>
            <a:off x="6263640" y="1261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② ANALYTICS LAYER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63640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EF3C7"/>
                </a:solidFill>
              </a:rPr>
              <a:t>Produce insights for disaster area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355080" y="1764792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1764792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Risk assessment &amp;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scoring (30 GIS/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hazard models)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355080" y="288036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2880360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Vulnerability &amp;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exposure analytics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355080" y="3995928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3995928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Disaster scenario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analytics (evacuation,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logistics, funding)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355080" y="5120640"/>
            <a:ext cx="182880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512064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3A6B"/>
                </a:solidFill>
              </a:rPr>
              <a:t>Outputs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3A6B"/>
                </a:solidFill>
              </a:rPr>
              <a:t>Risk level, impact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3A6B"/>
                </a:solidFill>
              </a:rPr>
              <a:t>estimate, action planning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366760" y="1261872"/>
            <a:ext cx="1810512" cy="4846320"/>
          </a:xfrm>
          <a:prstGeom prst="rect">
            <a:avLst/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66760" y="1261872"/>
            <a:ext cx="1810512" cy="411480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63" name="Text 61"/>
          <p:cNvSpPr/>
          <p:nvPr/>
        </p:nvSpPr>
        <p:spPr>
          <a:xfrm>
            <a:off x="8366760" y="126187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③ DISSEMINATION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366760" y="146304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</a:rPr>
              <a:t>Deliver to relevant users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458200" y="1764792"/>
            <a:ext cx="16276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58200" y="1764792"/>
            <a:ext cx="1627632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GenAI-powered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summarization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458200" y="2880360"/>
            <a:ext cx="16276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58200" y="2880360"/>
            <a:ext cx="1627632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BNPB SOP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integration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458200" y="3995928"/>
            <a:ext cx="16276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58200" y="3995928"/>
            <a:ext cx="1627632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Multi-channel alerts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  (SMS, Push, Email)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458200" y="5120640"/>
            <a:ext cx="1627632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58200" y="5120640"/>
            <a:ext cx="162763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7B39"/>
                </a:solidFill>
              </a:rPr>
              <a:t>Outputs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07B39"/>
                </a:solidFill>
              </a:rPr>
              <a:t>Push notifications,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07B39"/>
                </a:solidFill>
              </a:rPr>
              <a:t>Information summary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0287000" y="822960"/>
            <a:ext cx="1691640" cy="53949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287000" y="8412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E68"/>
                </a:solidFill>
              </a:rPr>
              <a:t>USERS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0378440" y="1298448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378440" y="129844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BNPB Officers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(Full Admin)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0378440" y="2395728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378440" y="23957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BPBD Regional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Users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0378440" y="3493008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378440" y="349300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Public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(Read-only)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10378440" y="4590288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378440" y="459028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Third-party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Integrators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2176272" y="3200400"/>
            <a:ext cx="109728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4" name="Shape 82"/>
          <p:cNvSpPr/>
          <p:nvPr/>
        </p:nvSpPr>
        <p:spPr>
          <a:xfrm>
            <a:off x="4142232" y="3200400"/>
            <a:ext cx="109728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5" name="Shape 83"/>
          <p:cNvSpPr/>
          <p:nvPr/>
        </p:nvSpPr>
        <p:spPr>
          <a:xfrm>
            <a:off x="6153912" y="3200400"/>
            <a:ext cx="109728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6" name="Shape 84"/>
          <p:cNvSpPr/>
          <p:nvPr/>
        </p:nvSpPr>
        <p:spPr>
          <a:xfrm>
            <a:off x="8211312" y="3200400"/>
            <a:ext cx="109728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7" name="Shape 8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8" name="Text 86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BNPB National Multi-Hazard Disaster Monitoring &amp; Decision Support System  |  Confidential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1430000" y="6492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A090"/>
                </a:solidFill>
              </a:rPr>
              <a:t>USE CASE: FLOOD HAZARD MONITORING &amp; EARLY WARNING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HEC-HMS / HEC-RAS Physical Modeling  +  AI/ML Prediction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137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EWS Layer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424160" y="118872"/>
            <a:ext cx="1554480" cy="457200"/>
          </a:xfrm>
          <a:prstGeom prst="rect">
            <a:avLst/>
          </a:prstGeom>
          <a:solidFill>
            <a:srgbClr val="0D7C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1188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EWS Layer  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22960"/>
            <a:ext cx="2743200" cy="438912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822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INPUTS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713232"/>
            <a:ext cx="347472" cy="347472"/>
          </a:xfrm>
          <a:prstGeom prst="ellipse">
            <a:avLst/>
          </a:prstGeom>
          <a:solidFill>
            <a:srgbClr val="334E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371600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371600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River water level sensors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121408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121408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121408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Rainfall gauges (rain intensity)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871216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871216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71216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Satellite imagery (LAPAN)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621024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621024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621024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UAV/drone terrain scans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4370832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370832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370832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DEM / elevation data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5120640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5120640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120640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Upstream dam status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17520" y="3429000"/>
            <a:ext cx="9144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2" name="Text 30"/>
          <p:cNvSpPr/>
          <p:nvPr/>
        </p:nvSpPr>
        <p:spPr>
          <a:xfrm>
            <a:off x="2990088" y="324612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3A6B"/>
                </a:solidFill>
              </a:rPr>
              <a:t>▶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154680" y="82296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822960"/>
            <a:ext cx="2743200" cy="438912"/>
          </a:xfrm>
          <a:prstGeom prst="rect">
            <a:avLst/>
          </a:prstGeom>
          <a:solidFill>
            <a:srgbClr val="0D7C6E"/>
          </a:solidFill>
          <a:ln/>
        </p:spPr>
      </p:sp>
      <p:sp>
        <p:nvSpPr>
          <p:cNvPr id="35" name="Text 33"/>
          <p:cNvSpPr/>
          <p:nvPr/>
        </p:nvSpPr>
        <p:spPr>
          <a:xfrm>
            <a:off x="3154680" y="822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PHYSICAL MODELING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0" y="713232"/>
            <a:ext cx="347472" cy="347472"/>
          </a:xfrm>
          <a:prstGeom prst="ellipse">
            <a:avLst/>
          </a:prstGeom>
          <a:solidFill>
            <a:srgbClr val="0D7C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1840" y="1371600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1371600"/>
            <a:ext cx="45720" cy="658368"/>
          </a:xfrm>
          <a:prstGeom prst="rect">
            <a:avLst/>
          </a:prstGeom>
          <a:solidFill>
            <a:srgbClr val="0D7C6E"/>
          </a:solidFill>
          <a:ln/>
        </p:spPr>
      </p:sp>
      <p:sp>
        <p:nvSpPr>
          <p:cNvPr id="40" name="Text 38"/>
          <p:cNvSpPr/>
          <p:nvPr/>
        </p:nvSpPr>
        <p:spPr>
          <a:xfrm>
            <a:off x="3383280" y="1371600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HEC-HMS: Rainfall-Runoff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&amp; Watershed Hydrology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91840" y="2121408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2121408"/>
            <a:ext cx="45720" cy="658368"/>
          </a:xfrm>
          <a:prstGeom prst="rect">
            <a:avLst/>
          </a:prstGeom>
          <a:solidFill>
            <a:srgbClr val="0D7C6E"/>
          </a:solidFill>
          <a:ln/>
        </p:spPr>
      </p:sp>
      <p:sp>
        <p:nvSpPr>
          <p:cNvPr id="43" name="Text 41"/>
          <p:cNvSpPr/>
          <p:nvPr/>
        </p:nvSpPr>
        <p:spPr>
          <a:xfrm>
            <a:off x="3383280" y="2121408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HEC-RAS: River Hydraulics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&amp; Inundation Modeling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91840" y="2871216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91840" y="2871216"/>
            <a:ext cx="45720" cy="658368"/>
          </a:xfrm>
          <a:prstGeom prst="rect">
            <a:avLst/>
          </a:prstGeom>
          <a:solidFill>
            <a:srgbClr val="0D7C6E"/>
          </a:solidFill>
          <a:ln/>
        </p:spPr>
      </p:sp>
      <p:sp>
        <p:nvSpPr>
          <p:cNvPr id="46" name="Text 44"/>
          <p:cNvSpPr/>
          <p:nvPr/>
        </p:nvSpPr>
        <p:spPr>
          <a:xfrm>
            <a:off x="3383280" y="2871216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Water discharge &amp; flow velocity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calculation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91840" y="3621024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3621024"/>
            <a:ext cx="45720" cy="658368"/>
          </a:xfrm>
          <a:prstGeom prst="rect">
            <a:avLst/>
          </a:prstGeom>
          <a:solidFill>
            <a:srgbClr val="0D7C6E"/>
          </a:solidFill>
          <a:ln/>
        </p:spPr>
      </p:sp>
      <p:sp>
        <p:nvSpPr>
          <p:cNvPr id="49" name="Text 47"/>
          <p:cNvSpPr/>
          <p:nvPr/>
        </p:nvSpPr>
        <p:spPr>
          <a:xfrm>
            <a:off x="3383280" y="3621024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Flood depth simulation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across river basin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943600" y="3429000"/>
            <a:ext cx="9144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1" name="Text 49"/>
          <p:cNvSpPr/>
          <p:nvPr/>
        </p:nvSpPr>
        <p:spPr>
          <a:xfrm>
            <a:off x="5916168" y="324612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3A6B"/>
                </a:solidFill>
              </a:rPr>
              <a:t>▶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080760" y="82296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80760" y="822960"/>
            <a:ext cx="2743200" cy="43891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54" name="Text 52"/>
          <p:cNvSpPr/>
          <p:nvPr/>
        </p:nvSpPr>
        <p:spPr>
          <a:xfrm>
            <a:off x="6080760" y="822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/ ML ENHANCEMENT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412480" y="713232"/>
            <a:ext cx="347472" cy="347472"/>
          </a:xfrm>
          <a:prstGeom prst="ellipse">
            <a:avLst/>
          </a:prstGeom>
          <a:solidFill>
            <a:srgbClr val="E07B3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17920" y="1371600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0" y="1371600"/>
            <a:ext cx="45720" cy="65836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59" name="Text 57"/>
          <p:cNvSpPr/>
          <p:nvPr/>
        </p:nvSpPr>
        <p:spPr>
          <a:xfrm>
            <a:off x="6309360" y="1371600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LSTM Neural Networks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for flood forecasting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17920" y="2121408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7920" y="2121408"/>
            <a:ext cx="45720" cy="65836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62" name="Text 60"/>
          <p:cNvSpPr/>
          <p:nvPr/>
        </p:nvSpPr>
        <p:spPr>
          <a:xfrm>
            <a:off x="6309360" y="2121408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Random Forest flood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susceptibility mapping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17920" y="2871216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17920" y="2871216"/>
            <a:ext cx="45720" cy="65836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65" name="Text 63"/>
          <p:cNvSpPr/>
          <p:nvPr/>
        </p:nvSpPr>
        <p:spPr>
          <a:xfrm>
            <a:off x="6309360" y="2871216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MCDM-AHP risk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assessment scoring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17920" y="3621024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17920" y="3621024"/>
            <a:ext cx="45720" cy="65836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68" name="Text 66"/>
          <p:cNvSpPr/>
          <p:nvPr/>
        </p:nvSpPr>
        <p:spPr>
          <a:xfrm>
            <a:off x="6309360" y="3621024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Flash flood predictive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modeling (real-time)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869680" y="3429000"/>
            <a:ext cx="9144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0" name="Text 68"/>
          <p:cNvSpPr/>
          <p:nvPr/>
        </p:nvSpPr>
        <p:spPr>
          <a:xfrm>
            <a:off x="8842248" y="324612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3A6B"/>
                </a:solidFill>
              </a:rPr>
              <a:t>▶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006840" y="82296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9006840" y="822960"/>
            <a:ext cx="2743200" cy="43891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3" name="Text 71"/>
          <p:cNvSpPr/>
          <p:nvPr/>
        </p:nvSpPr>
        <p:spPr>
          <a:xfrm>
            <a:off x="9006840" y="822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OUTPUTS &amp; ALERTS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1338560" y="713232"/>
            <a:ext cx="347472" cy="347472"/>
          </a:xfrm>
          <a:prstGeom prst="ellipse">
            <a:avLst/>
          </a:prstGeom>
          <a:solidFill>
            <a:srgbClr val="1B3A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133856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9144000" y="1371600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144000" y="1371600"/>
            <a:ext cx="4572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8" name="Text 76"/>
          <p:cNvSpPr/>
          <p:nvPr/>
        </p:nvSpPr>
        <p:spPr>
          <a:xfrm>
            <a:off x="9235440" y="1371600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Flood extent &amp; inundation map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9144000" y="2121408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44000" y="2121408"/>
            <a:ext cx="4572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1" name="Text 79"/>
          <p:cNvSpPr/>
          <p:nvPr/>
        </p:nvSpPr>
        <p:spPr>
          <a:xfrm>
            <a:off x="9235440" y="2121408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Population &amp; infrastructure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exposure index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9144000" y="2871216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144000" y="2871216"/>
            <a:ext cx="4572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4" name="Text 82"/>
          <p:cNvSpPr/>
          <p:nvPr/>
        </p:nvSpPr>
        <p:spPr>
          <a:xfrm>
            <a:off x="9235440" y="2871216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Evacuation safe zone analysis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9144000" y="3621024"/>
            <a:ext cx="246888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144000" y="3621024"/>
            <a:ext cx="4572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7" name="Text 85"/>
          <p:cNvSpPr/>
          <p:nvPr/>
        </p:nvSpPr>
        <p:spPr>
          <a:xfrm>
            <a:off x="9235440" y="3621024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Early warning triggers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(SMS, Push, Dashboard)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28600" y="6236208"/>
            <a:ext cx="1170432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5760" y="62362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Scientific Basis: 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1417320" y="62362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Kratzert et al. (2018) – LSTM for Rainfall-Runoff  |  USACE HEC-HMS/HEC-RAS Technical Reference  |  Tehrany et al. (2015) – Random Forest Flood Susceptibility  |  Kazakis et al. (2015) – MCDM-AHP Flood Risk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2" name="Text 90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BNPB National Multi-Hazard Disaster Monitoring &amp; Decision Support System  |  Confidential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11430000" y="6492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5A5"/>
                </a:solidFill>
              </a:rPr>
              <a:t>USE CASE: LANDSLIDE HAZARD MONITORING &amp; EARLY WARNING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TRIGRS / FLO-2D Geotechnical Modeling  +  AI/ML Susceptibility Analysis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424160" y="118872"/>
            <a:ext cx="155448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0" y="1188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EWS Layer  ①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22960"/>
            <a:ext cx="2743200" cy="438912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INPUTS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713232"/>
            <a:ext cx="347472" cy="347472"/>
          </a:xfrm>
          <a:prstGeom prst="ellipse">
            <a:avLst/>
          </a:prstGeom>
          <a:solidFill>
            <a:srgbClr val="334E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371600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371600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SRTM DEM elevation 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121408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121408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121408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SMAP Soil moisture 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871216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71216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GPM IMERG rainfall data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621024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21024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21024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Sentinel-1 SAR imagery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4370832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370832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70832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Slope &amp; geological maps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5120640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5120640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5120640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IoT landslide sensors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990088" y="324612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E68"/>
                </a:solidFill>
              </a:rPr>
              <a:t>▶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154680" y="82296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822960"/>
            <a:ext cx="274320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3154680" y="822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GEOTECHNICAL MODELING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713232"/>
            <a:ext cx="347472" cy="347472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91840" y="1371600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0" y="1371600"/>
            <a:ext cx="457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1371600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TRIGRS: Transient rainfall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infiltration &amp; grid-based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regional slope stability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91840" y="2121408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2121408"/>
            <a:ext cx="457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0" y="2121408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FLO-2D: Debris flow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&amp; hyperconcentrated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flow simulation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91840" y="2871216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2871216"/>
            <a:ext cx="457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3383280" y="2871216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Rainfall threshold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analysis for triggering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91840" y="3621024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91840" y="3621024"/>
            <a:ext cx="457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3383280" y="3621024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Slope stability index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mapping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916168" y="324612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E68"/>
                </a:solidFill>
              </a:rPr>
              <a:t>▶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080760" y="82296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80760" y="822960"/>
            <a:ext cx="2743200" cy="43891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51" name="Text 49"/>
          <p:cNvSpPr/>
          <p:nvPr/>
        </p:nvSpPr>
        <p:spPr>
          <a:xfrm>
            <a:off x="6080760" y="822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/ ML ENHANCEMENT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12480" y="713232"/>
            <a:ext cx="347472" cy="347472"/>
          </a:xfrm>
          <a:prstGeom prst="ellipse">
            <a:avLst/>
          </a:prstGeom>
          <a:solidFill>
            <a:srgbClr val="E07B3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1248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17920" y="1371600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17920" y="1371600"/>
            <a:ext cx="45720" cy="65836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56" name="Text 54"/>
          <p:cNvSpPr/>
          <p:nvPr/>
        </p:nvSpPr>
        <p:spPr>
          <a:xfrm>
            <a:off x="6309360" y="1371600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SVM Landslide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susceptibility mapping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17920" y="2121408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0" y="2121408"/>
            <a:ext cx="45720" cy="65836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59" name="Text 57"/>
          <p:cNvSpPr/>
          <p:nvPr/>
        </p:nvSpPr>
        <p:spPr>
          <a:xfrm>
            <a:off x="6309360" y="2121408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XGBoost/Gradient Boosting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slope classification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17920" y="2871216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7920" y="2871216"/>
            <a:ext cx="45720" cy="65836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62" name="Text 60"/>
          <p:cNvSpPr/>
          <p:nvPr/>
        </p:nvSpPr>
        <p:spPr>
          <a:xfrm>
            <a:off x="6309360" y="2871216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SAR Interferometry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(InSAR) displacement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detection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17920" y="3621024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17920" y="3621024"/>
            <a:ext cx="45720" cy="65836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65" name="Text 63"/>
          <p:cNvSpPr/>
          <p:nvPr/>
        </p:nvSpPr>
        <p:spPr>
          <a:xfrm>
            <a:off x="6309360" y="3621024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Rainfall-threshold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prediction model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842248" y="324612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E68"/>
                </a:solidFill>
              </a:rPr>
              <a:t>▶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006840" y="82296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9006840" y="822960"/>
            <a:ext cx="2743200" cy="438912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69" name="Text 67"/>
          <p:cNvSpPr/>
          <p:nvPr/>
        </p:nvSpPr>
        <p:spPr>
          <a:xfrm>
            <a:off x="9006840" y="822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OUTPUTS &amp; ALERTS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1338560" y="713232"/>
            <a:ext cx="347472" cy="347472"/>
          </a:xfrm>
          <a:prstGeom prst="ellipse">
            <a:avLst/>
          </a:prstGeom>
          <a:solidFill>
            <a:srgbClr val="334E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33856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144000" y="1371600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4000" y="1371600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74" name="Text 72"/>
          <p:cNvSpPr/>
          <p:nvPr/>
        </p:nvSpPr>
        <p:spPr>
          <a:xfrm>
            <a:off x="9235440" y="1371600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Landslide susceptibility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zone map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9144000" y="2121408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144000" y="2121408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77" name="Text 75"/>
          <p:cNvSpPr/>
          <p:nvPr/>
        </p:nvSpPr>
        <p:spPr>
          <a:xfrm>
            <a:off x="9235440" y="2121408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Displacement &amp; ground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deformation detection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9144000" y="2871216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144000" y="2871216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80" name="Text 78"/>
          <p:cNvSpPr/>
          <p:nvPr/>
        </p:nvSpPr>
        <p:spPr>
          <a:xfrm>
            <a:off x="9235440" y="2871216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At-risk population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infrastructure exposure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9144000" y="3621024"/>
            <a:ext cx="2468880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00" y="3621024"/>
            <a:ext cx="45720" cy="658368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83" name="Text 81"/>
          <p:cNvSpPr/>
          <p:nvPr/>
        </p:nvSpPr>
        <p:spPr>
          <a:xfrm>
            <a:off x="9235440" y="3621024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Early warning triggers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&amp; evacuation routing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28600" y="6236208"/>
            <a:ext cx="11704320" cy="5029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760" y="6236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</a:rPr>
              <a:t>⚠ Data Requirement Note: 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2148840" y="62362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2400E"/>
                </a:solidFill>
              </a:rPr>
              <a:t>TRIGRS &amp; FLO-2D require site-specific geotechnical data (soil properties, infiltration rates, flow rheology). BNPB is requested to provide or facilitate access to these datasets. Macro-scale AI/ML analysis (SVM, XGBoost, InSAR) will operate on satellite datasets available from the outset.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88" name="Text 86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BNPB National Multi-Hazard Disaster Monitoring &amp; Decision Support System  |  Confidential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1430000" y="6492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7C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1FAE5"/>
                </a:solidFill>
              </a:rPr>
              <a:t>DATA FLOW (COMMON) — SOLUTION PROCESS IN A NUTSHELL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model explained for each solution — detailed per 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7F3D0"/>
                </a:solidFill>
              </a:rPr>
              <a:t>Applies to: Flood  |  Landslide  |  Wildfire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210312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22960"/>
            <a:ext cx="2103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</a:rPr>
              <a:t>High-res Satellite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</a:rPr>
              <a:t>Imagery for HIGH-RISK AoIs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1298448"/>
            <a:ext cx="21031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🛰 LAPAN  |  Sentinel-1 SAR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MODIS  |  VIIRS Thermal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2148840"/>
            <a:ext cx="2103120" cy="361188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1B6"/>
                </a:solidFill>
              </a:rPr>
              <a:t>Geospatial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B21B6"/>
                </a:solidFill>
              </a:rPr>
              <a:t>Characteristics Data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2670048"/>
            <a:ext cx="1828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C1D95"/>
                </a:solidFill>
              </a:rPr>
              <a:t>1) Waterbodies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74320" y="3017520"/>
            <a:ext cx="1828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C1D95"/>
                </a:solidFill>
              </a:rPr>
              <a:t>2) Road Network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4320" y="3364992"/>
            <a:ext cx="1828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C1D95"/>
                </a:solidFill>
              </a:rPr>
              <a:t>3) TWI (Topographic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C1D95"/>
                </a:solidFill>
              </a:rPr>
              <a:t>  Wetness Index)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4320" y="3712464"/>
            <a:ext cx="1828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C1D95"/>
                </a:solidFill>
              </a:rPr>
              <a:t>4) Elevation (DEM)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4320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C1D95"/>
                </a:solidFill>
              </a:rPr>
              <a:t>5) Vegetation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4320" y="4407408"/>
            <a:ext cx="1828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C1D95"/>
                </a:solidFill>
              </a:rPr>
              <a:t>6) Impervious Surface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1828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C1D95"/>
                </a:solidFill>
              </a:rPr>
              <a:t>7) Landslide/Fire Risk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C1D95"/>
                </a:solidFill>
              </a:rPr>
              <a:t>  Index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74320" y="5102352"/>
            <a:ext cx="1828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C1D95"/>
                </a:solidFill>
              </a:rPr>
              <a:t>8) Building Footprints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" y="5806440"/>
            <a:ext cx="2103120" cy="77724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5806440"/>
            <a:ext cx="21031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Ancillary Datasets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+ Ground Truth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 rot="16200000">
            <a:off x="0" y="4114800"/>
            <a:ext cx="411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INPUT DATA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33172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C6E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51760" y="822960"/>
            <a:ext cx="2286000" cy="498348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822960"/>
            <a:ext cx="2286000" cy="475488"/>
          </a:xfrm>
          <a:prstGeom prst="rect">
            <a:avLst/>
          </a:prstGeom>
          <a:solidFill>
            <a:srgbClr val="0D7C6E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822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Pre-Processing Engine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51760" y="10698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Collection, Storage, Indexing, Transformation &amp; Retrieval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88920" y="141732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C6E"/>
                </a:solidFill>
              </a:rPr>
              <a:t>Data Normalization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88920" y="1755648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Standardize formats, CRS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projection, units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88920" y="246888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C6E"/>
                </a:solidFill>
              </a:rPr>
              <a:t>Initial Stats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7C6E"/>
                </a:solidFill>
              </a:rPr>
              <a:t>Computations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88920" y="2807208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Feature extraction,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statistical summaries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88920" y="35204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C6E"/>
                </a:solidFill>
              </a:rPr>
              <a:t>Data Enrichment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88920" y="3858768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Merge geospatial layers,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enrich with metadata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88920" y="457200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88920" y="4572000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C6E"/>
                </a:solidFill>
              </a:rPr>
              <a:t>Data Labeling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7C6E"/>
                </a:solidFill>
              </a:rPr>
              <a:t>(Auto/Semi-Auto)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88920" y="4910328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Ground truth matching,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ML-ready label generation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98348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C6E"/>
                </a:solidFill>
              </a:rPr>
              <a:t>▶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03520" y="822960"/>
            <a:ext cx="2286000" cy="2103120"/>
          </a:xfrm>
          <a:prstGeom prst="rect">
            <a:avLst/>
          </a:prstGeom>
          <a:solidFill>
            <a:srgbClr val="FFF7ED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0" y="822960"/>
            <a:ext cx="2286000" cy="4114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0" y="822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Post-Processing Engine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03520" y="1051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EF3C7"/>
                </a:solidFill>
              </a:rPr>
              <a:t>Risk Score Adjustment, Human SME in the loop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440680" y="1307592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0680" y="1307592"/>
            <a:ext cx="9601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Classification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Reclassification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of Risk Score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492240" y="1307592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1307592"/>
            <a:ext cx="9601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Business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Rule Engine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440680" y="2029968"/>
            <a:ext cx="20116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07B39"/>
                </a:solidFill>
              </a:rPr>
              <a:t>Human SME Override &amp; Validation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440680" y="2029968"/>
            <a:ext cx="201168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0680" y="2029968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07B39"/>
                </a:solidFill>
              </a:rPr>
              <a:t>Human SME Override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E07B39"/>
                </a:solidFill>
              </a:rPr>
              <a:t>&amp; Expert Validation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309360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</a:rPr>
              <a:t>▼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303520" y="3337560"/>
            <a:ext cx="2286000" cy="237744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03520" y="3337560"/>
            <a:ext cx="228600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0" y="3337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Model Pipeline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40680" y="3794760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40680" y="3794760"/>
            <a:ext cx="10058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Input Pipeline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446520" y="3794760"/>
            <a:ext cx="100584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Data ingestion &amp; feature prep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440680" y="4416552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40680" y="4416552"/>
            <a:ext cx="10058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Model Pipeline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446520" y="4416552"/>
            <a:ext cx="100584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Training, validation, inference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440680" y="5038344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40680" y="5038344"/>
            <a:ext cx="10058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Output Pipeline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446520" y="5038344"/>
            <a:ext cx="100584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Results, scoring, maps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440680" y="5669280"/>
            <a:ext cx="201168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40680" y="5669280"/>
            <a:ext cx="20116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3A6B"/>
                </a:solidFill>
              </a:rPr>
              <a:t>AI Model*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3A6B"/>
                </a:solidFill>
              </a:rPr>
              <a:t>Building Footprint + Computer Vision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3A6B"/>
                </a:solidFill>
              </a:rPr>
              <a:t>+ Risk Modeling + Vulnerability &amp; Exposure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763524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</a:rPr>
              <a:t>▶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7635240" y="1463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</a:rPr>
              <a:t>▶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7955280" y="822960"/>
            <a:ext cx="2148840" cy="548640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55280" y="822960"/>
            <a:ext cx="2148840" cy="38404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70" name="Text 68"/>
          <p:cNvSpPr/>
          <p:nvPr/>
        </p:nvSpPr>
        <p:spPr>
          <a:xfrm>
            <a:off x="7955280" y="8229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OUTPUTS &amp; VISUALIZATION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092440" y="1298448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92440" y="1298448"/>
            <a:ext cx="18745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Web-App Dashboard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8092440" y="1664208"/>
            <a:ext cx="18745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Maps, heatmaps, hazard layers,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vulnerable hotspots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092440" y="2487168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92440" y="2487168"/>
            <a:ext cx="18745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Hazard Risk Maps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092440" y="2852928"/>
            <a:ext cx="18745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Flood/Landslide/Wildfire extent,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exposure &amp; severity index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092440" y="3675888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92440" y="3675888"/>
            <a:ext cx="18745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Analytics Reports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8092440" y="4041648"/>
            <a:ext cx="18745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Pre/during/post disaster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summaries &amp; comparisons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8092440" y="4864608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092440" y="4864608"/>
            <a:ext cx="18745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Alert System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092440" y="5230368"/>
            <a:ext cx="18745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Automated SMS, push &amp; email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with BNPB SOP actions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1014984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</a:rPr>
              <a:t>▶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10469880" y="822960"/>
            <a:ext cx="1508760" cy="54864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469880" y="822960"/>
            <a:ext cx="150876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6" name="Text 84"/>
          <p:cNvSpPr/>
          <p:nvPr/>
        </p:nvSpPr>
        <p:spPr>
          <a:xfrm>
            <a:off x="10469880" y="8229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END USERS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561320" y="1298448"/>
            <a:ext cx="1325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561320" y="1298448"/>
            <a:ext cx="1325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Disaster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Mitigation Staff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0561320" y="1664208"/>
            <a:ext cx="13258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Interactive advisory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for on-ground action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0561320" y="2487168"/>
            <a:ext cx="1325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561320" y="2487168"/>
            <a:ext cx="1325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BNPB Officers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0561320" y="2852928"/>
            <a:ext cx="13258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Full system access,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configuration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10561320" y="3675888"/>
            <a:ext cx="1325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561320" y="3675888"/>
            <a:ext cx="1325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BPBD Regional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10561320" y="4041648"/>
            <a:ext cx="13258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Scoped regional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dashboards &amp; alerts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10561320" y="4864608"/>
            <a:ext cx="1325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561320" y="4864608"/>
            <a:ext cx="1325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6B"/>
                </a:solidFill>
              </a:rPr>
              <a:t>Public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10561320" y="5230368"/>
            <a:ext cx="13258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Read-only hazard maps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&amp; early warnings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182880" y="6382512"/>
            <a:ext cx="7589520" cy="347472"/>
          </a:xfrm>
          <a:prstGeom prst="rect">
            <a:avLst/>
          </a:prstGeom>
          <a:solidFill>
            <a:srgbClr val="FEF9C3"/>
          </a:solidFill>
          <a:ln w="9525">
            <a:solidFill>
              <a:srgbClr val="FDE047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74320" y="638251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2400E"/>
                </a:solidFill>
              </a:rPr>
              <a:t>* This is a tentative architecture. Subject to availability of data and requirement gathering phase.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D7C6E"/>
          </a:solidFill>
          <a:ln/>
        </p:spPr>
      </p:sp>
      <p:sp>
        <p:nvSpPr>
          <p:cNvPr id="102" name="Text 100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FAE5"/>
                </a:solidFill>
              </a:rPr>
              <a:t>BNPB National Multi-Hazard Disaster Monitoring &amp; Decision Support System  |  Confidential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11430000" y="6492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 /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2026-05-13T03:24:28Z</dcterms:created>
  <dcterms:modified xsi:type="dcterms:W3CDTF">2026-05-13T03:24:28Z</dcterms:modified>
</cp:coreProperties>
</file>