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7432"/>
            <a:ext cx="8686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80" kern="0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FLOOD HAZARD MONITORING &amp; EARLY WARNING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256032" y="155448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Hydrological &amp; Hydraulic Modeling  +  AI/ML-Based Prediction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835640" y="118872"/>
            <a:ext cx="1078992" cy="310896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35640" y="118872"/>
            <a:ext cx="1078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E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Layer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" y="621792"/>
            <a:ext cx="2011680" cy="6071616"/>
          </a:xfrm>
          <a:prstGeom prst="rect">
            <a:avLst/>
          </a:prstGeom>
          <a:solidFill>
            <a:srgbClr val="EBF0F5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621792"/>
            <a:ext cx="3154680" cy="6071616"/>
          </a:xfrm>
          <a:prstGeom prst="rect">
            <a:avLst/>
          </a:prstGeom>
          <a:solidFill>
            <a:srgbClr val="EBF5F2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621792"/>
            <a:ext cx="3913632" cy="6071616"/>
          </a:xfrm>
          <a:prstGeom prst="rect">
            <a:avLst/>
          </a:prstGeom>
          <a:solidFill>
            <a:srgbClr val="F2F8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08592" y="621792"/>
            <a:ext cx="2834640" cy="6071616"/>
          </a:xfrm>
          <a:prstGeom prst="rect">
            <a:avLst/>
          </a:prstGeom>
          <a:solidFill>
            <a:srgbClr val="F5F4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" y="621792"/>
            <a:ext cx="2011680" cy="301752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65836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6583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685800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148840" y="621792"/>
            <a:ext cx="3154680" cy="301752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1992" y="65836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21992" y="6583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96312" y="685800"/>
            <a:ext cx="2752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MODELING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49240" y="621792"/>
            <a:ext cx="3913632" cy="30175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22392" y="65836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22392" y="6583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96712" y="685800"/>
            <a:ext cx="3511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MODEL OUTPUTS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308592" y="621792"/>
            <a:ext cx="2834640" cy="3017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81744" y="65836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81744" y="6583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56064" y="685800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&amp; ALERTS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46304" y="969264"/>
            <a:ext cx="1901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46304" y="969264"/>
            <a:ext cx="36576" cy="82296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" y="100584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Water Level Sensors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554480" y="1024128"/>
            <a:ext cx="475488" cy="146304"/>
          </a:xfrm>
          <a:prstGeom prst="roundRect">
            <a:avLst>
              <a:gd name="adj" fmla="val 31250"/>
            </a:avLst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54480" y="1024128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[200 Sensors]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10312" y="1207008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0.1–30+ m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210312" y="1371600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&lt;3m · Warning 3–5m · Danger &gt;5m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46304" y="1856232"/>
            <a:ext cx="1901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46304" y="1856232"/>
            <a:ext cx="36576" cy="82296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" y="1892808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Gauges (Intensity)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554480" y="1911096"/>
            <a:ext cx="475488" cy="146304"/>
          </a:xfrm>
          <a:prstGeom prst="roundRect">
            <a:avLst>
              <a:gd name="adj" fmla="val 31250"/>
            </a:avLst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54480" y="1911096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[200 Sensors]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10312" y="2093976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0–300 mm/hr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210312" y="2258568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&lt;20 · Moderate 20–50 · Extreme &gt;100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46304" y="2743200"/>
            <a:ext cx="1901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46304" y="2743200"/>
            <a:ext cx="36576" cy="82296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0312" y="2779776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Density Data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10312" y="2980944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1–50,000 ppl/sq km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210312" y="3145536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/ Dense / Highly Dense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146304" y="3630168"/>
            <a:ext cx="1901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46304" y="3630168"/>
            <a:ext cx="36576" cy="82296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0312" y="3666744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Footprints, Roads &amp; Infrastructure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10312" y="3867912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Roads, bridges, buildings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210312" y="4032504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Exposure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146304" y="4517136"/>
            <a:ext cx="1901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46304" y="4517136"/>
            <a:ext cx="36576" cy="82296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0312" y="4553712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Topography (UAV, DEM)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10312" y="4754880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1–30m spatial res.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210312" y="4919472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/ Moderate / Steep Terrain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146304" y="6492240"/>
            <a:ext cx="1901952" cy="164592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6304" y="6492240"/>
            <a:ext cx="19019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212848" y="969264"/>
            <a:ext cx="3026664" cy="13761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212848" y="969264"/>
            <a:ext cx="36576" cy="1376172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295144" y="1005840"/>
            <a:ext cx="28986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Rainfall-Runoff &amp; Watershed Hydrology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295144" y="1170432"/>
            <a:ext cx="2898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HEC-HMS (SCS-CN) / WFLOW_sbm · van Verseveld et al., 2024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2267712" y="1316736"/>
            <a:ext cx="2916936" cy="310896"/>
          </a:xfrm>
          <a:prstGeom prst="rect">
            <a:avLst/>
          </a:prstGeom>
          <a:solidFill>
            <a:srgbClr val="F0F6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04288" y="1335024"/>
            <a:ext cx="2377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505456" y="1335024"/>
            <a:ext cx="25694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KGE ≥ 0.70 · Run ≤3 min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2304288" y="1481328"/>
            <a:ext cx="282549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KGE = 1−√((r−1)²+(α−1)²+(β−1)²)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2267712" y="1664208"/>
            <a:ext cx="2916936" cy="205740"/>
          </a:xfrm>
          <a:prstGeom prst="rect">
            <a:avLst/>
          </a:prstGeom>
          <a:solidFill>
            <a:srgbClr val="EAF3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04288" y="1735074"/>
            <a:ext cx="73152" cy="73152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14016" y="1673352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</a:t>
            </a:r>
            <a:endParaRPr lang="en-US" sz="620" dirty="0"/>
          </a:p>
        </p:txBody>
      </p:sp>
      <p:sp>
        <p:nvSpPr>
          <p:cNvPr id="69" name="Text 67"/>
          <p:cNvSpPr/>
          <p:nvPr/>
        </p:nvSpPr>
        <p:spPr>
          <a:xfrm>
            <a:off x="2807208" y="1673352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&lt;50 mm · API &lt;90th pct</a:t>
            </a:r>
            <a:endParaRPr lang="en-US" sz="620" dirty="0"/>
          </a:p>
        </p:txBody>
      </p:sp>
      <p:sp>
        <p:nvSpPr>
          <p:cNvPr id="70" name="Shape 68"/>
          <p:cNvSpPr/>
          <p:nvPr/>
        </p:nvSpPr>
        <p:spPr>
          <a:xfrm>
            <a:off x="2267712" y="1879092"/>
            <a:ext cx="2916936" cy="205740"/>
          </a:xfrm>
          <a:prstGeom prst="rect">
            <a:avLst/>
          </a:prstGeom>
          <a:solidFill>
            <a:srgbClr val="FEF3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04288" y="1949958"/>
            <a:ext cx="73152" cy="73152"/>
          </a:xfrm>
          <a:prstGeom prst="ellipse">
            <a:avLst/>
          </a:prstGeom>
          <a:solidFill>
            <a:srgbClr val="C07800"/>
          </a:solidFill>
          <a:ln w="12700">
            <a:solidFill>
              <a:srgbClr val="C078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414016" y="1888236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C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</a:t>
            </a:r>
            <a:endParaRPr lang="en-US" sz="620" dirty="0"/>
          </a:p>
        </p:txBody>
      </p:sp>
      <p:sp>
        <p:nvSpPr>
          <p:cNvPr id="73" name="Text 71"/>
          <p:cNvSpPr/>
          <p:nvPr/>
        </p:nvSpPr>
        <p:spPr>
          <a:xfrm>
            <a:off x="2807208" y="1888236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50–100 mm · C &gt;0.50</a:t>
            </a:r>
            <a:endParaRPr lang="en-US" sz="620" dirty="0"/>
          </a:p>
        </p:txBody>
      </p:sp>
      <p:sp>
        <p:nvSpPr>
          <p:cNvPr id="74" name="Shape 72"/>
          <p:cNvSpPr/>
          <p:nvPr/>
        </p:nvSpPr>
        <p:spPr>
          <a:xfrm>
            <a:off x="2267712" y="2093976"/>
            <a:ext cx="2916936" cy="205740"/>
          </a:xfrm>
          <a:prstGeom prst="rect">
            <a:avLst/>
          </a:prstGeom>
          <a:solidFill>
            <a:srgbClr val="FCEB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304288" y="2164842"/>
            <a:ext cx="73152" cy="73152"/>
          </a:xfrm>
          <a:prstGeom prst="ellipse">
            <a:avLst/>
          </a:prstGeom>
          <a:solidFill>
            <a:srgbClr val="8B1F1F"/>
          </a:solidFill>
          <a:ln w="12700">
            <a:solidFill>
              <a:srgbClr val="8B1F1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414016" y="2103120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Alarm:</a:t>
            </a:r>
            <a:endParaRPr lang="en-US" sz="620" dirty="0"/>
          </a:p>
        </p:txBody>
      </p:sp>
      <p:sp>
        <p:nvSpPr>
          <p:cNvPr id="77" name="Text 75"/>
          <p:cNvSpPr/>
          <p:nvPr/>
        </p:nvSpPr>
        <p:spPr>
          <a:xfrm>
            <a:off x="2807208" y="2103120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&gt;100 mm/day · C &gt;0.70</a:t>
            </a:r>
            <a:endParaRPr lang="en-US" sz="620" dirty="0"/>
          </a:p>
        </p:txBody>
      </p:sp>
      <p:sp>
        <p:nvSpPr>
          <p:cNvPr id="78" name="Shape 76"/>
          <p:cNvSpPr/>
          <p:nvPr/>
        </p:nvSpPr>
        <p:spPr>
          <a:xfrm>
            <a:off x="2212848" y="2400300"/>
            <a:ext cx="3026664" cy="13761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2212848" y="2400300"/>
            <a:ext cx="36576" cy="1376172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95144" y="2436876"/>
            <a:ext cx="28986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Hydraulics &amp; Inundation Modeling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2295144" y="2601468"/>
            <a:ext cx="2898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HEC-RAS 2D / LISFLOOD-FP · Bates et al., 2010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2267712" y="2747772"/>
            <a:ext cx="2916936" cy="310896"/>
          </a:xfrm>
          <a:prstGeom prst="rect">
            <a:avLst/>
          </a:prstGeom>
          <a:solidFill>
            <a:srgbClr val="F0F6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304288" y="2766060"/>
            <a:ext cx="2377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505456" y="2766060"/>
            <a:ext cx="25694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≥ 0.60 vs Sentinel-1 SAR</a:t>
            </a:r>
            <a:endParaRPr lang="en-US" sz="680" dirty="0"/>
          </a:p>
        </p:txBody>
      </p:sp>
      <p:sp>
        <p:nvSpPr>
          <p:cNvPr id="85" name="Text 83"/>
          <p:cNvSpPr/>
          <p:nvPr/>
        </p:nvSpPr>
        <p:spPr>
          <a:xfrm>
            <a:off x="2304288" y="2912364"/>
            <a:ext cx="282549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Shallow Water Eq. (Local Inertial form.)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2267712" y="3095244"/>
            <a:ext cx="2916936" cy="205740"/>
          </a:xfrm>
          <a:prstGeom prst="rect">
            <a:avLst/>
          </a:prstGeom>
          <a:solidFill>
            <a:srgbClr val="EAF3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304288" y="3166110"/>
            <a:ext cx="73152" cy="73152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414016" y="3104388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</a:t>
            </a:r>
            <a:endParaRPr lang="en-US" sz="620" dirty="0"/>
          </a:p>
        </p:txBody>
      </p:sp>
      <p:sp>
        <p:nvSpPr>
          <p:cNvPr id="89" name="Text 87"/>
          <p:cNvSpPr/>
          <p:nvPr/>
        </p:nvSpPr>
        <p:spPr>
          <a:xfrm>
            <a:off x="2807208" y="3104388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&lt; h_bank · Freeboard &gt;1.0 m</a:t>
            </a:r>
            <a:endParaRPr lang="en-US" sz="620" dirty="0"/>
          </a:p>
        </p:txBody>
      </p:sp>
      <p:sp>
        <p:nvSpPr>
          <p:cNvPr id="90" name="Shape 88"/>
          <p:cNvSpPr/>
          <p:nvPr/>
        </p:nvSpPr>
        <p:spPr>
          <a:xfrm>
            <a:off x="2267712" y="3310128"/>
            <a:ext cx="2916936" cy="205740"/>
          </a:xfrm>
          <a:prstGeom prst="rect">
            <a:avLst/>
          </a:prstGeom>
          <a:solidFill>
            <a:srgbClr val="FEF3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304288" y="3380994"/>
            <a:ext cx="73152" cy="73152"/>
          </a:xfrm>
          <a:prstGeom prst="ellipse">
            <a:avLst/>
          </a:prstGeom>
          <a:solidFill>
            <a:srgbClr val="C07800"/>
          </a:solidFill>
          <a:ln w="12700">
            <a:solidFill>
              <a:srgbClr val="C0780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414016" y="3319272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C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</a:t>
            </a:r>
            <a:endParaRPr lang="en-US" sz="620" dirty="0"/>
          </a:p>
        </p:txBody>
      </p:sp>
      <p:sp>
        <p:nvSpPr>
          <p:cNvPr id="93" name="Text 91"/>
          <p:cNvSpPr/>
          <p:nvPr/>
        </p:nvSpPr>
        <p:spPr>
          <a:xfrm>
            <a:off x="2807208" y="3319272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h_bank−0.5m ≤ h &lt; h_bank (Siaga 2)</a:t>
            </a:r>
            <a:endParaRPr lang="en-US" sz="620" dirty="0"/>
          </a:p>
        </p:txBody>
      </p:sp>
      <p:sp>
        <p:nvSpPr>
          <p:cNvPr id="94" name="Shape 92"/>
          <p:cNvSpPr/>
          <p:nvPr/>
        </p:nvSpPr>
        <p:spPr>
          <a:xfrm>
            <a:off x="2267712" y="3525012"/>
            <a:ext cx="2916936" cy="205740"/>
          </a:xfrm>
          <a:prstGeom prst="rect">
            <a:avLst/>
          </a:prstGeom>
          <a:solidFill>
            <a:srgbClr val="FCEB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304288" y="3595878"/>
            <a:ext cx="73152" cy="73152"/>
          </a:xfrm>
          <a:prstGeom prst="ellipse">
            <a:avLst/>
          </a:prstGeom>
          <a:solidFill>
            <a:srgbClr val="8B1F1F"/>
          </a:solidFill>
          <a:ln w="12700">
            <a:solidFill>
              <a:srgbClr val="8B1F1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414016" y="3534156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Alarm:</a:t>
            </a:r>
            <a:endParaRPr lang="en-US" sz="620" dirty="0"/>
          </a:p>
        </p:txBody>
      </p:sp>
      <p:sp>
        <p:nvSpPr>
          <p:cNvPr id="97" name="Text 95"/>
          <p:cNvSpPr/>
          <p:nvPr/>
        </p:nvSpPr>
        <p:spPr>
          <a:xfrm>
            <a:off x="2807208" y="3534156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≥ h_bank OR coastal backwater reversal</a:t>
            </a:r>
            <a:endParaRPr lang="en-US" sz="620" dirty="0"/>
          </a:p>
        </p:txBody>
      </p:sp>
      <p:sp>
        <p:nvSpPr>
          <p:cNvPr id="98" name="Shape 96"/>
          <p:cNvSpPr/>
          <p:nvPr/>
        </p:nvSpPr>
        <p:spPr>
          <a:xfrm>
            <a:off x="2212848" y="3831336"/>
            <a:ext cx="3026664" cy="13761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2212848" y="3831336"/>
            <a:ext cx="36576" cy="1376172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295144" y="3867912"/>
            <a:ext cx="28986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Discharge &amp; Flow Velocity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2295144" y="4032504"/>
            <a:ext cx="2898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Manning's Eq. / Kinematic Wave Routing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267712" y="4178808"/>
            <a:ext cx="2916936" cy="310896"/>
          </a:xfrm>
          <a:prstGeom prst="rect">
            <a:avLst/>
          </a:prstGeom>
          <a:solidFill>
            <a:srgbClr val="F0F6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304288" y="4197096"/>
            <a:ext cx="2377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2505456" y="4197096"/>
            <a:ext cx="25694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Lead-time ≥80% alerts ≥60 min pre-peak</a:t>
            </a:r>
            <a:endParaRPr lang="en-US" sz="680" dirty="0"/>
          </a:p>
        </p:txBody>
      </p:sp>
      <p:sp>
        <p:nvSpPr>
          <p:cNvPr id="105" name="Text 103"/>
          <p:cNvSpPr/>
          <p:nvPr/>
        </p:nvSpPr>
        <p:spPr>
          <a:xfrm>
            <a:off x="2304288" y="4343400"/>
            <a:ext cx="282549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A·R^(2/3)·S^(1/2)/n  |  dh/dt ≥0.10 m/15min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2267712" y="4526280"/>
            <a:ext cx="2916936" cy="205740"/>
          </a:xfrm>
          <a:prstGeom prst="rect">
            <a:avLst/>
          </a:prstGeom>
          <a:solidFill>
            <a:srgbClr val="EAF3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304288" y="4597146"/>
            <a:ext cx="73152" cy="73152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414016" y="4535424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</a:t>
            </a:r>
            <a:endParaRPr lang="en-US" sz="620" dirty="0"/>
          </a:p>
        </p:txBody>
      </p:sp>
      <p:sp>
        <p:nvSpPr>
          <p:cNvPr id="109" name="Text 107"/>
          <p:cNvSpPr/>
          <p:nvPr/>
        </p:nvSpPr>
        <p:spPr>
          <a:xfrm>
            <a:off x="2807208" y="4535424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&lt;1.5 m/s · Q &lt;2-yr return</a:t>
            </a:r>
            <a:endParaRPr lang="en-US" sz="620" dirty="0"/>
          </a:p>
        </p:txBody>
      </p:sp>
      <p:sp>
        <p:nvSpPr>
          <p:cNvPr id="110" name="Shape 108"/>
          <p:cNvSpPr/>
          <p:nvPr/>
        </p:nvSpPr>
        <p:spPr>
          <a:xfrm>
            <a:off x="2267712" y="4741164"/>
            <a:ext cx="2916936" cy="205740"/>
          </a:xfrm>
          <a:prstGeom prst="rect">
            <a:avLst/>
          </a:prstGeom>
          <a:solidFill>
            <a:srgbClr val="FEF3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304288" y="4812030"/>
            <a:ext cx="73152" cy="73152"/>
          </a:xfrm>
          <a:prstGeom prst="ellipse">
            <a:avLst/>
          </a:prstGeom>
          <a:solidFill>
            <a:srgbClr val="C07800"/>
          </a:solidFill>
          <a:ln w="12700">
            <a:solidFill>
              <a:srgbClr val="C0780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414016" y="4750308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C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</a:t>
            </a:r>
            <a:endParaRPr lang="en-US" sz="620" dirty="0"/>
          </a:p>
        </p:txBody>
      </p:sp>
      <p:sp>
        <p:nvSpPr>
          <p:cNvPr id="113" name="Text 111"/>
          <p:cNvSpPr/>
          <p:nvPr/>
        </p:nvSpPr>
        <p:spPr>
          <a:xfrm>
            <a:off x="2807208" y="4750308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1.5≤V&lt;2.5 m/s · Q at 5-yr return</a:t>
            </a:r>
            <a:endParaRPr lang="en-US" sz="620" dirty="0"/>
          </a:p>
        </p:txBody>
      </p:sp>
      <p:sp>
        <p:nvSpPr>
          <p:cNvPr id="114" name="Shape 112"/>
          <p:cNvSpPr/>
          <p:nvPr/>
        </p:nvSpPr>
        <p:spPr>
          <a:xfrm>
            <a:off x="2267712" y="4956048"/>
            <a:ext cx="2916936" cy="205740"/>
          </a:xfrm>
          <a:prstGeom prst="rect">
            <a:avLst/>
          </a:prstGeom>
          <a:solidFill>
            <a:srgbClr val="FCEB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304288" y="5026914"/>
            <a:ext cx="73152" cy="73152"/>
          </a:xfrm>
          <a:prstGeom prst="ellipse">
            <a:avLst/>
          </a:prstGeom>
          <a:solidFill>
            <a:srgbClr val="8B1F1F"/>
          </a:solidFill>
          <a:ln w="12700">
            <a:solidFill>
              <a:srgbClr val="8B1F1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414016" y="4965192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Alarm:</a:t>
            </a:r>
            <a:endParaRPr lang="en-US" sz="620" dirty="0"/>
          </a:p>
        </p:txBody>
      </p:sp>
      <p:sp>
        <p:nvSpPr>
          <p:cNvPr id="117" name="Text 115"/>
          <p:cNvSpPr/>
          <p:nvPr/>
        </p:nvSpPr>
        <p:spPr>
          <a:xfrm>
            <a:off x="2807208" y="4965192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≥2.5 m/s OR P(Q&gt;Q25yr)&gt;0.8 → Siaga 1</a:t>
            </a:r>
            <a:endParaRPr lang="en-US" sz="620" dirty="0"/>
          </a:p>
        </p:txBody>
      </p:sp>
      <p:sp>
        <p:nvSpPr>
          <p:cNvPr id="118" name="Shape 116"/>
          <p:cNvSpPr/>
          <p:nvPr/>
        </p:nvSpPr>
        <p:spPr>
          <a:xfrm>
            <a:off x="2212848" y="5262372"/>
            <a:ext cx="3026664" cy="13761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2212848" y="5262372"/>
            <a:ext cx="36576" cy="1376172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295144" y="5298948"/>
            <a:ext cx="28986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Depth Simulation | Impact Footprint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2295144" y="5463540"/>
            <a:ext cx="2898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Exposure Intersect · WorldPop / OSM / FABDEM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2267712" y="5609844"/>
            <a:ext cx="2916936" cy="310896"/>
          </a:xfrm>
          <a:prstGeom prst="rect">
            <a:avLst/>
          </a:prstGeom>
          <a:solidFill>
            <a:srgbClr val="F0F6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304288" y="5628132"/>
            <a:ext cx="2377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2505456" y="5628132"/>
            <a:ext cx="25694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≥0.85 · FAR ≤30% · SLA ≤15 min</a:t>
            </a:r>
            <a:endParaRPr lang="en-US" sz="680" dirty="0"/>
          </a:p>
        </p:txBody>
      </p:sp>
      <p:sp>
        <p:nvSpPr>
          <p:cNvPr id="125" name="Text 123"/>
          <p:cNvSpPr/>
          <p:nvPr/>
        </p:nvSpPr>
        <p:spPr>
          <a:xfrm>
            <a:off x="2304288" y="5774436"/>
            <a:ext cx="282549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Depth(x,y) = WSE(x,y) − DEM(x,y)</a:t>
            </a:r>
            <a:endParaRPr lang="en-US" sz="650" dirty="0"/>
          </a:p>
        </p:txBody>
      </p:sp>
      <p:sp>
        <p:nvSpPr>
          <p:cNvPr id="126" name="Shape 124"/>
          <p:cNvSpPr/>
          <p:nvPr/>
        </p:nvSpPr>
        <p:spPr>
          <a:xfrm>
            <a:off x="2267712" y="5957316"/>
            <a:ext cx="2916936" cy="205740"/>
          </a:xfrm>
          <a:prstGeom prst="rect">
            <a:avLst/>
          </a:prstGeom>
          <a:solidFill>
            <a:srgbClr val="EAF3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304288" y="6028182"/>
            <a:ext cx="73152" cy="73152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414016" y="5966460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</a:t>
            </a:r>
            <a:endParaRPr lang="en-US" sz="620" dirty="0"/>
          </a:p>
        </p:txBody>
      </p:sp>
      <p:sp>
        <p:nvSpPr>
          <p:cNvPr id="129" name="Text 127"/>
          <p:cNvSpPr/>
          <p:nvPr/>
        </p:nvSpPr>
        <p:spPr>
          <a:xfrm>
            <a:off x="2807208" y="5966460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depth = 0.0 m · Zero critical assets</a:t>
            </a:r>
            <a:endParaRPr lang="en-US" sz="620" dirty="0"/>
          </a:p>
        </p:txBody>
      </p:sp>
      <p:sp>
        <p:nvSpPr>
          <p:cNvPr id="130" name="Shape 128"/>
          <p:cNvSpPr/>
          <p:nvPr/>
        </p:nvSpPr>
        <p:spPr>
          <a:xfrm>
            <a:off x="2267712" y="6172200"/>
            <a:ext cx="2916936" cy="205740"/>
          </a:xfrm>
          <a:prstGeom prst="rect">
            <a:avLst/>
          </a:prstGeom>
          <a:solidFill>
            <a:srgbClr val="FEF3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304288" y="6243066"/>
            <a:ext cx="73152" cy="73152"/>
          </a:xfrm>
          <a:prstGeom prst="ellipse">
            <a:avLst/>
          </a:prstGeom>
          <a:solidFill>
            <a:srgbClr val="C07800"/>
          </a:solidFill>
          <a:ln w="12700">
            <a:solidFill>
              <a:srgbClr val="C0780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414016" y="6181344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C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</a:t>
            </a:r>
            <a:endParaRPr lang="en-US" sz="620" dirty="0"/>
          </a:p>
        </p:txBody>
      </p:sp>
      <p:sp>
        <p:nvSpPr>
          <p:cNvPr id="133" name="Text 131"/>
          <p:cNvSpPr/>
          <p:nvPr/>
        </p:nvSpPr>
        <p:spPr>
          <a:xfrm>
            <a:off x="2807208" y="6181344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0.1–0.3 m (genangan) · Mobility disrupted</a:t>
            </a:r>
            <a:endParaRPr lang="en-US" sz="620" dirty="0"/>
          </a:p>
        </p:txBody>
      </p:sp>
      <p:sp>
        <p:nvSpPr>
          <p:cNvPr id="134" name="Shape 132"/>
          <p:cNvSpPr/>
          <p:nvPr/>
        </p:nvSpPr>
        <p:spPr>
          <a:xfrm>
            <a:off x="2267712" y="6387084"/>
            <a:ext cx="2916936" cy="205740"/>
          </a:xfrm>
          <a:prstGeom prst="rect">
            <a:avLst/>
          </a:prstGeom>
          <a:solidFill>
            <a:srgbClr val="FCEB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304288" y="6457950"/>
            <a:ext cx="73152" cy="73152"/>
          </a:xfrm>
          <a:prstGeom prst="ellipse">
            <a:avLst/>
          </a:prstGeom>
          <a:solidFill>
            <a:srgbClr val="8B1F1F"/>
          </a:solidFill>
          <a:ln w="12700">
            <a:solidFill>
              <a:srgbClr val="8B1F1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414016" y="6396228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Alarm:</a:t>
            </a:r>
            <a:endParaRPr lang="en-US" sz="620" dirty="0"/>
          </a:p>
        </p:txBody>
      </p:sp>
      <p:sp>
        <p:nvSpPr>
          <p:cNvPr id="137" name="Text 135"/>
          <p:cNvSpPr/>
          <p:nvPr/>
        </p:nvSpPr>
        <p:spPr>
          <a:xfrm>
            <a:off x="2807208" y="6396228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&gt;0.3 m residential OR &gt;0.1 m at vital infra</a:t>
            </a:r>
            <a:endParaRPr lang="en-US" sz="620" dirty="0"/>
          </a:p>
        </p:txBody>
      </p:sp>
      <p:sp>
        <p:nvSpPr>
          <p:cNvPr id="138" name="Shape 136"/>
          <p:cNvSpPr/>
          <p:nvPr/>
        </p:nvSpPr>
        <p:spPr>
          <a:xfrm>
            <a:off x="5404104" y="969264"/>
            <a:ext cx="3803904" cy="16459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431536" y="969264"/>
            <a:ext cx="3767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OUTPUT  ·  Forecast Discharge Hydrograph</a:t>
            </a:r>
            <a:endParaRPr lang="en-US" sz="700" dirty="0"/>
          </a:p>
        </p:txBody>
      </p:sp>
      <p:pic>
        <p:nvPicPr>
          <p:cNvPr id="1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133856"/>
            <a:ext cx="3803904" cy="1211580"/>
          </a:xfrm>
          <a:prstGeom prst="rect">
            <a:avLst/>
          </a:prstGeom>
        </p:spPr>
      </p:pic>
      <p:sp>
        <p:nvSpPr>
          <p:cNvPr id="141" name="Shape 138"/>
          <p:cNvSpPr/>
          <p:nvPr/>
        </p:nvSpPr>
        <p:spPr>
          <a:xfrm>
            <a:off x="5404104" y="969264"/>
            <a:ext cx="3803904" cy="1376172"/>
          </a:xfrm>
          <a:prstGeom prst="rect">
            <a:avLst/>
          </a:prstGeom>
          <a:ln w="6350">
            <a:solidFill>
              <a:srgbClr val="D0DCE8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404104" y="2400300"/>
            <a:ext cx="3803904" cy="16459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5431536" y="2400300"/>
            <a:ext cx="3767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OUTPUT  ·  Flood Extent &amp; WSE Raster</a:t>
            </a:r>
            <a:endParaRPr lang="en-US" sz="700" dirty="0"/>
          </a:p>
        </p:txBody>
      </p:sp>
      <p:pic>
        <p:nvPicPr>
          <p:cNvPr id="1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4" y="2564892"/>
            <a:ext cx="3803904" cy="1211580"/>
          </a:xfrm>
          <a:prstGeom prst="rect">
            <a:avLst/>
          </a:prstGeom>
        </p:spPr>
      </p:pic>
      <p:sp>
        <p:nvSpPr>
          <p:cNvPr id="145" name="Shape 141"/>
          <p:cNvSpPr/>
          <p:nvPr/>
        </p:nvSpPr>
        <p:spPr>
          <a:xfrm>
            <a:off x="5404104" y="2400300"/>
            <a:ext cx="3803904" cy="1376172"/>
          </a:xfrm>
          <a:prstGeom prst="rect">
            <a:avLst/>
          </a:prstGeom>
          <a:ln w="6350">
            <a:solidFill>
              <a:srgbClr val="D0DCE8"/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5404104" y="3831336"/>
            <a:ext cx="3803904" cy="16459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7" name="Text 143"/>
          <p:cNvSpPr/>
          <p:nvPr/>
        </p:nvSpPr>
        <p:spPr>
          <a:xfrm>
            <a:off x="5431536" y="3831336"/>
            <a:ext cx="3767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OUTPUT  ·  Velocity Grid + Peak Q Values</a:t>
            </a:r>
            <a:endParaRPr lang="en-US" sz="700" dirty="0"/>
          </a:p>
        </p:txBody>
      </p:sp>
      <p:pic>
        <p:nvPicPr>
          <p:cNvPr id="1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3995928"/>
            <a:ext cx="3803904" cy="1211580"/>
          </a:xfrm>
          <a:prstGeom prst="rect">
            <a:avLst/>
          </a:prstGeom>
        </p:spPr>
      </p:pic>
      <p:sp>
        <p:nvSpPr>
          <p:cNvPr id="149" name="Shape 144"/>
          <p:cNvSpPr/>
          <p:nvPr/>
        </p:nvSpPr>
        <p:spPr>
          <a:xfrm>
            <a:off x="5404104" y="3831336"/>
            <a:ext cx="3803904" cy="1376172"/>
          </a:xfrm>
          <a:prstGeom prst="rect">
            <a:avLst/>
          </a:prstGeom>
          <a:ln w="6350">
            <a:solidFill>
              <a:srgbClr val="D0DCE8"/>
            </a:solidFill>
            <a:prstDash val="solid"/>
          </a:ln>
        </p:spPr>
      </p:sp>
      <p:sp>
        <p:nvSpPr>
          <p:cNvPr id="150" name="Shape 145"/>
          <p:cNvSpPr/>
          <p:nvPr/>
        </p:nvSpPr>
        <p:spPr>
          <a:xfrm>
            <a:off x="5404104" y="5262372"/>
            <a:ext cx="3803904" cy="16459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1" name="Text 146"/>
          <p:cNvSpPr/>
          <p:nvPr/>
        </p:nvSpPr>
        <p:spPr>
          <a:xfrm>
            <a:off x="5431536" y="5262372"/>
            <a:ext cx="3767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OUTPUT  ·  Population &amp; Exposure Footprint</a:t>
            </a:r>
            <a:endParaRPr lang="en-US" sz="700" dirty="0"/>
          </a:p>
        </p:txBody>
      </p:sp>
      <p:pic>
        <p:nvPicPr>
          <p:cNvPr id="1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5426964"/>
            <a:ext cx="3803904" cy="1211580"/>
          </a:xfrm>
          <a:prstGeom prst="rect">
            <a:avLst/>
          </a:prstGeom>
        </p:spPr>
      </p:pic>
      <p:sp>
        <p:nvSpPr>
          <p:cNvPr id="153" name="Shape 147"/>
          <p:cNvSpPr/>
          <p:nvPr/>
        </p:nvSpPr>
        <p:spPr>
          <a:xfrm>
            <a:off x="5404104" y="5262372"/>
            <a:ext cx="3803904" cy="1376172"/>
          </a:xfrm>
          <a:prstGeom prst="rect">
            <a:avLst/>
          </a:prstGeom>
          <a:ln w="6350">
            <a:solidFill>
              <a:srgbClr val="D0DCE8"/>
            </a:solidFill>
            <a:prstDash val="solid"/>
          </a:ln>
        </p:spPr>
      </p:sp>
      <p:sp>
        <p:nvSpPr>
          <p:cNvPr id="154" name="Shape 148"/>
          <p:cNvSpPr/>
          <p:nvPr/>
        </p:nvSpPr>
        <p:spPr>
          <a:xfrm>
            <a:off x="9363456" y="969264"/>
            <a:ext cx="2724912" cy="960120"/>
          </a:xfrm>
          <a:prstGeom prst="rect">
            <a:avLst/>
          </a:prstGeom>
          <a:solidFill>
            <a:srgbClr val="FDF6E9"/>
          </a:solidFill>
          <a:ln w="10160">
            <a:solidFill>
              <a:srgbClr val="E9A84C"/>
            </a:solidFill>
            <a:prstDash val="solid"/>
          </a:ln>
        </p:spPr>
      </p:sp>
      <p:sp>
        <p:nvSpPr>
          <p:cNvPr id="155" name="Text 149"/>
          <p:cNvSpPr/>
          <p:nvPr/>
        </p:nvSpPr>
        <p:spPr>
          <a:xfrm>
            <a:off x="9400032" y="1005840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B0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AI / ML ENHANCEMENT</a:t>
            </a:r>
            <a:endParaRPr lang="en-US" sz="700" dirty="0"/>
          </a:p>
        </p:txBody>
      </p:sp>
      <p:sp>
        <p:nvSpPr>
          <p:cNvPr id="156" name="Shape 150"/>
          <p:cNvSpPr/>
          <p:nvPr/>
        </p:nvSpPr>
        <p:spPr>
          <a:xfrm>
            <a:off x="9400032" y="1207008"/>
            <a:ext cx="64008" cy="64008"/>
          </a:xfrm>
          <a:prstGeom prst="ellipse">
            <a:avLst/>
          </a:prstGeom>
          <a:solidFill>
            <a:srgbClr val="B07316"/>
          </a:solidFill>
          <a:ln w="12700">
            <a:solidFill>
              <a:srgbClr val="B07316"/>
            </a:solidFill>
            <a:prstDash val="solid"/>
          </a:ln>
        </p:spPr>
      </p:sp>
      <p:sp>
        <p:nvSpPr>
          <p:cNvPr id="157" name="Text 151"/>
          <p:cNvSpPr/>
          <p:nvPr/>
        </p:nvSpPr>
        <p:spPr>
          <a:xfrm>
            <a:off x="9509760" y="1170432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Neural Networks (flood forecasting)</a:t>
            </a:r>
            <a:endParaRPr lang="en-US" sz="700" dirty="0"/>
          </a:p>
        </p:txBody>
      </p:sp>
      <p:sp>
        <p:nvSpPr>
          <p:cNvPr id="158" name="Shape 152"/>
          <p:cNvSpPr/>
          <p:nvPr/>
        </p:nvSpPr>
        <p:spPr>
          <a:xfrm>
            <a:off x="9400032" y="1380744"/>
            <a:ext cx="64008" cy="64008"/>
          </a:xfrm>
          <a:prstGeom prst="ellipse">
            <a:avLst/>
          </a:prstGeom>
          <a:solidFill>
            <a:srgbClr val="B07316"/>
          </a:solidFill>
          <a:ln w="12700">
            <a:solidFill>
              <a:srgbClr val="B07316"/>
            </a:solidFill>
            <a:prstDash val="solid"/>
          </a:ln>
        </p:spPr>
      </p:sp>
      <p:sp>
        <p:nvSpPr>
          <p:cNvPr id="159" name="Text 153"/>
          <p:cNvSpPr/>
          <p:nvPr/>
        </p:nvSpPr>
        <p:spPr>
          <a:xfrm>
            <a:off x="9509760" y="1344168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susceptibility mapping</a:t>
            </a:r>
            <a:endParaRPr lang="en-US" sz="700" dirty="0"/>
          </a:p>
        </p:txBody>
      </p:sp>
      <p:sp>
        <p:nvSpPr>
          <p:cNvPr id="160" name="Shape 154"/>
          <p:cNvSpPr/>
          <p:nvPr/>
        </p:nvSpPr>
        <p:spPr>
          <a:xfrm>
            <a:off x="9400032" y="1554480"/>
            <a:ext cx="64008" cy="64008"/>
          </a:xfrm>
          <a:prstGeom prst="ellipse">
            <a:avLst/>
          </a:prstGeom>
          <a:solidFill>
            <a:srgbClr val="B07316"/>
          </a:solidFill>
          <a:ln w="12700">
            <a:solidFill>
              <a:srgbClr val="B07316"/>
            </a:solidFill>
            <a:prstDash val="solid"/>
          </a:ln>
        </p:spPr>
      </p:sp>
      <p:sp>
        <p:nvSpPr>
          <p:cNvPr id="161" name="Text 155"/>
          <p:cNvSpPr/>
          <p:nvPr/>
        </p:nvSpPr>
        <p:spPr>
          <a:xfrm>
            <a:off x="9509760" y="1517904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MCDM-AHP risk assessment scoring</a:t>
            </a:r>
            <a:endParaRPr lang="en-US" sz="700" dirty="0"/>
          </a:p>
        </p:txBody>
      </p:sp>
      <p:sp>
        <p:nvSpPr>
          <p:cNvPr id="162" name="Shape 156"/>
          <p:cNvSpPr/>
          <p:nvPr/>
        </p:nvSpPr>
        <p:spPr>
          <a:xfrm>
            <a:off x="9400032" y="1728216"/>
            <a:ext cx="64008" cy="64008"/>
          </a:xfrm>
          <a:prstGeom prst="ellipse">
            <a:avLst/>
          </a:prstGeom>
          <a:solidFill>
            <a:srgbClr val="B07316"/>
          </a:solidFill>
          <a:ln w="12700">
            <a:solidFill>
              <a:srgbClr val="B07316"/>
            </a:solidFill>
            <a:prstDash val="solid"/>
          </a:ln>
        </p:spPr>
      </p:sp>
      <p:sp>
        <p:nvSpPr>
          <p:cNvPr id="163" name="Text 157"/>
          <p:cNvSpPr/>
          <p:nvPr/>
        </p:nvSpPr>
        <p:spPr>
          <a:xfrm>
            <a:off x="9509760" y="1691640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flood predictive model (real-time)</a:t>
            </a:r>
            <a:endParaRPr lang="en-US" sz="700" dirty="0"/>
          </a:p>
        </p:txBody>
      </p:sp>
      <p:sp>
        <p:nvSpPr>
          <p:cNvPr id="164" name="Shape 158"/>
          <p:cNvSpPr/>
          <p:nvPr/>
        </p:nvSpPr>
        <p:spPr>
          <a:xfrm>
            <a:off x="9363456" y="1965960"/>
            <a:ext cx="2724912" cy="384048"/>
          </a:xfrm>
          <a:prstGeom prst="rect">
            <a:avLst/>
          </a:prstGeom>
          <a:solidFill>
            <a:srgbClr val="FDF3E3"/>
          </a:solidFill>
          <a:ln w="10160">
            <a:solidFill>
              <a:srgbClr val="E9A84C"/>
            </a:solidFill>
            <a:prstDash val="solid"/>
          </a:ln>
        </p:spPr>
      </p:sp>
      <p:sp>
        <p:nvSpPr>
          <p:cNvPr id="165" name="Text 159"/>
          <p:cNvSpPr/>
          <p:nvPr/>
        </p:nvSpPr>
        <p:spPr>
          <a:xfrm>
            <a:off x="9400032" y="2002536"/>
            <a:ext cx="26517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80" kern="0" dirty="0">
                <a:solidFill>
                  <a:srgbClr val="B0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650" dirty="0"/>
          </a:p>
        </p:txBody>
      </p:sp>
      <p:sp>
        <p:nvSpPr>
          <p:cNvPr id="166" name="Text 160"/>
          <p:cNvSpPr/>
          <p:nvPr/>
        </p:nvSpPr>
        <p:spPr>
          <a:xfrm>
            <a:off x="9400032" y="2130552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integration in Phase 2 — augmenting deterministic models with predictive intelligence. Starting ~3 months post sensor data availability.</a:t>
            </a:r>
            <a:endParaRPr lang="en-US" sz="650" dirty="0"/>
          </a:p>
        </p:txBody>
      </p:sp>
      <p:sp>
        <p:nvSpPr>
          <p:cNvPr id="167" name="Shape 161"/>
          <p:cNvSpPr/>
          <p:nvPr/>
        </p:nvSpPr>
        <p:spPr>
          <a:xfrm>
            <a:off x="9363456" y="2404872"/>
            <a:ext cx="2724912" cy="797357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8" name="Shape 162"/>
          <p:cNvSpPr/>
          <p:nvPr/>
        </p:nvSpPr>
        <p:spPr>
          <a:xfrm>
            <a:off x="9363456" y="2404872"/>
            <a:ext cx="36576" cy="797357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9" name="Text 163"/>
          <p:cNvSpPr/>
          <p:nvPr/>
        </p:nvSpPr>
        <p:spPr>
          <a:xfrm>
            <a:off x="9445752" y="2432304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Extent &amp; Inundation Map</a:t>
            </a:r>
            <a:endParaRPr lang="en-US" sz="780" dirty="0"/>
          </a:p>
        </p:txBody>
      </p:sp>
      <p:sp>
        <p:nvSpPr>
          <p:cNvPr id="170" name="Text 164"/>
          <p:cNvSpPr/>
          <p:nvPr/>
        </p:nvSpPr>
        <p:spPr>
          <a:xfrm>
            <a:off x="9445752" y="2596896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GeoTIFF / GeoJSON · Updated every 60 min</a:t>
            </a:r>
            <a:endParaRPr lang="en-US" sz="650" dirty="0"/>
          </a:p>
        </p:txBody>
      </p:sp>
      <p:sp>
        <p:nvSpPr>
          <p:cNvPr id="171" name="Text 165"/>
          <p:cNvSpPr/>
          <p:nvPr/>
        </p:nvSpPr>
        <p:spPr>
          <a:xfrm>
            <a:off x="9445752" y="2706624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&lt;5 to 10,000+ sq km</a:t>
            </a:r>
            <a:endParaRPr lang="en-US" sz="620" dirty="0"/>
          </a:p>
        </p:txBody>
      </p:sp>
      <p:sp>
        <p:nvSpPr>
          <p:cNvPr id="172" name="Shape 166"/>
          <p:cNvSpPr/>
          <p:nvPr/>
        </p:nvSpPr>
        <p:spPr>
          <a:xfrm>
            <a:off x="9445752" y="3037637"/>
            <a:ext cx="448056" cy="128016"/>
          </a:xfrm>
          <a:prstGeom prst="roundRect">
            <a:avLst>
              <a:gd name="adj" fmla="val 42857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173" name="Text 167"/>
          <p:cNvSpPr/>
          <p:nvPr/>
        </p:nvSpPr>
        <p:spPr>
          <a:xfrm>
            <a:off x="9445752" y="3037637"/>
            <a:ext cx="4480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600" dirty="0"/>
          </a:p>
        </p:txBody>
      </p:sp>
      <p:sp>
        <p:nvSpPr>
          <p:cNvPr id="174" name="Shape 168"/>
          <p:cNvSpPr/>
          <p:nvPr/>
        </p:nvSpPr>
        <p:spPr>
          <a:xfrm>
            <a:off x="9939528" y="3037637"/>
            <a:ext cx="629107" cy="128016"/>
          </a:xfrm>
          <a:prstGeom prst="roundRect">
            <a:avLst>
              <a:gd name="adj" fmla="val 42857"/>
            </a:avLst>
          </a:prstGeom>
          <a:solidFill>
            <a:srgbClr val="FEF3DB"/>
          </a:solidFill>
          <a:ln w="12700">
            <a:solidFill>
              <a:srgbClr val="FEF3DB"/>
            </a:solidFill>
            <a:prstDash val="solid"/>
          </a:ln>
        </p:spPr>
      </p:sp>
      <p:sp>
        <p:nvSpPr>
          <p:cNvPr id="175" name="Text 169"/>
          <p:cNvSpPr/>
          <p:nvPr/>
        </p:nvSpPr>
        <p:spPr>
          <a:xfrm>
            <a:off x="9939528" y="3037637"/>
            <a:ext cx="629107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A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600" dirty="0"/>
          </a:p>
        </p:txBody>
      </p:sp>
      <p:sp>
        <p:nvSpPr>
          <p:cNvPr id="176" name="Shape 170"/>
          <p:cNvSpPr/>
          <p:nvPr/>
        </p:nvSpPr>
        <p:spPr>
          <a:xfrm>
            <a:off x="10614355" y="3037637"/>
            <a:ext cx="508406" cy="128016"/>
          </a:xfrm>
          <a:prstGeom prst="roundRect">
            <a:avLst>
              <a:gd name="adj" fmla="val 42857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77" name="Text 171"/>
          <p:cNvSpPr/>
          <p:nvPr/>
        </p:nvSpPr>
        <p:spPr>
          <a:xfrm>
            <a:off x="10614355" y="3037637"/>
            <a:ext cx="50840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600" dirty="0"/>
          </a:p>
        </p:txBody>
      </p:sp>
      <p:sp>
        <p:nvSpPr>
          <p:cNvPr id="178" name="Shape 172"/>
          <p:cNvSpPr/>
          <p:nvPr/>
        </p:nvSpPr>
        <p:spPr>
          <a:xfrm>
            <a:off x="9363456" y="3247949"/>
            <a:ext cx="2724912" cy="797357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9" name="Shape 173"/>
          <p:cNvSpPr/>
          <p:nvPr/>
        </p:nvSpPr>
        <p:spPr>
          <a:xfrm>
            <a:off x="9363456" y="3247949"/>
            <a:ext cx="36576" cy="797357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80" name="Text 174"/>
          <p:cNvSpPr/>
          <p:nvPr/>
        </p:nvSpPr>
        <p:spPr>
          <a:xfrm>
            <a:off x="9445752" y="3275381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Infrastructure Exposure</a:t>
            </a:r>
            <a:endParaRPr lang="en-US" sz="780" dirty="0"/>
          </a:p>
        </p:txBody>
      </p:sp>
      <p:sp>
        <p:nvSpPr>
          <p:cNvPr id="181" name="Text 175"/>
          <p:cNvSpPr/>
          <p:nvPr/>
        </p:nvSpPr>
        <p:spPr>
          <a:xfrm>
            <a:off x="9445752" y="3439973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GeoJSON · Per-event exposure index</a:t>
            </a:r>
            <a:endParaRPr lang="en-US" sz="650" dirty="0"/>
          </a:p>
        </p:txBody>
      </p:sp>
      <p:sp>
        <p:nvSpPr>
          <p:cNvPr id="182" name="Text 176"/>
          <p:cNvSpPr/>
          <p:nvPr/>
        </p:nvSpPr>
        <p:spPr>
          <a:xfrm>
            <a:off x="9445752" y="3549701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100 – millions affected</a:t>
            </a:r>
            <a:endParaRPr lang="en-US" sz="620" dirty="0"/>
          </a:p>
        </p:txBody>
      </p:sp>
      <p:sp>
        <p:nvSpPr>
          <p:cNvPr id="183" name="Shape 177"/>
          <p:cNvSpPr/>
          <p:nvPr/>
        </p:nvSpPr>
        <p:spPr>
          <a:xfrm>
            <a:off x="9445752" y="3880714"/>
            <a:ext cx="327355" cy="128016"/>
          </a:xfrm>
          <a:prstGeom prst="roundRect">
            <a:avLst>
              <a:gd name="adj" fmla="val 42857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184" name="Text 178"/>
          <p:cNvSpPr/>
          <p:nvPr/>
        </p:nvSpPr>
        <p:spPr>
          <a:xfrm>
            <a:off x="9445752" y="3880714"/>
            <a:ext cx="32735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600" dirty="0"/>
          </a:p>
        </p:txBody>
      </p:sp>
      <p:sp>
        <p:nvSpPr>
          <p:cNvPr id="185" name="Shape 179"/>
          <p:cNvSpPr/>
          <p:nvPr/>
        </p:nvSpPr>
        <p:spPr>
          <a:xfrm>
            <a:off x="9818827" y="3880714"/>
            <a:ext cx="508406" cy="128016"/>
          </a:xfrm>
          <a:prstGeom prst="roundRect">
            <a:avLst>
              <a:gd name="adj" fmla="val 42857"/>
            </a:avLst>
          </a:prstGeom>
          <a:solidFill>
            <a:srgbClr val="FEF3DB"/>
          </a:solidFill>
          <a:ln w="12700">
            <a:solidFill>
              <a:srgbClr val="FEF3DB"/>
            </a:solidFill>
            <a:prstDash val="solid"/>
          </a:ln>
        </p:spPr>
      </p:sp>
      <p:sp>
        <p:nvSpPr>
          <p:cNvPr id="186" name="Text 180"/>
          <p:cNvSpPr/>
          <p:nvPr/>
        </p:nvSpPr>
        <p:spPr>
          <a:xfrm>
            <a:off x="9818827" y="3880714"/>
            <a:ext cx="50840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A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00" dirty="0"/>
          </a:p>
        </p:txBody>
      </p:sp>
      <p:sp>
        <p:nvSpPr>
          <p:cNvPr id="187" name="Shape 181"/>
          <p:cNvSpPr/>
          <p:nvPr/>
        </p:nvSpPr>
        <p:spPr>
          <a:xfrm>
            <a:off x="10372954" y="3880714"/>
            <a:ext cx="629107" cy="128016"/>
          </a:xfrm>
          <a:prstGeom prst="roundRect">
            <a:avLst>
              <a:gd name="adj" fmla="val 42857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88" name="Text 182"/>
          <p:cNvSpPr/>
          <p:nvPr/>
        </p:nvSpPr>
        <p:spPr>
          <a:xfrm>
            <a:off x="10372954" y="3880714"/>
            <a:ext cx="629107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189" name="Shape 183"/>
          <p:cNvSpPr/>
          <p:nvPr/>
        </p:nvSpPr>
        <p:spPr>
          <a:xfrm>
            <a:off x="9363456" y="4091026"/>
            <a:ext cx="2724912" cy="797357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90" name="Shape 184"/>
          <p:cNvSpPr/>
          <p:nvPr/>
        </p:nvSpPr>
        <p:spPr>
          <a:xfrm>
            <a:off x="9363456" y="4091026"/>
            <a:ext cx="36576" cy="797357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91" name="Text 185"/>
          <p:cNvSpPr/>
          <p:nvPr/>
        </p:nvSpPr>
        <p:spPr>
          <a:xfrm>
            <a:off x="9445752" y="4118458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Discharge Hydrographs</a:t>
            </a:r>
            <a:endParaRPr lang="en-US" sz="780" dirty="0"/>
          </a:p>
        </p:txBody>
      </p:sp>
      <p:sp>
        <p:nvSpPr>
          <p:cNvPr id="192" name="Text 186"/>
          <p:cNvSpPr/>
          <p:nvPr/>
        </p:nvSpPr>
        <p:spPr>
          <a:xfrm>
            <a:off x="9445752" y="4283050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time-series · Every 60 min at sub-basin</a:t>
            </a:r>
            <a:endParaRPr lang="en-US" sz="650" dirty="0"/>
          </a:p>
        </p:txBody>
      </p:sp>
      <p:sp>
        <p:nvSpPr>
          <p:cNvPr id="193" name="Text 187"/>
          <p:cNvSpPr/>
          <p:nvPr/>
        </p:nvSpPr>
        <p:spPr>
          <a:xfrm>
            <a:off x="9445752" y="4392778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 – 100,000 m³/s</a:t>
            </a:r>
            <a:endParaRPr lang="en-US" sz="620" dirty="0"/>
          </a:p>
        </p:txBody>
      </p:sp>
      <p:sp>
        <p:nvSpPr>
          <p:cNvPr id="194" name="Shape 188"/>
          <p:cNvSpPr/>
          <p:nvPr/>
        </p:nvSpPr>
        <p:spPr>
          <a:xfrm>
            <a:off x="9445752" y="4723790"/>
            <a:ext cx="508406" cy="128016"/>
          </a:xfrm>
          <a:prstGeom prst="roundRect">
            <a:avLst>
              <a:gd name="adj" fmla="val 42857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195" name="Text 189"/>
          <p:cNvSpPr/>
          <p:nvPr/>
        </p:nvSpPr>
        <p:spPr>
          <a:xfrm>
            <a:off x="9445752" y="4723790"/>
            <a:ext cx="50840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600" dirty="0"/>
          </a:p>
        </p:txBody>
      </p:sp>
      <p:sp>
        <p:nvSpPr>
          <p:cNvPr id="196" name="Shape 190"/>
          <p:cNvSpPr/>
          <p:nvPr/>
        </p:nvSpPr>
        <p:spPr>
          <a:xfrm>
            <a:off x="9999878" y="4723790"/>
            <a:ext cx="629107" cy="128016"/>
          </a:xfrm>
          <a:prstGeom prst="roundRect">
            <a:avLst>
              <a:gd name="adj" fmla="val 42857"/>
            </a:avLst>
          </a:prstGeom>
          <a:solidFill>
            <a:srgbClr val="FEF3DB"/>
          </a:solidFill>
          <a:ln w="12700">
            <a:solidFill>
              <a:srgbClr val="FEF3DB"/>
            </a:solidFill>
            <a:prstDash val="solid"/>
          </a:ln>
        </p:spPr>
      </p:sp>
      <p:sp>
        <p:nvSpPr>
          <p:cNvPr id="197" name="Text 191"/>
          <p:cNvSpPr/>
          <p:nvPr/>
        </p:nvSpPr>
        <p:spPr>
          <a:xfrm>
            <a:off x="9999878" y="4723790"/>
            <a:ext cx="629107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A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600" dirty="0"/>
          </a:p>
        </p:txBody>
      </p:sp>
      <p:sp>
        <p:nvSpPr>
          <p:cNvPr id="198" name="Shape 192"/>
          <p:cNvSpPr/>
          <p:nvPr/>
        </p:nvSpPr>
        <p:spPr>
          <a:xfrm>
            <a:off x="10674706" y="4723790"/>
            <a:ext cx="448056" cy="128016"/>
          </a:xfrm>
          <a:prstGeom prst="roundRect">
            <a:avLst>
              <a:gd name="adj" fmla="val 42857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99" name="Text 193"/>
          <p:cNvSpPr/>
          <p:nvPr/>
        </p:nvSpPr>
        <p:spPr>
          <a:xfrm>
            <a:off x="10674706" y="4723790"/>
            <a:ext cx="4480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</a:t>
            </a:r>
            <a:endParaRPr lang="en-US" sz="600" dirty="0"/>
          </a:p>
        </p:txBody>
      </p:sp>
      <p:sp>
        <p:nvSpPr>
          <p:cNvPr id="200" name="Shape 194"/>
          <p:cNvSpPr/>
          <p:nvPr/>
        </p:nvSpPr>
        <p:spPr>
          <a:xfrm>
            <a:off x="9363456" y="4934102"/>
            <a:ext cx="2724912" cy="797357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01" name="Shape 195"/>
          <p:cNvSpPr/>
          <p:nvPr/>
        </p:nvSpPr>
        <p:spPr>
          <a:xfrm>
            <a:off x="9363456" y="4934102"/>
            <a:ext cx="36576" cy="797357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2" name="Text 196"/>
          <p:cNvSpPr/>
          <p:nvPr/>
        </p:nvSpPr>
        <p:spPr>
          <a:xfrm>
            <a:off x="9445752" y="4961534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 Safe Zone Analysis</a:t>
            </a:r>
            <a:endParaRPr lang="en-US" sz="780" dirty="0"/>
          </a:p>
        </p:txBody>
      </p:sp>
      <p:sp>
        <p:nvSpPr>
          <p:cNvPr id="203" name="Text 197"/>
          <p:cNvSpPr/>
          <p:nvPr/>
        </p:nvSpPr>
        <p:spPr>
          <a:xfrm>
            <a:off x="9445752" y="5126126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Depth=0 zones + velocity &lt;0.3 m/s routes</a:t>
            </a:r>
            <a:endParaRPr lang="en-US" sz="650" dirty="0"/>
          </a:p>
        </p:txBody>
      </p:sp>
      <p:sp>
        <p:nvSpPr>
          <p:cNvPr id="204" name="Text 198"/>
          <p:cNvSpPr/>
          <p:nvPr/>
        </p:nvSpPr>
        <p:spPr>
          <a:xfrm>
            <a:off x="9445752" y="5235854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1–20 km radius</a:t>
            </a:r>
            <a:endParaRPr lang="en-US" sz="620" dirty="0"/>
          </a:p>
        </p:txBody>
      </p:sp>
      <p:sp>
        <p:nvSpPr>
          <p:cNvPr id="205" name="Shape 199"/>
          <p:cNvSpPr/>
          <p:nvPr/>
        </p:nvSpPr>
        <p:spPr>
          <a:xfrm>
            <a:off x="9445752" y="5566867"/>
            <a:ext cx="387706" cy="128016"/>
          </a:xfrm>
          <a:prstGeom prst="roundRect">
            <a:avLst>
              <a:gd name="adj" fmla="val 42857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06" name="Text 200"/>
          <p:cNvSpPr/>
          <p:nvPr/>
        </p:nvSpPr>
        <p:spPr>
          <a:xfrm>
            <a:off x="9445752" y="5566867"/>
            <a:ext cx="38770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600" dirty="0"/>
          </a:p>
        </p:txBody>
      </p:sp>
      <p:sp>
        <p:nvSpPr>
          <p:cNvPr id="207" name="Shape 201"/>
          <p:cNvSpPr/>
          <p:nvPr/>
        </p:nvSpPr>
        <p:spPr>
          <a:xfrm>
            <a:off x="9879178" y="5566867"/>
            <a:ext cx="749808" cy="128016"/>
          </a:xfrm>
          <a:prstGeom prst="roundRect">
            <a:avLst>
              <a:gd name="adj" fmla="val 42857"/>
            </a:avLst>
          </a:prstGeom>
          <a:solidFill>
            <a:srgbClr val="FEF3DB"/>
          </a:solidFill>
          <a:ln w="12700">
            <a:solidFill>
              <a:srgbClr val="FEF3DB"/>
            </a:solidFill>
            <a:prstDash val="solid"/>
          </a:ln>
        </p:spPr>
      </p:sp>
      <p:sp>
        <p:nvSpPr>
          <p:cNvPr id="208" name="Text 202"/>
          <p:cNvSpPr/>
          <p:nvPr/>
        </p:nvSpPr>
        <p:spPr>
          <a:xfrm>
            <a:off x="9879178" y="5566867"/>
            <a:ext cx="74980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A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600" dirty="0"/>
          </a:p>
        </p:txBody>
      </p:sp>
      <p:sp>
        <p:nvSpPr>
          <p:cNvPr id="209" name="Shape 203"/>
          <p:cNvSpPr/>
          <p:nvPr/>
        </p:nvSpPr>
        <p:spPr>
          <a:xfrm>
            <a:off x="10674706" y="5566867"/>
            <a:ext cx="508406" cy="128016"/>
          </a:xfrm>
          <a:prstGeom prst="roundRect">
            <a:avLst>
              <a:gd name="adj" fmla="val 42857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210" name="Text 204"/>
          <p:cNvSpPr/>
          <p:nvPr/>
        </p:nvSpPr>
        <p:spPr>
          <a:xfrm>
            <a:off x="10674706" y="5566867"/>
            <a:ext cx="50840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</a:t>
            </a:r>
            <a:endParaRPr lang="en-US" sz="600" dirty="0"/>
          </a:p>
        </p:txBody>
      </p:sp>
      <p:sp>
        <p:nvSpPr>
          <p:cNvPr id="211" name="Shape 205"/>
          <p:cNvSpPr/>
          <p:nvPr/>
        </p:nvSpPr>
        <p:spPr>
          <a:xfrm>
            <a:off x="9363456" y="5777179"/>
            <a:ext cx="2724912" cy="797357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2" name="Shape 206"/>
          <p:cNvSpPr/>
          <p:nvPr/>
        </p:nvSpPr>
        <p:spPr>
          <a:xfrm>
            <a:off x="9363456" y="5777179"/>
            <a:ext cx="36576" cy="797357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3" name="Text 207"/>
          <p:cNvSpPr/>
          <p:nvPr/>
        </p:nvSpPr>
        <p:spPr>
          <a:xfrm>
            <a:off x="9445752" y="5804611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Pre-Disaster Warning Information</a:t>
            </a:r>
            <a:endParaRPr lang="en-US" sz="780" dirty="0"/>
          </a:p>
        </p:txBody>
      </p:sp>
      <p:sp>
        <p:nvSpPr>
          <p:cNvPr id="214" name="Text 208"/>
          <p:cNvSpPr/>
          <p:nvPr/>
        </p:nvSpPr>
        <p:spPr>
          <a:xfrm>
            <a:off x="9445752" y="5969203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EAS Integration</a:t>
            </a:r>
            <a:endParaRPr lang="en-US" sz="650" dirty="0"/>
          </a:p>
        </p:txBody>
      </p:sp>
      <p:sp>
        <p:nvSpPr>
          <p:cNvPr id="215" name="Text 209"/>
          <p:cNvSpPr/>
          <p:nvPr/>
        </p:nvSpPr>
        <p:spPr>
          <a:xfrm>
            <a:off x="9445752" y="6078931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Seconds – minutes</a:t>
            </a:r>
            <a:endParaRPr lang="en-US" sz="620" dirty="0"/>
          </a:p>
        </p:txBody>
      </p:sp>
      <p:sp>
        <p:nvSpPr>
          <p:cNvPr id="216" name="Shape 210"/>
          <p:cNvSpPr/>
          <p:nvPr/>
        </p:nvSpPr>
        <p:spPr>
          <a:xfrm>
            <a:off x="9445752" y="6409944"/>
            <a:ext cx="629107" cy="128016"/>
          </a:xfrm>
          <a:prstGeom prst="roundRect">
            <a:avLst>
              <a:gd name="adj" fmla="val 42857"/>
            </a:avLst>
          </a:prstGeom>
          <a:solidFill>
            <a:srgbClr val="D6E9FF"/>
          </a:solidFill>
          <a:ln w="12700">
            <a:solidFill>
              <a:srgbClr val="D6E9FF"/>
            </a:solidFill>
            <a:prstDash val="solid"/>
          </a:ln>
        </p:spPr>
      </p:sp>
      <p:sp>
        <p:nvSpPr>
          <p:cNvPr id="217" name="Text 211"/>
          <p:cNvSpPr/>
          <p:nvPr/>
        </p:nvSpPr>
        <p:spPr>
          <a:xfrm>
            <a:off x="9445752" y="6409944"/>
            <a:ext cx="629107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600" dirty="0"/>
          </a:p>
        </p:txBody>
      </p:sp>
      <p:sp>
        <p:nvSpPr>
          <p:cNvPr id="218" name="Shape 212"/>
          <p:cNvSpPr/>
          <p:nvPr/>
        </p:nvSpPr>
        <p:spPr>
          <a:xfrm>
            <a:off x="10120579" y="6409944"/>
            <a:ext cx="448056" cy="128016"/>
          </a:xfrm>
          <a:prstGeom prst="roundRect">
            <a:avLst>
              <a:gd name="adj" fmla="val 42857"/>
            </a:avLst>
          </a:prstGeom>
          <a:solidFill>
            <a:srgbClr val="FEF3DB"/>
          </a:solidFill>
          <a:ln w="12700">
            <a:solidFill>
              <a:srgbClr val="FEF3DB"/>
            </a:solidFill>
            <a:prstDash val="solid"/>
          </a:ln>
        </p:spPr>
      </p:sp>
      <p:sp>
        <p:nvSpPr>
          <p:cNvPr id="219" name="Text 213"/>
          <p:cNvSpPr/>
          <p:nvPr/>
        </p:nvSpPr>
        <p:spPr>
          <a:xfrm>
            <a:off x="10120579" y="6409944"/>
            <a:ext cx="4480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A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600" dirty="0"/>
          </a:p>
        </p:txBody>
      </p:sp>
      <p:sp>
        <p:nvSpPr>
          <p:cNvPr id="220" name="Shape 214"/>
          <p:cNvSpPr/>
          <p:nvPr/>
        </p:nvSpPr>
        <p:spPr>
          <a:xfrm>
            <a:off x="10614355" y="6409944"/>
            <a:ext cx="568757" cy="128016"/>
          </a:xfrm>
          <a:prstGeom prst="roundRect">
            <a:avLst>
              <a:gd name="adj" fmla="val 42857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221" name="Text 215"/>
          <p:cNvSpPr/>
          <p:nvPr/>
        </p:nvSpPr>
        <p:spPr>
          <a:xfrm>
            <a:off x="10614355" y="6409944"/>
            <a:ext cx="568757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600" dirty="0"/>
          </a:p>
        </p:txBody>
      </p:sp>
      <p:sp>
        <p:nvSpPr>
          <p:cNvPr id="222" name="Shape 216"/>
          <p:cNvSpPr/>
          <p:nvPr/>
        </p:nvSpPr>
        <p:spPr>
          <a:xfrm>
            <a:off x="11228832" y="6409944"/>
            <a:ext cx="689458" cy="128016"/>
          </a:xfrm>
          <a:prstGeom prst="roundRect">
            <a:avLst>
              <a:gd name="adj" fmla="val 42857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223" name="Text 217"/>
          <p:cNvSpPr/>
          <p:nvPr/>
        </p:nvSpPr>
        <p:spPr>
          <a:xfrm>
            <a:off x="11228832" y="6409944"/>
            <a:ext cx="68945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600" dirty="0"/>
          </a:p>
        </p:txBody>
      </p:sp>
      <p:sp>
        <p:nvSpPr>
          <p:cNvPr id="224" name="Shape 218"/>
          <p:cNvSpPr/>
          <p:nvPr/>
        </p:nvSpPr>
        <p:spPr>
          <a:xfrm>
            <a:off x="9363456" y="6492240"/>
            <a:ext cx="2724912" cy="1645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5" name="Text 219"/>
          <p:cNvSpPr/>
          <p:nvPr/>
        </p:nvSpPr>
        <p:spPr>
          <a:xfrm>
            <a:off x="9363456" y="6492240"/>
            <a:ext cx="2724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750" dirty="0"/>
          </a:p>
        </p:txBody>
      </p:sp>
      <p:sp>
        <p:nvSpPr>
          <p:cNvPr id="226" name="Text 220"/>
          <p:cNvSpPr/>
          <p:nvPr/>
        </p:nvSpPr>
        <p:spPr>
          <a:xfrm>
            <a:off x="164592" y="6693408"/>
            <a:ext cx="1165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 Requirement Note: Large-scale historical and predictive analysis will be performed using geospatial AI and ML-based approaches integrated with satellite imagery, remote sensing, terrain data, river flow parameters, time-series data, and socio-economic datasets.   |   © 2026 Straive · www.straive.com</a:t>
            </a:r>
            <a:endParaRPr lang="en-US" sz="550" dirty="0"/>
          </a:p>
        </p:txBody>
      </p:sp>
      <p:sp>
        <p:nvSpPr>
          <p:cNvPr id="227" name="Shape 221"/>
          <p:cNvSpPr/>
          <p:nvPr/>
        </p:nvSpPr>
        <p:spPr>
          <a:xfrm>
            <a:off x="11887200" y="6656832"/>
            <a:ext cx="201168" cy="164592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228" name="Text 222"/>
          <p:cNvSpPr/>
          <p:nvPr/>
        </p:nvSpPr>
        <p:spPr>
          <a:xfrm>
            <a:off x="11887200" y="665683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0D3D4F"/>
          </a:solidFill>
          <a:ln w="12700">
            <a:solidFill>
              <a:srgbClr val="0D3D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7432"/>
            <a:ext cx="8686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80" kern="0" dirty="0">
                <a:solidFill>
                  <a:srgbClr val="E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LANDSLIDE HAZARD MONITORING &amp; EARLY WARNING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256032" y="155448"/>
            <a:ext cx="9601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 Susceptibility Mapping  +  AI/ML-Based Prediction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835640" y="118872"/>
            <a:ext cx="1078992" cy="310896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35640" y="118872"/>
            <a:ext cx="1078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3E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Layer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" y="621792"/>
            <a:ext cx="2011680" cy="6071616"/>
          </a:xfrm>
          <a:prstGeom prst="rect">
            <a:avLst/>
          </a:prstGeom>
          <a:solidFill>
            <a:srgbClr val="EBF0F5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621792"/>
            <a:ext cx="3154680" cy="6071616"/>
          </a:xfrm>
          <a:prstGeom prst="rect">
            <a:avLst/>
          </a:prstGeom>
          <a:solidFill>
            <a:srgbClr val="EBF5F2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49240" y="621792"/>
            <a:ext cx="3913632" cy="6071616"/>
          </a:xfrm>
          <a:prstGeom prst="rect">
            <a:avLst/>
          </a:prstGeom>
          <a:solidFill>
            <a:srgbClr val="F2F8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08592" y="621792"/>
            <a:ext cx="2834640" cy="6071616"/>
          </a:xfrm>
          <a:prstGeom prst="rect">
            <a:avLst/>
          </a:prstGeom>
          <a:solidFill>
            <a:srgbClr val="F5F4FC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" y="621792"/>
            <a:ext cx="2011680" cy="301752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65836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6583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685800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148840" y="621792"/>
            <a:ext cx="3154680" cy="301752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1992" y="65836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21992" y="6583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96312" y="685800"/>
            <a:ext cx="2752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MODELING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49240" y="621792"/>
            <a:ext cx="3913632" cy="30175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22392" y="65836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22392" y="6583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96712" y="685800"/>
            <a:ext cx="3511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MODEL OUTPUTS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308592" y="621792"/>
            <a:ext cx="2834640" cy="30175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81744" y="65836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81744" y="6583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56064" y="685800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&amp; ALERTS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46304" y="969264"/>
            <a:ext cx="1901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46304" y="969264"/>
            <a:ext cx="36576" cy="82296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" y="100584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Landslide Sensors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554480" y="1024128"/>
            <a:ext cx="475488" cy="146304"/>
          </a:xfrm>
          <a:prstGeom prst="roundRect">
            <a:avLst>
              <a:gd name="adj" fmla="val 31250"/>
            </a:avLst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54480" y="1024128"/>
            <a:ext cx="4754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[200 Sensors]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10312" y="1207008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0–500 mm displacement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210312" y="1371600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/ Minor Movement / Critical Shift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146304" y="1856232"/>
            <a:ext cx="1901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46304" y="1856232"/>
            <a:ext cx="36576" cy="82296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" y="1892808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SMAP Soil Moisture Data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10312" y="2093976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0–100% moisture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210312" y="2258568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/ Saturated / Critical Saturation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46304" y="2743200"/>
            <a:ext cx="1901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46304" y="2743200"/>
            <a:ext cx="36576" cy="82296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312" y="2779776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Data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10312" y="2980944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0–350 mm/hr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210312" y="3145536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Moderate / Extreme Rainfall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146304" y="3630168"/>
            <a:ext cx="1901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46304" y="3630168"/>
            <a:ext cx="36576" cy="82296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0312" y="3666744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Density &amp; Buildings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10312" y="3867912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1–50,000 ppl/sq km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210312" y="4032504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/ Dense / Highly Dense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46304" y="4517136"/>
            <a:ext cx="1901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46304" y="4517136"/>
            <a:ext cx="36576" cy="82296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0312" y="4553712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Topography (UAV, DEM)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10312" y="4754880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1–30m spatial res.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210312" y="4919472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/ Moderate / Steep Terrain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146304" y="5404104"/>
            <a:ext cx="1901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46304" y="5404104"/>
            <a:ext cx="36576" cy="82296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0312" y="5440680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&amp; Terrain Curvature Data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10312" y="5641848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0–80° slope</a:t>
            </a:r>
            <a:endParaRPr lang="en-US" sz="680" dirty="0"/>
          </a:p>
        </p:txBody>
      </p:sp>
      <p:sp>
        <p:nvSpPr>
          <p:cNvPr id="58" name="Text 56"/>
          <p:cNvSpPr/>
          <p:nvPr/>
        </p:nvSpPr>
        <p:spPr>
          <a:xfrm>
            <a:off x="210312" y="5806440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/ Vulnerable / Critical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146304" y="6492240"/>
            <a:ext cx="1901952" cy="164592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6304" y="6492240"/>
            <a:ext cx="19019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212848" y="969264"/>
            <a:ext cx="3026664" cy="13761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212848" y="969264"/>
            <a:ext cx="36576" cy="1376172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95144" y="1005840"/>
            <a:ext cx="28986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Slope Stability Analysis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2295144" y="1170432"/>
            <a:ext cx="2898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Mohr-Coulomb / Janbu / Bishop · TRIGRS / SINMAP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2267712" y="1316736"/>
            <a:ext cx="2916936" cy="310896"/>
          </a:xfrm>
          <a:prstGeom prst="rect">
            <a:avLst/>
          </a:prstGeom>
          <a:solidFill>
            <a:srgbClr val="F0F6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304288" y="1335024"/>
            <a:ext cx="2377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2505456" y="1335024"/>
            <a:ext cx="25694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of Safety (FS) · Range 0–3</a:t>
            </a:r>
            <a:endParaRPr lang="en-US" sz="680" dirty="0"/>
          </a:p>
        </p:txBody>
      </p:sp>
      <p:sp>
        <p:nvSpPr>
          <p:cNvPr id="68" name="Text 66"/>
          <p:cNvSpPr/>
          <p:nvPr/>
        </p:nvSpPr>
        <p:spPr>
          <a:xfrm>
            <a:off x="2304288" y="1481328"/>
            <a:ext cx="282549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 = c'+(γz cosα−u) tanφ' / γz sinα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2267712" y="1664208"/>
            <a:ext cx="2916936" cy="205740"/>
          </a:xfrm>
          <a:prstGeom prst="rect">
            <a:avLst/>
          </a:prstGeom>
          <a:solidFill>
            <a:srgbClr val="EAF3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04288" y="1735074"/>
            <a:ext cx="73152" cy="73152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414016" y="1673352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</a:t>
            </a:r>
            <a:endParaRPr lang="en-US" sz="620" dirty="0"/>
          </a:p>
        </p:txBody>
      </p:sp>
      <p:sp>
        <p:nvSpPr>
          <p:cNvPr id="72" name="Text 70"/>
          <p:cNvSpPr/>
          <p:nvPr/>
        </p:nvSpPr>
        <p:spPr>
          <a:xfrm>
            <a:off x="2807208" y="1673352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≥ 1.5 · No movement detected</a:t>
            </a:r>
            <a:endParaRPr lang="en-US" sz="620" dirty="0"/>
          </a:p>
        </p:txBody>
      </p:sp>
      <p:sp>
        <p:nvSpPr>
          <p:cNvPr id="73" name="Shape 71"/>
          <p:cNvSpPr/>
          <p:nvPr/>
        </p:nvSpPr>
        <p:spPr>
          <a:xfrm>
            <a:off x="2267712" y="1879092"/>
            <a:ext cx="2916936" cy="205740"/>
          </a:xfrm>
          <a:prstGeom prst="rect">
            <a:avLst/>
          </a:prstGeom>
          <a:solidFill>
            <a:srgbClr val="FEF3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304288" y="1949958"/>
            <a:ext cx="73152" cy="73152"/>
          </a:xfrm>
          <a:prstGeom prst="ellipse">
            <a:avLst/>
          </a:prstGeom>
          <a:solidFill>
            <a:srgbClr val="C07800"/>
          </a:solidFill>
          <a:ln w="12700">
            <a:solidFill>
              <a:srgbClr val="C078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414016" y="1888236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C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</a:t>
            </a:r>
            <a:endParaRPr lang="en-US" sz="620" dirty="0"/>
          </a:p>
        </p:txBody>
      </p:sp>
      <p:sp>
        <p:nvSpPr>
          <p:cNvPr id="76" name="Text 74"/>
          <p:cNvSpPr/>
          <p:nvPr/>
        </p:nvSpPr>
        <p:spPr>
          <a:xfrm>
            <a:off x="2807208" y="1888236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&lt; FS &lt; 1.5 · Minor movement trend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2267712" y="2093976"/>
            <a:ext cx="2916936" cy="205740"/>
          </a:xfrm>
          <a:prstGeom prst="rect">
            <a:avLst/>
          </a:prstGeom>
          <a:solidFill>
            <a:srgbClr val="FCEB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304288" y="2164842"/>
            <a:ext cx="73152" cy="73152"/>
          </a:xfrm>
          <a:prstGeom prst="ellipse">
            <a:avLst/>
          </a:prstGeom>
          <a:solidFill>
            <a:srgbClr val="8B1F1F"/>
          </a:solidFill>
          <a:ln w="12700">
            <a:solidFill>
              <a:srgbClr val="8B1F1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414016" y="2103120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Alarm:</a:t>
            </a:r>
            <a:endParaRPr lang="en-US" sz="620" dirty="0"/>
          </a:p>
        </p:txBody>
      </p:sp>
      <p:sp>
        <p:nvSpPr>
          <p:cNvPr id="80" name="Text 78"/>
          <p:cNvSpPr/>
          <p:nvPr/>
        </p:nvSpPr>
        <p:spPr>
          <a:xfrm>
            <a:off x="2807208" y="2103120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&lt; 1.0 · Critical shift · Imminent failure</a:t>
            </a:r>
            <a:endParaRPr lang="en-US" sz="620" dirty="0"/>
          </a:p>
        </p:txBody>
      </p:sp>
      <p:sp>
        <p:nvSpPr>
          <p:cNvPr id="81" name="Shape 79"/>
          <p:cNvSpPr/>
          <p:nvPr/>
        </p:nvSpPr>
        <p:spPr>
          <a:xfrm>
            <a:off x="2212848" y="2400300"/>
            <a:ext cx="3026664" cy="13761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2212848" y="2400300"/>
            <a:ext cx="36576" cy="1376172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295144" y="2436876"/>
            <a:ext cx="28986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Debris &amp; Mudflow Routing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2295144" y="2601468"/>
            <a:ext cx="2898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FLO-2D / DebrisFlow · Rickenmann (1999)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2267712" y="2747772"/>
            <a:ext cx="2916936" cy="310896"/>
          </a:xfrm>
          <a:prstGeom prst="rect">
            <a:avLst/>
          </a:prstGeom>
          <a:solidFill>
            <a:srgbClr val="F0F6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304288" y="2766060"/>
            <a:ext cx="2377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2505456" y="2766060"/>
            <a:ext cx="25694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distance 0–50 km · Impact radius</a:t>
            </a:r>
            <a:endParaRPr lang="en-US" sz="680" dirty="0"/>
          </a:p>
        </p:txBody>
      </p:sp>
      <p:sp>
        <p:nvSpPr>
          <p:cNvPr id="88" name="Text 86"/>
          <p:cNvSpPr/>
          <p:nvPr/>
        </p:nvSpPr>
        <p:spPr>
          <a:xfrm>
            <a:off x="2304288" y="2912364"/>
            <a:ext cx="282549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V_debris = k · (S·R)^0.5  (hydraulic routing)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2267712" y="3095244"/>
            <a:ext cx="2916936" cy="205740"/>
          </a:xfrm>
          <a:prstGeom prst="rect">
            <a:avLst/>
          </a:prstGeom>
          <a:solidFill>
            <a:srgbClr val="EAF3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304288" y="3166110"/>
            <a:ext cx="73152" cy="73152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414016" y="3104388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</a:t>
            </a:r>
            <a:endParaRPr lang="en-US" sz="620" dirty="0"/>
          </a:p>
        </p:txBody>
      </p:sp>
      <p:sp>
        <p:nvSpPr>
          <p:cNvPr id="92" name="Text 90"/>
          <p:cNvSpPr/>
          <p:nvPr/>
        </p:nvSpPr>
        <p:spPr>
          <a:xfrm>
            <a:off x="2807208" y="3104388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velocity &lt;1 m/s · Runout &lt;5 km</a:t>
            </a:r>
            <a:endParaRPr lang="en-US" sz="620" dirty="0"/>
          </a:p>
        </p:txBody>
      </p:sp>
      <p:sp>
        <p:nvSpPr>
          <p:cNvPr id="93" name="Shape 91"/>
          <p:cNvSpPr/>
          <p:nvPr/>
        </p:nvSpPr>
        <p:spPr>
          <a:xfrm>
            <a:off x="2267712" y="3310128"/>
            <a:ext cx="2916936" cy="205740"/>
          </a:xfrm>
          <a:prstGeom prst="rect">
            <a:avLst/>
          </a:prstGeom>
          <a:solidFill>
            <a:srgbClr val="FEF3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304288" y="3380994"/>
            <a:ext cx="73152" cy="73152"/>
          </a:xfrm>
          <a:prstGeom prst="ellipse">
            <a:avLst/>
          </a:prstGeom>
          <a:solidFill>
            <a:srgbClr val="C07800"/>
          </a:solidFill>
          <a:ln w="12700">
            <a:solidFill>
              <a:srgbClr val="C078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414016" y="3319272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C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</a:t>
            </a:r>
            <a:endParaRPr lang="en-US" sz="620" dirty="0"/>
          </a:p>
        </p:txBody>
      </p:sp>
      <p:sp>
        <p:nvSpPr>
          <p:cNvPr id="96" name="Text 94"/>
          <p:cNvSpPr/>
          <p:nvPr/>
        </p:nvSpPr>
        <p:spPr>
          <a:xfrm>
            <a:off x="2807208" y="3319272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m/s velocity · Runout 5–20 km</a:t>
            </a:r>
            <a:endParaRPr lang="en-US" sz="620" dirty="0"/>
          </a:p>
        </p:txBody>
      </p:sp>
      <p:sp>
        <p:nvSpPr>
          <p:cNvPr id="97" name="Shape 95"/>
          <p:cNvSpPr/>
          <p:nvPr/>
        </p:nvSpPr>
        <p:spPr>
          <a:xfrm>
            <a:off x="2267712" y="3525012"/>
            <a:ext cx="2916936" cy="205740"/>
          </a:xfrm>
          <a:prstGeom prst="rect">
            <a:avLst/>
          </a:prstGeom>
          <a:solidFill>
            <a:srgbClr val="FCEB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304288" y="3595878"/>
            <a:ext cx="73152" cy="73152"/>
          </a:xfrm>
          <a:prstGeom prst="ellipse">
            <a:avLst/>
          </a:prstGeom>
          <a:solidFill>
            <a:srgbClr val="8B1F1F"/>
          </a:solidFill>
          <a:ln w="12700">
            <a:solidFill>
              <a:srgbClr val="8B1F1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414016" y="3534156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Alarm:</a:t>
            </a:r>
            <a:endParaRPr lang="en-US" sz="620" dirty="0"/>
          </a:p>
        </p:txBody>
      </p:sp>
      <p:sp>
        <p:nvSpPr>
          <p:cNvPr id="100" name="Text 98"/>
          <p:cNvSpPr/>
          <p:nvPr/>
        </p:nvSpPr>
        <p:spPr>
          <a:xfrm>
            <a:off x="2807208" y="3534156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 m/s OR reaches infrastructure corridor</a:t>
            </a:r>
            <a:endParaRPr lang="en-US" sz="620" dirty="0"/>
          </a:p>
        </p:txBody>
      </p:sp>
      <p:sp>
        <p:nvSpPr>
          <p:cNvPr id="101" name="Shape 99"/>
          <p:cNvSpPr/>
          <p:nvPr/>
        </p:nvSpPr>
        <p:spPr>
          <a:xfrm>
            <a:off x="2212848" y="3831336"/>
            <a:ext cx="3026664" cy="13761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2212848" y="3831336"/>
            <a:ext cx="36576" cy="1376172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295144" y="3867912"/>
            <a:ext cx="28986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Displacement Detection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2295144" y="4032504"/>
            <a:ext cx="2898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/ IoT Tiltmeter / SAR Interferometry (InSAR)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2267712" y="4178808"/>
            <a:ext cx="2916936" cy="310896"/>
          </a:xfrm>
          <a:prstGeom prst="rect">
            <a:avLst/>
          </a:prstGeom>
          <a:solidFill>
            <a:srgbClr val="F0F6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304288" y="4197096"/>
            <a:ext cx="2377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2505456" y="4197096"/>
            <a:ext cx="25694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Δd (mm) · Velocity deformation mm/day</a:t>
            </a:r>
            <a:endParaRPr lang="en-US" sz="680" dirty="0"/>
          </a:p>
        </p:txBody>
      </p:sp>
      <p:sp>
        <p:nvSpPr>
          <p:cNvPr id="108" name="Text 106"/>
          <p:cNvSpPr/>
          <p:nvPr/>
        </p:nvSpPr>
        <p:spPr>
          <a:xfrm>
            <a:off x="2304288" y="4343400"/>
            <a:ext cx="282549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Δd = sensor reading (mm) · v_def = Δd/Δt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2267712" y="4526280"/>
            <a:ext cx="2916936" cy="205740"/>
          </a:xfrm>
          <a:prstGeom prst="rect">
            <a:avLst/>
          </a:prstGeom>
          <a:solidFill>
            <a:srgbClr val="EAF3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304288" y="4597146"/>
            <a:ext cx="73152" cy="73152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414016" y="4535424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</a:t>
            </a:r>
            <a:endParaRPr lang="en-US" sz="620" dirty="0"/>
          </a:p>
        </p:txBody>
      </p:sp>
      <p:sp>
        <p:nvSpPr>
          <p:cNvPr id="112" name="Text 110"/>
          <p:cNvSpPr/>
          <p:nvPr/>
        </p:nvSpPr>
        <p:spPr>
          <a:xfrm>
            <a:off x="2807208" y="4535424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Δd &lt; 10 mm · No active movement</a:t>
            </a:r>
            <a:endParaRPr lang="en-US" sz="620" dirty="0"/>
          </a:p>
        </p:txBody>
      </p:sp>
      <p:sp>
        <p:nvSpPr>
          <p:cNvPr id="113" name="Shape 111"/>
          <p:cNvSpPr/>
          <p:nvPr/>
        </p:nvSpPr>
        <p:spPr>
          <a:xfrm>
            <a:off x="2267712" y="4741164"/>
            <a:ext cx="2916936" cy="205740"/>
          </a:xfrm>
          <a:prstGeom prst="rect">
            <a:avLst/>
          </a:prstGeom>
          <a:solidFill>
            <a:srgbClr val="FEF3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304288" y="4812030"/>
            <a:ext cx="73152" cy="73152"/>
          </a:xfrm>
          <a:prstGeom prst="ellipse">
            <a:avLst/>
          </a:prstGeom>
          <a:solidFill>
            <a:srgbClr val="C07800"/>
          </a:solidFill>
          <a:ln w="12700">
            <a:solidFill>
              <a:srgbClr val="C0780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414016" y="4750308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C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</a:t>
            </a:r>
            <a:endParaRPr lang="en-US" sz="620" dirty="0"/>
          </a:p>
        </p:txBody>
      </p:sp>
      <p:sp>
        <p:nvSpPr>
          <p:cNvPr id="116" name="Text 114"/>
          <p:cNvSpPr/>
          <p:nvPr/>
        </p:nvSpPr>
        <p:spPr>
          <a:xfrm>
            <a:off x="2807208" y="4750308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mm ≤ Δd &lt; 50 mm · Active trend</a:t>
            </a:r>
            <a:endParaRPr lang="en-US" sz="620" dirty="0"/>
          </a:p>
        </p:txBody>
      </p:sp>
      <p:sp>
        <p:nvSpPr>
          <p:cNvPr id="117" name="Shape 115"/>
          <p:cNvSpPr/>
          <p:nvPr/>
        </p:nvSpPr>
        <p:spPr>
          <a:xfrm>
            <a:off x="2267712" y="4956048"/>
            <a:ext cx="2916936" cy="205740"/>
          </a:xfrm>
          <a:prstGeom prst="rect">
            <a:avLst/>
          </a:prstGeom>
          <a:solidFill>
            <a:srgbClr val="FCEB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304288" y="5026914"/>
            <a:ext cx="73152" cy="73152"/>
          </a:xfrm>
          <a:prstGeom prst="ellipse">
            <a:avLst/>
          </a:prstGeom>
          <a:solidFill>
            <a:srgbClr val="8B1F1F"/>
          </a:solidFill>
          <a:ln w="12700">
            <a:solidFill>
              <a:srgbClr val="8B1F1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414016" y="4965192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Alarm:</a:t>
            </a:r>
            <a:endParaRPr lang="en-US" sz="620" dirty="0"/>
          </a:p>
        </p:txBody>
      </p:sp>
      <p:sp>
        <p:nvSpPr>
          <p:cNvPr id="120" name="Text 118"/>
          <p:cNvSpPr/>
          <p:nvPr/>
        </p:nvSpPr>
        <p:spPr>
          <a:xfrm>
            <a:off x="2807208" y="4965192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Δd ≥ 50 mm OR rapid acceleration</a:t>
            </a:r>
            <a:endParaRPr lang="en-US" sz="620" dirty="0"/>
          </a:p>
        </p:txBody>
      </p:sp>
      <p:sp>
        <p:nvSpPr>
          <p:cNvPr id="121" name="Shape 119"/>
          <p:cNvSpPr/>
          <p:nvPr/>
        </p:nvSpPr>
        <p:spPr>
          <a:xfrm>
            <a:off x="2212848" y="5262372"/>
            <a:ext cx="3026664" cy="13761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2" name="Shape 120"/>
          <p:cNvSpPr/>
          <p:nvPr/>
        </p:nvSpPr>
        <p:spPr>
          <a:xfrm>
            <a:off x="2212848" y="5262372"/>
            <a:ext cx="36576" cy="1376172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295144" y="5298948"/>
            <a:ext cx="28986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 Mapping &amp; Risk Scoring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2295144" y="5463540"/>
            <a:ext cx="28986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 Derivation + Curvature · SHALSTAB / SINMAP</a:t>
            </a:r>
            <a:endParaRPr lang="en-US" sz="650" dirty="0"/>
          </a:p>
        </p:txBody>
      </p:sp>
      <p:sp>
        <p:nvSpPr>
          <p:cNvPr id="125" name="Shape 123"/>
          <p:cNvSpPr/>
          <p:nvPr/>
        </p:nvSpPr>
        <p:spPr>
          <a:xfrm>
            <a:off x="2267712" y="5609844"/>
            <a:ext cx="2916936" cy="310896"/>
          </a:xfrm>
          <a:prstGeom prst="rect">
            <a:avLst/>
          </a:prstGeom>
          <a:solidFill>
            <a:srgbClr val="F0F6FB"/>
          </a:solidFill>
          <a:ln w="6350">
            <a:solidFill>
              <a:srgbClr val="D0E4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304288" y="5628132"/>
            <a:ext cx="2377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2505456" y="5628132"/>
            <a:ext cx="25694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0–100 · Multi-factor composite score</a:t>
            </a:r>
            <a:endParaRPr lang="en-US" sz="680" dirty="0"/>
          </a:p>
        </p:txBody>
      </p:sp>
      <p:sp>
        <p:nvSpPr>
          <p:cNvPr id="128" name="Text 126"/>
          <p:cNvSpPr/>
          <p:nvPr/>
        </p:nvSpPr>
        <p:spPr>
          <a:xfrm>
            <a:off x="2304288" y="5774436"/>
            <a:ext cx="282549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185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= f(slope, soil, Ksat, rainfall, aspect)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2267712" y="5957316"/>
            <a:ext cx="2916936" cy="205740"/>
          </a:xfrm>
          <a:prstGeom prst="rect">
            <a:avLst/>
          </a:prstGeom>
          <a:solidFill>
            <a:srgbClr val="EAF3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304288" y="6028182"/>
            <a:ext cx="73152" cy="73152"/>
          </a:xfrm>
          <a:prstGeom prst="ellipse">
            <a:avLst/>
          </a:prstGeom>
          <a:solidFill>
            <a:srgbClr val="27500A"/>
          </a:solidFill>
          <a:ln w="12700">
            <a:solidFill>
              <a:srgbClr val="27500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414016" y="5966460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Stable:</a:t>
            </a:r>
            <a:endParaRPr lang="en-US" sz="620" dirty="0"/>
          </a:p>
        </p:txBody>
      </p:sp>
      <p:sp>
        <p:nvSpPr>
          <p:cNvPr id="132" name="Text 130"/>
          <p:cNvSpPr/>
          <p:nvPr/>
        </p:nvSpPr>
        <p:spPr>
          <a:xfrm>
            <a:off x="2807208" y="5966460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0–30 · Low susceptibility</a:t>
            </a:r>
            <a:endParaRPr lang="en-US" sz="620" dirty="0"/>
          </a:p>
        </p:txBody>
      </p:sp>
      <p:sp>
        <p:nvSpPr>
          <p:cNvPr id="133" name="Shape 131"/>
          <p:cNvSpPr/>
          <p:nvPr/>
        </p:nvSpPr>
        <p:spPr>
          <a:xfrm>
            <a:off x="2267712" y="6172200"/>
            <a:ext cx="2916936" cy="205740"/>
          </a:xfrm>
          <a:prstGeom prst="rect">
            <a:avLst/>
          </a:prstGeom>
          <a:solidFill>
            <a:srgbClr val="FEF3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304288" y="6243066"/>
            <a:ext cx="73152" cy="73152"/>
          </a:xfrm>
          <a:prstGeom prst="ellipse">
            <a:avLst/>
          </a:prstGeom>
          <a:solidFill>
            <a:srgbClr val="C07800"/>
          </a:solidFill>
          <a:ln w="12700">
            <a:solidFill>
              <a:srgbClr val="C0780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414016" y="6181344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C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</a:t>
            </a:r>
            <a:endParaRPr lang="en-US" sz="620" dirty="0"/>
          </a:p>
        </p:txBody>
      </p:sp>
      <p:sp>
        <p:nvSpPr>
          <p:cNvPr id="136" name="Text 134"/>
          <p:cNvSpPr/>
          <p:nvPr/>
        </p:nvSpPr>
        <p:spPr>
          <a:xfrm>
            <a:off x="2807208" y="6181344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30–70 · Vulnerable zone</a:t>
            </a:r>
            <a:endParaRPr lang="en-US" sz="620" dirty="0"/>
          </a:p>
        </p:txBody>
      </p:sp>
      <p:sp>
        <p:nvSpPr>
          <p:cNvPr id="137" name="Shape 135"/>
          <p:cNvSpPr/>
          <p:nvPr/>
        </p:nvSpPr>
        <p:spPr>
          <a:xfrm>
            <a:off x="2267712" y="6387084"/>
            <a:ext cx="2916936" cy="205740"/>
          </a:xfrm>
          <a:prstGeom prst="rect">
            <a:avLst/>
          </a:prstGeom>
          <a:solidFill>
            <a:srgbClr val="FCEB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304288" y="6457950"/>
            <a:ext cx="73152" cy="73152"/>
          </a:xfrm>
          <a:prstGeom prst="ellipse">
            <a:avLst/>
          </a:prstGeom>
          <a:solidFill>
            <a:srgbClr val="8B1F1F"/>
          </a:solidFill>
          <a:ln w="12700">
            <a:solidFill>
              <a:srgbClr val="8B1F1F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414016" y="6396228"/>
            <a:ext cx="384048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Alarm:</a:t>
            </a:r>
            <a:endParaRPr lang="en-US" sz="620" dirty="0"/>
          </a:p>
        </p:txBody>
      </p:sp>
      <p:sp>
        <p:nvSpPr>
          <p:cNvPr id="140" name="Text 138"/>
          <p:cNvSpPr/>
          <p:nvPr/>
        </p:nvSpPr>
        <p:spPr>
          <a:xfrm>
            <a:off x="2807208" y="6396228"/>
            <a:ext cx="233172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&gt;70 · Critical · Evacuation buffer</a:t>
            </a:r>
            <a:endParaRPr lang="en-US" sz="620" dirty="0"/>
          </a:p>
        </p:txBody>
      </p:sp>
      <p:sp>
        <p:nvSpPr>
          <p:cNvPr id="141" name="Shape 139"/>
          <p:cNvSpPr/>
          <p:nvPr/>
        </p:nvSpPr>
        <p:spPr>
          <a:xfrm>
            <a:off x="5404104" y="969264"/>
            <a:ext cx="3803904" cy="16459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431536" y="969264"/>
            <a:ext cx="3767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OUTPUT  ·  Factor of Safety (FS) Slope Map</a:t>
            </a:r>
            <a:endParaRPr lang="en-US" sz="700" dirty="0"/>
          </a:p>
        </p:txBody>
      </p:sp>
      <p:pic>
        <p:nvPicPr>
          <p:cNvPr id="1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133856"/>
            <a:ext cx="3803904" cy="1211580"/>
          </a:xfrm>
          <a:prstGeom prst="rect">
            <a:avLst/>
          </a:prstGeom>
        </p:spPr>
      </p:pic>
      <p:sp>
        <p:nvSpPr>
          <p:cNvPr id="144" name="Shape 141"/>
          <p:cNvSpPr/>
          <p:nvPr/>
        </p:nvSpPr>
        <p:spPr>
          <a:xfrm>
            <a:off x="5404104" y="969264"/>
            <a:ext cx="3803904" cy="1376172"/>
          </a:xfrm>
          <a:prstGeom prst="rect">
            <a:avLst/>
          </a:prstGeom>
          <a:ln w="6350">
            <a:solidFill>
              <a:srgbClr val="D0DCE8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404104" y="2400300"/>
            <a:ext cx="3803904" cy="16459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5431536" y="2400300"/>
            <a:ext cx="3767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OUTPUT  ·  Rainfall I-D Threshold Chart</a:t>
            </a:r>
            <a:endParaRPr lang="en-US" sz="700" dirty="0"/>
          </a:p>
        </p:txBody>
      </p:sp>
      <p:pic>
        <p:nvPicPr>
          <p:cNvPr id="1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4" y="2564892"/>
            <a:ext cx="3803904" cy="1211580"/>
          </a:xfrm>
          <a:prstGeom prst="rect">
            <a:avLst/>
          </a:prstGeom>
        </p:spPr>
      </p:pic>
      <p:sp>
        <p:nvSpPr>
          <p:cNvPr id="148" name="Shape 144"/>
          <p:cNvSpPr/>
          <p:nvPr/>
        </p:nvSpPr>
        <p:spPr>
          <a:xfrm>
            <a:off x="5404104" y="2400300"/>
            <a:ext cx="3803904" cy="1376172"/>
          </a:xfrm>
          <a:prstGeom prst="rect">
            <a:avLst/>
          </a:prstGeom>
          <a:ln w="6350">
            <a:solidFill>
              <a:srgbClr val="D0DCE8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>
            <a:off x="5404104" y="3831336"/>
            <a:ext cx="3803904" cy="16459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0" name="Text 146"/>
          <p:cNvSpPr/>
          <p:nvPr/>
        </p:nvSpPr>
        <p:spPr>
          <a:xfrm>
            <a:off x="5431536" y="3831336"/>
            <a:ext cx="3767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OUTPUT  ·  Ground Displacement Time-Series</a:t>
            </a:r>
            <a:endParaRPr lang="en-US" sz="700" dirty="0"/>
          </a:p>
        </p:txBody>
      </p:sp>
      <p:pic>
        <p:nvPicPr>
          <p:cNvPr id="1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3995928"/>
            <a:ext cx="3803904" cy="1211580"/>
          </a:xfrm>
          <a:prstGeom prst="rect">
            <a:avLst/>
          </a:prstGeom>
        </p:spPr>
      </p:pic>
      <p:sp>
        <p:nvSpPr>
          <p:cNvPr id="152" name="Shape 147"/>
          <p:cNvSpPr/>
          <p:nvPr/>
        </p:nvSpPr>
        <p:spPr>
          <a:xfrm>
            <a:off x="5404104" y="3831336"/>
            <a:ext cx="3803904" cy="1376172"/>
          </a:xfrm>
          <a:prstGeom prst="rect">
            <a:avLst/>
          </a:prstGeom>
          <a:ln w="6350">
            <a:solidFill>
              <a:srgbClr val="D0DCE8"/>
            </a:solidFill>
            <a:prstDash val="solid"/>
          </a:ln>
        </p:spPr>
      </p:sp>
      <p:sp>
        <p:nvSpPr>
          <p:cNvPr id="153" name="Shape 148"/>
          <p:cNvSpPr/>
          <p:nvPr/>
        </p:nvSpPr>
        <p:spPr>
          <a:xfrm>
            <a:off x="5404104" y="5262372"/>
            <a:ext cx="3803904" cy="16459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4" name="Text 149"/>
          <p:cNvSpPr/>
          <p:nvPr/>
        </p:nvSpPr>
        <p:spPr>
          <a:xfrm>
            <a:off x="5431536" y="5262372"/>
            <a:ext cx="37673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OUTPUT  ·  Susceptibility Zone + Exposure Map</a:t>
            </a:r>
            <a:endParaRPr lang="en-US" sz="700" dirty="0"/>
          </a:p>
        </p:txBody>
      </p:sp>
      <p:pic>
        <p:nvPicPr>
          <p:cNvPr id="1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5426964"/>
            <a:ext cx="3803904" cy="1211580"/>
          </a:xfrm>
          <a:prstGeom prst="rect">
            <a:avLst/>
          </a:prstGeom>
        </p:spPr>
      </p:pic>
      <p:sp>
        <p:nvSpPr>
          <p:cNvPr id="156" name="Shape 150"/>
          <p:cNvSpPr/>
          <p:nvPr/>
        </p:nvSpPr>
        <p:spPr>
          <a:xfrm>
            <a:off x="5404104" y="5262372"/>
            <a:ext cx="3803904" cy="1376172"/>
          </a:xfrm>
          <a:prstGeom prst="rect">
            <a:avLst/>
          </a:prstGeom>
          <a:ln w="6350">
            <a:solidFill>
              <a:srgbClr val="D0DCE8"/>
            </a:solidFill>
            <a:prstDash val="solid"/>
          </a:ln>
        </p:spPr>
      </p:sp>
      <p:sp>
        <p:nvSpPr>
          <p:cNvPr id="157" name="Shape 151"/>
          <p:cNvSpPr/>
          <p:nvPr/>
        </p:nvSpPr>
        <p:spPr>
          <a:xfrm>
            <a:off x="9363456" y="969264"/>
            <a:ext cx="2724912" cy="960120"/>
          </a:xfrm>
          <a:prstGeom prst="rect">
            <a:avLst/>
          </a:prstGeom>
          <a:solidFill>
            <a:srgbClr val="FDF6E9"/>
          </a:solidFill>
          <a:ln w="10160">
            <a:solidFill>
              <a:srgbClr val="E9A84C"/>
            </a:solidFill>
            <a:prstDash val="solid"/>
          </a:ln>
        </p:spPr>
      </p:sp>
      <p:sp>
        <p:nvSpPr>
          <p:cNvPr id="158" name="Text 152"/>
          <p:cNvSpPr/>
          <p:nvPr/>
        </p:nvSpPr>
        <p:spPr>
          <a:xfrm>
            <a:off x="9400032" y="1005840"/>
            <a:ext cx="2651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80" kern="0" dirty="0">
                <a:solidFill>
                  <a:srgbClr val="B0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AI / ML ENHANCEMENT</a:t>
            </a:r>
            <a:endParaRPr lang="en-US" sz="700" dirty="0"/>
          </a:p>
        </p:txBody>
      </p:sp>
      <p:sp>
        <p:nvSpPr>
          <p:cNvPr id="159" name="Shape 153"/>
          <p:cNvSpPr/>
          <p:nvPr/>
        </p:nvSpPr>
        <p:spPr>
          <a:xfrm>
            <a:off x="9400032" y="1207008"/>
            <a:ext cx="64008" cy="64008"/>
          </a:xfrm>
          <a:prstGeom prst="ellipse">
            <a:avLst/>
          </a:prstGeom>
          <a:solidFill>
            <a:srgbClr val="B07316"/>
          </a:solidFill>
          <a:ln w="12700">
            <a:solidFill>
              <a:srgbClr val="B07316"/>
            </a:solidFill>
            <a:prstDash val="solid"/>
          </a:ln>
        </p:spPr>
      </p:sp>
      <p:sp>
        <p:nvSpPr>
          <p:cNvPr id="160" name="Text 154"/>
          <p:cNvSpPr/>
          <p:nvPr/>
        </p:nvSpPr>
        <p:spPr>
          <a:xfrm>
            <a:off x="9509760" y="1170432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landslide susceptibility mapping</a:t>
            </a:r>
            <a:endParaRPr lang="en-US" sz="700" dirty="0"/>
          </a:p>
        </p:txBody>
      </p:sp>
      <p:sp>
        <p:nvSpPr>
          <p:cNvPr id="161" name="Shape 155"/>
          <p:cNvSpPr/>
          <p:nvPr/>
        </p:nvSpPr>
        <p:spPr>
          <a:xfrm>
            <a:off x="9400032" y="1380744"/>
            <a:ext cx="64008" cy="64008"/>
          </a:xfrm>
          <a:prstGeom prst="ellipse">
            <a:avLst/>
          </a:prstGeom>
          <a:solidFill>
            <a:srgbClr val="B07316"/>
          </a:solidFill>
          <a:ln w="12700">
            <a:solidFill>
              <a:srgbClr val="B07316"/>
            </a:solidFill>
            <a:prstDash val="solid"/>
          </a:ln>
        </p:spPr>
      </p:sp>
      <p:sp>
        <p:nvSpPr>
          <p:cNvPr id="162" name="Text 156"/>
          <p:cNvSpPr/>
          <p:nvPr/>
        </p:nvSpPr>
        <p:spPr>
          <a:xfrm>
            <a:off x="9509760" y="1344168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Gradient Boosting classification</a:t>
            </a:r>
            <a:endParaRPr lang="en-US" sz="700" dirty="0"/>
          </a:p>
        </p:txBody>
      </p:sp>
      <p:sp>
        <p:nvSpPr>
          <p:cNvPr id="163" name="Shape 157"/>
          <p:cNvSpPr/>
          <p:nvPr/>
        </p:nvSpPr>
        <p:spPr>
          <a:xfrm>
            <a:off x="9400032" y="1554480"/>
            <a:ext cx="64008" cy="64008"/>
          </a:xfrm>
          <a:prstGeom prst="ellipse">
            <a:avLst/>
          </a:prstGeom>
          <a:solidFill>
            <a:srgbClr val="B07316"/>
          </a:solidFill>
          <a:ln w="12700">
            <a:solidFill>
              <a:srgbClr val="B07316"/>
            </a:solidFill>
            <a:prstDash val="solid"/>
          </a:ln>
        </p:spPr>
      </p:sp>
      <p:sp>
        <p:nvSpPr>
          <p:cNvPr id="164" name="Text 158"/>
          <p:cNvSpPr/>
          <p:nvPr/>
        </p:nvSpPr>
        <p:spPr>
          <a:xfrm>
            <a:off x="9509760" y="1517904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Interferometry (InSAR) displacement</a:t>
            </a:r>
            <a:endParaRPr lang="en-US" sz="700" dirty="0"/>
          </a:p>
        </p:txBody>
      </p:sp>
      <p:sp>
        <p:nvSpPr>
          <p:cNvPr id="165" name="Shape 159"/>
          <p:cNvSpPr/>
          <p:nvPr/>
        </p:nvSpPr>
        <p:spPr>
          <a:xfrm>
            <a:off x="9400032" y="1728216"/>
            <a:ext cx="64008" cy="64008"/>
          </a:xfrm>
          <a:prstGeom prst="ellipse">
            <a:avLst/>
          </a:prstGeom>
          <a:solidFill>
            <a:srgbClr val="B07316"/>
          </a:solidFill>
          <a:ln w="12700">
            <a:solidFill>
              <a:srgbClr val="B07316"/>
            </a:solidFill>
            <a:prstDash val="solid"/>
          </a:ln>
        </p:spPr>
      </p:sp>
      <p:sp>
        <p:nvSpPr>
          <p:cNvPr id="166" name="Text 160"/>
          <p:cNvSpPr/>
          <p:nvPr/>
        </p:nvSpPr>
        <p:spPr>
          <a:xfrm>
            <a:off x="9509760" y="1691640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I-D prediction model</a:t>
            </a:r>
            <a:endParaRPr lang="en-US" sz="700" dirty="0"/>
          </a:p>
        </p:txBody>
      </p:sp>
      <p:sp>
        <p:nvSpPr>
          <p:cNvPr id="167" name="Shape 161"/>
          <p:cNvSpPr/>
          <p:nvPr/>
        </p:nvSpPr>
        <p:spPr>
          <a:xfrm>
            <a:off x="9363456" y="1965960"/>
            <a:ext cx="2724912" cy="384048"/>
          </a:xfrm>
          <a:prstGeom prst="rect">
            <a:avLst/>
          </a:prstGeom>
          <a:solidFill>
            <a:srgbClr val="FDF3E3"/>
          </a:solidFill>
          <a:ln w="10160">
            <a:solidFill>
              <a:srgbClr val="E9A84C"/>
            </a:solidFill>
            <a:prstDash val="solid"/>
          </a:ln>
        </p:spPr>
      </p:sp>
      <p:sp>
        <p:nvSpPr>
          <p:cNvPr id="168" name="Text 162"/>
          <p:cNvSpPr/>
          <p:nvPr/>
        </p:nvSpPr>
        <p:spPr>
          <a:xfrm>
            <a:off x="9400032" y="2002536"/>
            <a:ext cx="265176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80" kern="0" dirty="0">
                <a:solidFill>
                  <a:srgbClr val="B0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650" dirty="0"/>
          </a:p>
        </p:txBody>
      </p:sp>
      <p:sp>
        <p:nvSpPr>
          <p:cNvPr id="169" name="Text 163"/>
          <p:cNvSpPr/>
          <p:nvPr/>
        </p:nvSpPr>
        <p:spPr>
          <a:xfrm>
            <a:off x="9400032" y="2130552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integration in Phase 2 — augmenting deterministic models with predictive intelligence. Starting ~3 months post sensor data availability.</a:t>
            </a:r>
            <a:endParaRPr lang="en-US" sz="650" dirty="0"/>
          </a:p>
        </p:txBody>
      </p:sp>
      <p:sp>
        <p:nvSpPr>
          <p:cNvPr id="170" name="Shape 164"/>
          <p:cNvSpPr/>
          <p:nvPr/>
        </p:nvSpPr>
        <p:spPr>
          <a:xfrm>
            <a:off x="9363456" y="2404872"/>
            <a:ext cx="2724912" cy="797357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1" name="Shape 165"/>
          <p:cNvSpPr/>
          <p:nvPr/>
        </p:nvSpPr>
        <p:spPr>
          <a:xfrm>
            <a:off x="9363456" y="2404872"/>
            <a:ext cx="36576" cy="797357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2" name="Text 166"/>
          <p:cNvSpPr/>
          <p:nvPr/>
        </p:nvSpPr>
        <p:spPr>
          <a:xfrm>
            <a:off x="9445752" y="2432304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 Susceptibility Zone Map</a:t>
            </a:r>
            <a:endParaRPr lang="en-US" sz="780" dirty="0"/>
          </a:p>
        </p:txBody>
      </p:sp>
      <p:sp>
        <p:nvSpPr>
          <p:cNvPr id="173" name="Text 167"/>
          <p:cNvSpPr/>
          <p:nvPr/>
        </p:nvSpPr>
        <p:spPr>
          <a:xfrm>
            <a:off x="9445752" y="2596896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GeoTIFF / GeoJSON · Risk index 0–100</a:t>
            </a:r>
            <a:endParaRPr lang="en-US" sz="650" dirty="0"/>
          </a:p>
        </p:txBody>
      </p:sp>
      <p:sp>
        <p:nvSpPr>
          <p:cNvPr id="174" name="Text 168"/>
          <p:cNvSpPr/>
          <p:nvPr/>
        </p:nvSpPr>
        <p:spPr>
          <a:xfrm>
            <a:off x="9445752" y="2706624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0–500 mm index scale</a:t>
            </a:r>
            <a:endParaRPr lang="en-US" sz="620" dirty="0"/>
          </a:p>
        </p:txBody>
      </p:sp>
      <p:sp>
        <p:nvSpPr>
          <p:cNvPr id="175" name="Shape 169"/>
          <p:cNvSpPr/>
          <p:nvPr/>
        </p:nvSpPr>
        <p:spPr>
          <a:xfrm>
            <a:off x="9445752" y="3037637"/>
            <a:ext cx="327355" cy="128016"/>
          </a:xfrm>
          <a:prstGeom prst="roundRect">
            <a:avLst>
              <a:gd name="adj" fmla="val 42857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176" name="Text 170"/>
          <p:cNvSpPr/>
          <p:nvPr/>
        </p:nvSpPr>
        <p:spPr>
          <a:xfrm>
            <a:off x="9445752" y="3037637"/>
            <a:ext cx="32735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600" dirty="0"/>
          </a:p>
        </p:txBody>
      </p:sp>
      <p:sp>
        <p:nvSpPr>
          <p:cNvPr id="177" name="Shape 171"/>
          <p:cNvSpPr/>
          <p:nvPr/>
        </p:nvSpPr>
        <p:spPr>
          <a:xfrm>
            <a:off x="9818827" y="3037637"/>
            <a:ext cx="508406" cy="128016"/>
          </a:xfrm>
          <a:prstGeom prst="roundRect">
            <a:avLst>
              <a:gd name="adj" fmla="val 42857"/>
            </a:avLst>
          </a:prstGeom>
          <a:solidFill>
            <a:srgbClr val="FEF3DB"/>
          </a:solidFill>
          <a:ln w="12700">
            <a:solidFill>
              <a:srgbClr val="FEF3DB"/>
            </a:solidFill>
            <a:prstDash val="solid"/>
          </a:ln>
        </p:spPr>
      </p:sp>
      <p:sp>
        <p:nvSpPr>
          <p:cNvPr id="178" name="Text 172"/>
          <p:cNvSpPr/>
          <p:nvPr/>
        </p:nvSpPr>
        <p:spPr>
          <a:xfrm>
            <a:off x="9818827" y="3037637"/>
            <a:ext cx="50840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A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00" dirty="0"/>
          </a:p>
        </p:txBody>
      </p:sp>
      <p:sp>
        <p:nvSpPr>
          <p:cNvPr id="179" name="Shape 173"/>
          <p:cNvSpPr/>
          <p:nvPr/>
        </p:nvSpPr>
        <p:spPr>
          <a:xfrm>
            <a:off x="10372954" y="3037637"/>
            <a:ext cx="387706" cy="128016"/>
          </a:xfrm>
          <a:prstGeom prst="roundRect">
            <a:avLst>
              <a:gd name="adj" fmla="val 42857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80" name="Text 174"/>
          <p:cNvSpPr/>
          <p:nvPr/>
        </p:nvSpPr>
        <p:spPr>
          <a:xfrm>
            <a:off x="10372954" y="3037637"/>
            <a:ext cx="38770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00" dirty="0"/>
          </a:p>
        </p:txBody>
      </p:sp>
      <p:sp>
        <p:nvSpPr>
          <p:cNvPr id="181" name="Shape 175"/>
          <p:cNvSpPr/>
          <p:nvPr/>
        </p:nvSpPr>
        <p:spPr>
          <a:xfrm>
            <a:off x="10806379" y="3037637"/>
            <a:ext cx="508406" cy="128016"/>
          </a:xfrm>
          <a:prstGeom prst="roundRect">
            <a:avLst>
              <a:gd name="adj" fmla="val 42857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82" name="Text 176"/>
          <p:cNvSpPr/>
          <p:nvPr/>
        </p:nvSpPr>
        <p:spPr>
          <a:xfrm>
            <a:off x="10806379" y="3037637"/>
            <a:ext cx="50840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600" dirty="0"/>
          </a:p>
        </p:txBody>
      </p:sp>
      <p:sp>
        <p:nvSpPr>
          <p:cNvPr id="183" name="Shape 177"/>
          <p:cNvSpPr/>
          <p:nvPr/>
        </p:nvSpPr>
        <p:spPr>
          <a:xfrm>
            <a:off x="9363456" y="3247949"/>
            <a:ext cx="2724912" cy="797357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4" name="Shape 178"/>
          <p:cNvSpPr/>
          <p:nvPr/>
        </p:nvSpPr>
        <p:spPr>
          <a:xfrm>
            <a:off x="9363456" y="3247949"/>
            <a:ext cx="36576" cy="797357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85" name="Text 179"/>
          <p:cNvSpPr/>
          <p:nvPr/>
        </p:nvSpPr>
        <p:spPr>
          <a:xfrm>
            <a:off x="9445752" y="3275381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Deformation Detection</a:t>
            </a:r>
            <a:endParaRPr lang="en-US" sz="780" dirty="0"/>
          </a:p>
        </p:txBody>
      </p:sp>
      <p:sp>
        <p:nvSpPr>
          <p:cNvPr id="186" name="Text 180"/>
          <p:cNvSpPr/>
          <p:nvPr/>
        </p:nvSpPr>
        <p:spPr>
          <a:xfrm>
            <a:off x="9445752" y="3439973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InSAR / Sensor · mm-scale precision</a:t>
            </a:r>
            <a:endParaRPr lang="en-US" sz="650" dirty="0"/>
          </a:p>
        </p:txBody>
      </p:sp>
      <p:sp>
        <p:nvSpPr>
          <p:cNvPr id="187" name="Text 181"/>
          <p:cNvSpPr/>
          <p:nvPr/>
        </p:nvSpPr>
        <p:spPr>
          <a:xfrm>
            <a:off x="9445752" y="3549701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0–500 mm shift</a:t>
            </a:r>
            <a:endParaRPr lang="en-US" sz="620" dirty="0"/>
          </a:p>
        </p:txBody>
      </p:sp>
      <p:sp>
        <p:nvSpPr>
          <p:cNvPr id="188" name="Shape 182"/>
          <p:cNvSpPr/>
          <p:nvPr/>
        </p:nvSpPr>
        <p:spPr>
          <a:xfrm>
            <a:off x="9445752" y="3880714"/>
            <a:ext cx="508406" cy="128016"/>
          </a:xfrm>
          <a:prstGeom prst="roundRect">
            <a:avLst>
              <a:gd name="adj" fmla="val 42857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189" name="Text 183"/>
          <p:cNvSpPr/>
          <p:nvPr/>
        </p:nvSpPr>
        <p:spPr>
          <a:xfrm>
            <a:off x="9445752" y="3880714"/>
            <a:ext cx="50840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600" dirty="0"/>
          </a:p>
        </p:txBody>
      </p:sp>
      <p:sp>
        <p:nvSpPr>
          <p:cNvPr id="190" name="Shape 184"/>
          <p:cNvSpPr/>
          <p:nvPr/>
        </p:nvSpPr>
        <p:spPr>
          <a:xfrm>
            <a:off x="9999878" y="3880714"/>
            <a:ext cx="508406" cy="128016"/>
          </a:xfrm>
          <a:prstGeom prst="roundRect">
            <a:avLst>
              <a:gd name="adj" fmla="val 42857"/>
            </a:avLst>
          </a:prstGeom>
          <a:solidFill>
            <a:srgbClr val="FEF3DB"/>
          </a:solidFill>
          <a:ln w="12700">
            <a:solidFill>
              <a:srgbClr val="FEF3DB"/>
            </a:solidFill>
            <a:prstDash val="solid"/>
          </a:ln>
        </p:spPr>
      </p:sp>
      <p:sp>
        <p:nvSpPr>
          <p:cNvPr id="191" name="Text 185"/>
          <p:cNvSpPr/>
          <p:nvPr/>
        </p:nvSpPr>
        <p:spPr>
          <a:xfrm>
            <a:off x="9999878" y="3880714"/>
            <a:ext cx="50840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A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600" dirty="0"/>
          </a:p>
        </p:txBody>
      </p:sp>
      <p:sp>
        <p:nvSpPr>
          <p:cNvPr id="192" name="Shape 186"/>
          <p:cNvSpPr/>
          <p:nvPr/>
        </p:nvSpPr>
        <p:spPr>
          <a:xfrm>
            <a:off x="10554005" y="3880714"/>
            <a:ext cx="870509" cy="128016"/>
          </a:xfrm>
          <a:prstGeom prst="roundRect">
            <a:avLst>
              <a:gd name="adj" fmla="val 42857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93" name="Text 187"/>
          <p:cNvSpPr/>
          <p:nvPr/>
        </p:nvSpPr>
        <p:spPr>
          <a:xfrm>
            <a:off x="10554005" y="3880714"/>
            <a:ext cx="870509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Risk</a:t>
            </a:r>
            <a:endParaRPr lang="en-US" sz="600" dirty="0"/>
          </a:p>
        </p:txBody>
      </p:sp>
      <p:sp>
        <p:nvSpPr>
          <p:cNvPr id="194" name="Shape 188"/>
          <p:cNvSpPr/>
          <p:nvPr/>
        </p:nvSpPr>
        <p:spPr>
          <a:xfrm>
            <a:off x="9363456" y="4091026"/>
            <a:ext cx="2724912" cy="797357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95" name="Shape 189"/>
          <p:cNvSpPr/>
          <p:nvPr/>
        </p:nvSpPr>
        <p:spPr>
          <a:xfrm>
            <a:off x="9363456" y="4091026"/>
            <a:ext cx="36576" cy="797357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96" name="Text 190"/>
          <p:cNvSpPr/>
          <p:nvPr/>
        </p:nvSpPr>
        <p:spPr>
          <a:xfrm>
            <a:off x="9445752" y="4118458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Exposure Analysis</a:t>
            </a:r>
            <a:endParaRPr lang="en-US" sz="780" dirty="0"/>
          </a:p>
        </p:txBody>
      </p:sp>
      <p:sp>
        <p:nvSpPr>
          <p:cNvPr id="197" name="Text 191"/>
          <p:cNvSpPr/>
          <p:nvPr/>
        </p:nvSpPr>
        <p:spPr>
          <a:xfrm>
            <a:off x="9445752" y="4283050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GeoJSON · Per-event composite</a:t>
            </a:r>
            <a:endParaRPr lang="en-US" sz="650" dirty="0"/>
          </a:p>
        </p:txBody>
      </p:sp>
      <p:sp>
        <p:nvSpPr>
          <p:cNvPr id="198" name="Text 192"/>
          <p:cNvSpPr/>
          <p:nvPr/>
        </p:nvSpPr>
        <p:spPr>
          <a:xfrm>
            <a:off x="9445752" y="4392778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100 – millions · Infra 0–1000+</a:t>
            </a:r>
            <a:endParaRPr lang="en-US" sz="620" dirty="0"/>
          </a:p>
        </p:txBody>
      </p:sp>
      <p:sp>
        <p:nvSpPr>
          <p:cNvPr id="199" name="Shape 193"/>
          <p:cNvSpPr/>
          <p:nvPr/>
        </p:nvSpPr>
        <p:spPr>
          <a:xfrm>
            <a:off x="9445752" y="4723790"/>
            <a:ext cx="327355" cy="128016"/>
          </a:xfrm>
          <a:prstGeom prst="roundRect">
            <a:avLst>
              <a:gd name="adj" fmla="val 42857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00" name="Text 194"/>
          <p:cNvSpPr/>
          <p:nvPr/>
        </p:nvSpPr>
        <p:spPr>
          <a:xfrm>
            <a:off x="9445752" y="4723790"/>
            <a:ext cx="327355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600" dirty="0"/>
          </a:p>
        </p:txBody>
      </p:sp>
      <p:sp>
        <p:nvSpPr>
          <p:cNvPr id="201" name="Shape 195"/>
          <p:cNvSpPr/>
          <p:nvPr/>
        </p:nvSpPr>
        <p:spPr>
          <a:xfrm>
            <a:off x="9818827" y="4723790"/>
            <a:ext cx="508406" cy="128016"/>
          </a:xfrm>
          <a:prstGeom prst="roundRect">
            <a:avLst>
              <a:gd name="adj" fmla="val 42857"/>
            </a:avLst>
          </a:prstGeom>
          <a:solidFill>
            <a:srgbClr val="FEF3DB"/>
          </a:solidFill>
          <a:ln w="12700">
            <a:solidFill>
              <a:srgbClr val="FEF3DB"/>
            </a:solidFill>
            <a:prstDash val="solid"/>
          </a:ln>
        </p:spPr>
      </p:sp>
      <p:sp>
        <p:nvSpPr>
          <p:cNvPr id="202" name="Text 196"/>
          <p:cNvSpPr/>
          <p:nvPr/>
        </p:nvSpPr>
        <p:spPr>
          <a:xfrm>
            <a:off x="9818827" y="4723790"/>
            <a:ext cx="50840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A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600" dirty="0"/>
          </a:p>
        </p:txBody>
      </p:sp>
      <p:sp>
        <p:nvSpPr>
          <p:cNvPr id="203" name="Shape 197"/>
          <p:cNvSpPr/>
          <p:nvPr/>
        </p:nvSpPr>
        <p:spPr>
          <a:xfrm>
            <a:off x="10372954" y="4723790"/>
            <a:ext cx="629107" cy="128016"/>
          </a:xfrm>
          <a:prstGeom prst="roundRect">
            <a:avLst>
              <a:gd name="adj" fmla="val 42857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204" name="Text 198"/>
          <p:cNvSpPr/>
          <p:nvPr/>
        </p:nvSpPr>
        <p:spPr>
          <a:xfrm>
            <a:off x="10372954" y="4723790"/>
            <a:ext cx="629107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600" dirty="0"/>
          </a:p>
        </p:txBody>
      </p:sp>
      <p:sp>
        <p:nvSpPr>
          <p:cNvPr id="205" name="Shape 199"/>
          <p:cNvSpPr/>
          <p:nvPr/>
        </p:nvSpPr>
        <p:spPr>
          <a:xfrm>
            <a:off x="9363456" y="4934102"/>
            <a:ext cx="2724912" cy="797357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06" name="Shape 200"/>
          <p:cNvSpPr/>
          <p:nvPr/>
        </p:nvSpPr>
        <p:spPr>
          <a:xfrm>
            <a:off x="9363456" y="4934102"/>
            <a:ext cx="36576" cy="797357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7" name="Text 201"/>
          <p:cNvSpPr/>
          <p:nvPr/>
        </p:nvSpPr>
        <p:spPr>
          <a:xfrm>
            <a:off x="9445752" y="4961534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Blockage + Debris Flow Map</a:t>
            </a:r>
            <a:endParaRPr lang="en-US" sz="780" dirty="0"/>
          </a:p>
        </p:txBody>
      </p:sp>
      <p:sp>
        <p:nvSpPr>
          <p:cNvPr id="208" name="Text 202"/>
          <p:cNvSpPr/>
          <p:nvPr/>
        </p:nvSpPr>
        <p:spPr>
          <a:xfrm>
            <a:off x="9445752" y="5126126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 flow reach 45–100+ km</a:t>
            </a:r>
            <a:endParaRPr lang="en-US" sz="650" dirty="0"/>
          </a:p>
        </p:txBody>
      </p:sp>
      <p:sp>
        <p:nvSpPr>
          <p:cNvPr id="209" name="Text 203"/>
          <p:cNvSpPr/>
          <p:nvPr/>
        </p:nvSpPr>
        <p:spPr>
          <a:xfrm>
            <a:off x="9445752" y="5235854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0–1000+ assets affected</a:t>
            </a:r>
            <a:endParaRPr lang="en-US" sz="620" dirty="0"/>
          </a:p>
        </p:txBody>
      </p:sp>
      <p:sp>
        <p:nvSpPr>
          <p:cNvPr id="210" name="Shape 204"/>
          <p:cNvSpPr/>
          <p:nvPr/>
        </p:nvSpPr>
        <p:spPr>
          <a:xfrm>
            <a:off x="9445752" y="5566867"/>
            <a:ext cx="749808" cy="128016"/>
          </a:xfrm>
          <a:prstGeom prst="roundRect">
            <a:avLst>
              <a:gd name="adj" fmla="val 42857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11" name="Text 205"/>
          <p:cNvSpPr/>
          <p:nvPr/>
        </p:nvSpPr>
        <p:spPr>
          <a:xfrm>
            <a:off x="9445752" y="5566867"/>
            <a:ext cx="74980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600" dirty="0"/>
          </a:p>
        </p:txBody>
      </p:sp>
      <p:sp>
        <p:nvSpPr>
          <p:cNvPr id="212" name="Shape 206"/>
          <p:cNvSpPr/>
          <p:nvPr/>
        </p:nvSpPr>
        <p:spPr>
          <a:xfrm>
            <a:off x="10241280" y="5566867"/>
            <a:ext cx="689458" cy="128016"/>
          </a:xfrm>
          <a:prstGeom prst="roundRect">
            <a:avLst>
              <a:gd name="adj" fmla="val 42857"/>
            </a:avLst>
          </a:prstGeom>
          <a:solidFill>
            <a:srgbClr val="FEF3DB"/>
          </a:solidFill>
          <a:ln w="12700">
            <a:solidFill>
              <a:srgbClr val="FEF3DB"/>
            </a:solidFill>
            <a:prstDash val="solid"/>
          </a:ln>
        </p:spPr>
      </p:sp>
      <p:sp>
        <p:nvSpPr>
          <p:cNvPr id="213" name="Text 207"/>
          <p:cNvSpPr/>
          <p:nvPr/>
        </p:nvSpPr>
        <p:spPr>
          <a:xfrm>
            <a:off x="10241280" y="5566867"/>
            <a:ext cx="68945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A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600" dirty="0"/>
          </a:p>
        </p:txBody>
      </p:sp>
      <p:sp>
        <p:nvSpPr>
          <p:cNvPr id="214" name="Shape 208"/>
          <p:cNvSpPr/>
          <p:nvPr/>
        </p:nvSpPr>
        <p:spPr>
          <a:xfrm>
            <a:off x="10976458" y="5566867"/>
            <a:ext cx="568757" cy="128016"/>
          </a:xfrm>
          <a:prstGeom prst="roundRect">
            <a:avLst>
              <a:gd name="adj" fmla="val 42857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215" name="Text 209"/>
          <p:cNvSpPr/>
          <p:nvPr/>
        </p:nvSpPr>
        <p:spPr>
          <a:xfrm>
            <a:off x="10976458" y="5566867"/>
            <a:ext cx="568757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600" dirty="0"/>
          </a:p>
        </p:txBody>
      </p:sp>
      <p:sp>
        <p:nvSpPr>
          <p:cNvPr id="216" name="Shape 210"/>
          <p:cNvSpPr/>
          <p:nvPr/>
        </p:nvSpPr>
        <p:spPr>
          <a:xfrm>
            <a:off x="9363456" y="5777179"/>
            <a:ext cx="2724912" cy="797357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7" name="Shape 211"/>
          <p:cNvSpPr/>
          <p:nvPr/>
        </p:nvSpPr>
        <p:spPr>
          <a:xfrm>
            <a:off x="9363456" y="5777179"/>
            <a:ext cx="36576" cy="797357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8" name="Text 212"/>
          <p:cNvSpPr/>
          <p:nvPr/>
        </p:nvSpPr>
        <p:spPr>
          <a:xfrm>
            <a:off x="9445752" y="5804611"/>
            <a:ext cx="25968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&amp; Emergency Priority</a:t>
            </a:r>
            <a:endParaRPr lang="en-US" sz="780" dirty="0"/>
          </a:p>
        </p:txBody>
      </p:sp>
      <p:sp>
        <p:nvSpPr>
          <p:cNvPr id="219" name="Text 213"/>
          <p:cNvSpPr/>
          <p:nvPr/>
        </p:nvSpPr>
        <p:spPr>
          <a:xfrm>
            <a:off x="9445752" y="5969203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– minutes · 1–20 km evac radius</a:t>
            </a:r>
            <a:endParaRPr lang="en-US" sz="650" dirty="0"/>
          </a:p>
        </p:txBody>
      </p:sp>
      <p:sp>
        <p:nvSpPr>
          <p:cNvPr id="220" name="Text 214"/>
          <p:cNvSpPr/>
          <p:nvPr/>
        </p:nvSpPr>
        <p:spPr>
          <a:xfrm>
            <a:off x="9445752" y="6078931"/>
            <a:ext cx="2596896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Shelter: 0–100% occupancy</a:t>
            </a:r>
            <a:endParaRPr lang="en-US" sz="620" dirty="0"/>
          </a:p>
        </p:txBody>
      </p:sp>
      <p:sp>
        <p:nvSpPr>
          <p:cNvPr id="221" name="Shape 215"/>
          <p:cNvSpPr/>
          <p:nvPr/>
        </p:nvSpPr>
        <p:spPr>
          <a:xfrm>
            <a:off x="9445752" y="6409944"/>
            <a:ext cx="629107" cy="128016"/>
          </a:xfrm>
          <a:prstGeom prst="roundRect">
            <a:avLst>
              <a:gd name="adj" fmla="val 42857"/>
            </a:avLst>
          </a:prstGeom>
          <a:solidFill>
            <a:srgbClr val="D6E9FF"/>
          </a:solidFill>
          <a:ln w="12700">
            <a:solidFill>
              <a:srgbClr val="D6E9FF"/>
            </a:solidFill>
            <a:prstDash val="solid"/>
          </a:ln>
        </p:spPr>
      </p:sp>
      <p:sp>
        <p:nvSpPr>
          <p:cNvPr id="222" name="Text 216"/>
          <p:cNvSpPr/>
          <p:nvPr/>
        </p:nvSpPr>
        <p:spPr>
          <a:xfrm>
            <a:off x="9445752" y="6409944"/>
            <a:ext cx="629107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600" dirty="0"/>
          </a:p>
        </p:txBody>
      </p:sp>
      <p:sp>
        <p:nvSpPr>
          <p:cNvPr id="223" name="Shape 217"/>
          <p:cNvSpPr/>
          <p:nvPr/>
        </p:nvSpPr>
        <p:spPr>
          <a:xfrm>
            <a:off x="10120579" y="6409944"/>
            <a:ext cx="448056" cy="128016"/>
          </a:xfrm>
          <a:prstGeom prst="roundRect">
            <a:avLst>
              <a:gd name="adj" fmla="val 42857"/>
            </a:avLst>
          </a:prstGeom>
          <a:solidFill>
            <a:srgbClr val="FEF3DB"/>
          </a:solidFill>
          <a:ln w="12700">
            <a:solidFill>
              <a:srgbClr val="FEF3DB"/>
            </a:solidFill>
            <a:prstDash val="solid"/>
          </a:ln>
        </p:spPr>
      </p:sp>
      <p:sp>
        <p:nvSpPr>
          <p:cNvPr id="224" name="Text 218"/>
          <p:cNvSpPr/>
          <p:nvPr/>
        </p:nvSpPr>
        <p:spPr>
          <a:xfrm>
            <a:off x="10120579" y="6409944"/>
            <a:ext cx="4480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A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600" dirty="0"/>
          </a:p>
        </p:txBody>
      </p:sp>
      <p:sp>
        <p:nvSpPr>
          <p:cNvPr id="225" name="Shape 219"/>
          <p:cNvSpPr/>
          <p:nvPr/>
        </p:nvSpPr>
        <p:spPr>
          <a:xfrm>
            <a:off x="10614355" y="6409944"/>
            <a:ext cx="568757" cy="128016"/>
          </a:xfrm>
          <a:prstGeom prst="roundRect">
            <a:avLst>
              <a:gd name="adj" fmla="val 42857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226" name="Text 220"/>
          <p:cNvSpPr/>
          <p:nvPr/>
        </p:nvSpPr>
        <p:spPr>
          <a:xfrm>
            <a:off x="10614355" y="6409944"/>
            <a:ext cx="568757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600" dirty="0"/>
          </a:p>
        </p:txBody>
      </p:sp>
      <p:sp>
        <p:nvSpPr>
          <p:cNvPr id="227" name="Shape 221"/>
          <p:cNvSpPr/>
          <p:nvPr/>
        </p:nvSpPr>
        <p:spPr>
          <a:xfrm>
            <a:off x="11228832" y="6409944"/>
            <a:ext cx="689458" cy="128016"/>
          </a:xfrm>
          <a:prstGeom prst="roundRect">
            <a:avLst>
              <a:gd name="adj" fmla="val 42857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228" name="Text 222"/>
          <p:cNvSpPr/>
          <p:nvPr/>
        </p:nvSpPr>
        <p:spPr>
          <a:xfrm>
            <a:off x="11228832" y="6409944"/>
            <a:ext cx="68945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600" dirty="0"/>
          </a:p>
        </p:txBody>
      </p:sp>
      <p:sp>
        <p:nvSpPr>
          <p:cNvPr id="229" name="Shape 223"/>
          <p:cNvSpPr/>
          <p:nvPr/>
        </p:nvSpPr>
        <p:spPr>
          <a:xfrm>
            <a:off x="9363456" y="6492240"/>
            <a:ext cx="2724912" cy="1645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0" name="Text 224"/>
          <p:cNvSpPr/>
          <p:nvPr/>
        </p:nvSpPr>
        <p:spPr>
          <a:xfrm>
            <a:off x="9363456" y="6492240"/>
            <a:ext cx="2724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750" dirty="0"/>
          </a:p>
        </p:txBody>
      </p:sp>
      <p:sp>
        <p:nvSpPr>
          <p:cNvPr id="231" name="Text 225"/>
          <p:cNvSpPr/>
          <p:nvPr/>
        </p:nvSpPr>
        <p:spPr>
          <a:xfrm>
            <a:off x="164592" y="6693408"/>
            <a:ext cx="11658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 Requirement Note: Large-scale landslide hazard assessment will be performed using geospatial AI and slope stability modeling integrated with satellite imagery, remote sensing, terrain morphology, soil moisture, rainfall data, and other geospatial datasets.   |   © 2026 Straive · www.straive.com</a:t>
            </a:r>
            <a:endParaRPr lang="en-US" sz="550" dirty="0"/>
          </a:p>
        </p:txBody>
      </p:sp>
      <p:sp>
        <p:nvSpPr>
          <p:cNvPr id="232" name="Shape 226"/>
          <p:cNvSpPr/>
          <p:nvPr/>
        </p:nvSpPr>
        <p:spPr>
          <a:xfrm>
            <a:off x="11887200" y="6656832"/>
            <a:ext cx="201168" cy="164592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233" name="Text 227"/>
          <p:cNvSpPr/>
          <p:nvPr/>
        </p:nvSpPr>
        <p:spPr>
          <a:xfrm>
            <a:off x="11887200" y="6656832"/>
            <a:ext cx="201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2026-05-18T14:06:58Z</dcterms:created>
  <dcterms:modified xsi:type="dcterms:W3CDTF">2026-05-18T14:06:58Z</dcterms:modified>
</cp:coreProperties>
</file>