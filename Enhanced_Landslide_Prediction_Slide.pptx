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3A5F"/>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E3A5F"/>
          </a:solidFill>
          <a:ln/>
        </p:spPr>
      </p:sp>
      <p:sp>
        <p:nvSpPr>
          <p:cNvPr id="3" name="Text 1"/>
          <p:cNvSpPr/>
          <p:nvPr/>
        </p:nvSpPr>
        <p:spPr>
          <a:xfrm>
            <a:off x="274320" y="137160"/>
            <a:ext cx="8229600" cy="228600"/>
          </a:xfrm>
          <a:prstGeom prst="rect">
            <a:avLst/>
          </a:prstGeom>
          <a:noFill/>
          <a:ln/>
        </p:spPr>
        <p:txBody>
          <a:bodyPr wrap="square" rtlCol="0" anchor="ctr"/>
          <a:lstStyle/>
          <a:p>
            <a:pPr indent="0" marL="0">
              <a:buNone/>
            </a:pPr>
            <a:r>
              <a:rPr lang="en-US" sz="1000" dirty="0">
                <a:solidFill>
                  <a:srgbClr val="C76E6E"/>
                </a:solidFill>
                <a:latin typeface="Calibri" pitchFamily="34" charset="0"/>
                <a:ea typeface="Calibri" pitchFamily="34" charset="-122"/>
                <a:cs typeface="Calibri" pitchFamily="34" charset="-120"/>
              </a:rPr>
              <a:t>USE CASE: LANDSLIDE HAZARD MONITORING &amp; EARLY WARNING</a:t>
            </a:r>
            <a:endParaRPr lang="en-US" sz="1000" dirty="0"/>
          </a:p>
        </p:txBody>
      </p:sp>
      <p:sp>
        <p:nvSpPr>
          <p:cNvPr id="4" name="Text 2"/>
          <p:cNvSpPr/>
          <p:nvPr/>
        </p:nvSpPr>
        <p:spPr>
          <a:xfrm>
            <a:off x="274320" y="365760"/>
            <a:ext cx="8229600" cy="457200"/>
          </a:xfrm>
          <a:prstGeom prst="rect">
            <a:avLst/>
          </a:prstGeom>
          <a:noFill/>
          <a:ln/>
        </p:spPr>
        <p:txBody>
          <a:bodyPr wrap="square"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Landslide Susceptibility Mapping + AI/ML-Based Prediction</a:t>
            </a:r>
            <a:endParaRPr lang="en-US" sz="2600" dirty="0"/>
          </a:p>
        </p:txBody>
      </p:sp>
      <p:sp>
        <p:nvSpPr>
          <p:cNvPr id="5" name="Shape 3"/>
          <p:cNvSpPr/>
          <p:nvPr/>
        </p:nvSpPr>
        <p:spPr>
          <a:xfrm>
            <a:off x="10789920" y="137160"/>
            <a:ext cx="1371600" cy="457200"/>
          </a:xfrm>
          <a:prstGeom prst="rect">
            <a:avLst/>
          </a:prstGeom>
          <a:solidFill>
            <a:srgbClr val="6B9FA0"/>
          </a:solidFill>
          <a:ln w="12700">
            <a:solidFill>
              <a:srgbClr val="FFFFFF"/>
            </a:solidFill>
            <a:prstDash val="solid"/>
          </a:ln>
        </p:spPr>
      </p:sp>
      <p:sp>
        <p:nvSpPr>
          <p:cNvPr id="6" name="Text 4"/>
          <p:cNvSpPr/>
          <p:nvPr/>
        </p:nvSpPr>
        <p:spPr>
          <a:xfrm>
            <a:off x="10789920" y="137160"/>
            <a:ext cx="1371600" cy="457200"/>
          </a:xfrm>
          <a:prstGeom prst="rect">
            <a:avLst/>
          </a:prstGeom>
          <a:noFill/>
          <a:ln/>
        </p:spPr>
        <p:txBody>
          <a:bodyPr wrap="square"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EAS Layer</a:t>
            </a:r>
            <a:endParaRPr lang="en-US" sz="1100" dirty="0"/>
          </a:p>
        </p:txBody>
      </p:sp>
      <p:sp>
        <p:nvSpPr>
          <p:cNvPr id="7" name="Shape 5"/>
          <p:cNvSpPr/>
          <p:nvPr/>
        </p:nvSpPr>
        <p:spPr>
          <a:xfrm>
            <a:off x="228600" y="1051560"/>
            <a:ext cx="2743200" cy="4297680"/>
          </a:xfrm>
          <a:prstGeom prst="rect">
            <a:avLst/>
          </a:prstGeom>
          <a:solidFill>
            <a:srgbClr val="1E3A5F"/>
          </a:solidFill>
          <a:ln w="12700">
            <a:solidFill>
              <a:srgbClr val="4A7BA7"/>
            </a:solidFill>
            <a:prstDash val="solid"/>
          </a:ln>
        </p:spPr>
      </p:sp>
      <p:sp>
        <p:nvSpPr>
          <p:cNvPr id="8" name="Shape 6"/>
          <p:cNvSpPr/>
          <p:nvPr/>
        </p:nvSpPr>
        <p:spPr>
          <a:xfrm>
            <a:off x="365760" y="914400"/>
            <a:ext cx="320040" cy="320040"/>
          </a:xfrm>
          <a:prstGeom prst="ellipse">
            <a:avLst/>
          </a:prstGeom>
          <a:solidFill>
            <a:srgbClr val="FFFFFF"/>
          </a:solidFill>
          <a:ln w="25400">
            <a:solidFill>
              <a:srgbClr val="C76E6E"/>
            </a:solidFill>
            <a:prstDash val="solid"/>
          </a:ln>
        </p:spPr>
      </p:sp>
      <p:sp>
        <p:nvSpPr>
          <p:cNvPr id="9" name="Text 7"/>
          <p:cNvSpPr/>
          <p:nvPr/>
        </p:nvSpPr>
        <p:spPr>
          <a:xfrm>
            <a:off x="365760" y="914400"/>
            <a:ext cx="320040" cy="320040"/>
          </a:xfrm>
          <a:prstGeom prst="rect">
            <a:avLst/>
          </a:prstGeom>
          <a:noFill/>
          <a:ln/>
        </p:spPr>
        <p:txBody>
          <a:bodyPr wrap="square" rtlCol="0" anchor="ctr"/>
          <a:lstStyle/>
          <a:p>
            <a:pPr algn="ctr" indent="0" marL="0">
              <a:buNone/>
            </a:pPr>
            <a:r>
              <a:rPr lang="en-US" sz="1600" b="1" dirty="0">
                <a:solidFill>
                  <a:srgbClr val="C76E6E"/>
                </a:solidFill>
              </a:rPr>
              <a:t>1</a:t>
            </a:r>
            <a:endParaRPr lang="en-US" sz="1600" dirty="0"/>
          </a:p>
        </p:txBody>
      </p:sp>
      <p:sp>
        <p:nvSpPr>
          <p:cNvPr id="10" name="Text 8"/>
          <p:cNvSpPr/>
          <p:nvPr/>
        </p:nvSpPr>
        <p:spPr>
          <a:xfrm>
            <a:off x="228600" y="1280160"/>
            <a:ext cx="2743200" cy="27432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DATA INPUTS</a:t>
            </a:r>
            <a:endParaRPr lang="en-US" sz="1300" dirty="0"/>
          </a:p>
        </p:txBody>
      </p:sp>
      <p:sp>
        <p:nvSpPr>
          <p:cNvPr id="11" name="Shape 9"/>
          <p:cNvSpPr/>
          <p:nvPr/>
        </p:nvSpPr>
        <p:spPr>
          <a:xfrm>
            <a:off x="320040" y="1645920"/>
            <a:ext cx="2560320" cy="530352"/>
          </a:xfrm>
          <a:prstGeom prst="rect">
            <a:avLst/>
          </a:prstGeom>
          <a:solidFill>
            <a:srgbClr val="FFFFFF"/>
          </a:solidFill>
          <a:ln w="12700">
            <a:solidFill>
              <a:srgbClr val="4A7BA7"/>
            </a:solidFill>
            <a:prstDash val="solid"/>
          </a:ln>
        </p:spPr>
      </p:sp>
      <p:sp>
        <p:nvSpPr>
          <p:cNvPr id="12" name="Shape 10"/>
          <p:cNvSpPr/>
          <p:nvPr/>
        </p:nvSpPr>
        <p:spPr>
          <a:xfrm rot="10800000">
            <a:off x="384048" y="1783080"/>
            <a:ext cx="164592" cy="146304"/>
          </a:xfrm>
          <a:prstGeom prst="triangle">
            <a:avLst/>
          </a:prstGeom>
          <a:solidFill>
            <a:srgbClr val="1E3A5F"/>
          </a:solidFill>
          <a:ln w="12700">
            <a:solidFill>
              <a:srgbClr val="1E3A5F"/>
            </a:solidFill>
            <a:prstDash val="solid"/>
          </a:ln>
        </p:spPr>
      </p:sp>
      <p:sp>
        <p:nvSpPr>
          <p:cNvPr id="13" name="Text 11"/>
          <p:cNvSpPr/>
          <p:nvPr/>
        </p:nvSpPr>
        <p:spPr>
          <a:xfrm>
            <a:off x="594360" y="1691640"/>
            <a:ext cx="2194560" cy="182880"/>
          </a:xfrm>
          <a:prstGeom prst="rect">
            <a:avLst/>
          </a:prstGeom>
          <a:noFill/>
          <a:ln/>
        </p:spPr>
        <p:txBody>
          <a:bodyPr wrap="square" rtlCol="0" anchor="ctr"/>
          <a:lstStyle/>
          <a:p>
            <a:pPr indent="0" marL="0">
              <a:buNone/>
            </a:pPr>
            <a:r>
              <a:rPr lang="en-US" sz="800" b="1" dirty="0">
                <a:solidFill>
                  <a:srgbClr val="1E3A5F"/>
                </a:solidFill>
                <a:latin typeface="Calibri" pitchFamily="34" charset="0"/>
                <a:ea typeface="Calibri" pitchFamily="34" charset="-122"/>
                <a:cs typeface="Calibri" pitchFamily="34" charset="-120"/>
              </a:rPr>
              <a:t>IoT Landslide Sensors</a:t>
            </a:r>
            <a:endParaRPr lang="en-US" sz="800" dirty="0"/>
          </a:p>
        </p:txBody>
      </p:sp>
      <p:sp>
        <p:nvSpPr>
          <p:cNvPr id="14" name="Text 12"/>
          <p:cNvSpPr/>
          <p:nvPr/>
        </p:nvSpPr>
        <p:spPr>
          <a:xfrm>
            <a:off x="594360" y="1874520"/>
            <a:ext cx="2194560" cy="128016"/>
          </a:xfrm>
          <a:prstGeom prst="rect">
            <a:avLst/>
          </a:prstGeom>
          <a:noFill/>
          <a:ln/>
        </p:spPr>
        <p:txBody>
          <a:bodyPr wrap="square" rtlCol="0" anchor="ctr"/>
          <a:lstStyle/>
          <a:p>
            <a:pPr indent="0" marL="0">
              <a:buNone/>
            </a:pPr>
            <a:r>
              <a:rPr lang="en-US" sz="600" dirty="0">
                <a:solidFill>
                  <a:srgbClr val="5A5A5A"/>
                </a:solidFill>
                <a:latin typeface="Calibri" pitchFamily="34" charset="0"/>
                <a:ea typeface="Calibri" pitchFamily="34" charset="-122"/>
                <a:cs typeface="Calibri" pitchFamily="34" charset="-120"/>
              </a:rPr>
              <a:t>Range: 0–500 mm displacement</a:t>
            </a:r>
            <a:endParaRPr lang="en-US" sz="600" dirty="0"/>
          </a:p>
        </p:txBody>
      </p:sp>
      <p:sp>
        <p:nvSpPr>
          <p:cNvPr id="15" name="Text 13"/>
          <p:cNvSpPr/>
          <p:nvPr/>
        </p:nvSpPr>
        <p:spPr>
          <a:xfrm>
            <a:off x="594360" y="2011680"/>
            <a:ext cx="2194560" cy="128016"/>
          </a:xfrm>
          <a:prstGeom prst="rect">
            <a:avLst/>
          </a:prstGeom>
          <a:noFill/>
          <a:ln/>
        </p:spPr>
        <p:txBody>
          <a:bodyPr wrap="square" rtlCol="0" anchor="ctr"/>
          <a:lstStyle/>
          <a:p>
            <a:pPr indent="0" marL="0">
              <a:buNone/>
            </a:pPr>
            <a:r>
              <a:rPr lang="en-US" sz="600" i="1" dirty="0">
                <a:solidFill>
                  <a:srgbClr val="4A7BA7"/>
                </a:solidFill>
                <a:latin typeface="Calibri" pitchFamily="34" charset="0"/>
                <a:ea typeface="Calibri" pitchFamily="34" charset="-122"/>
                <a:cs typeface="Calibri" pitchFamily="34" charset="-120"/>
              </a:rPr>
              <a:t>Stable / Minor Movement / Critical Shift</a:t>
            </a:r>
            <a:endParaRPr lang="en-US" sz="600" dirty="0"/>
          </a:p>
        </p:txBody>
      </p:sp>
      <p:sp>
        <p:nvSpPr>
          <p:cNvPr id="16" name="Shape 14"/>
          <p:cNvSpPr/>
          <p:nvPr/>
        </p:nvSpPr>
        <p:spPr>
          <a:xfrm>
            <a:off x="320040" y="2212848"/>
            <a:ext cx="2560320" cy="530352"/>
          </a:xfrm>
          <a:prstGeom prst="rect">
            <a:avLst/>
          </a:prstGeom>
          <a:solidFill>
            <a:srgbClr val="FFFFFF"/>
          </a:solidFill>
          <a:ln w="12700">
            <a:solidFill>
              <a:srgbClr val="4A7BA7"/>
            </a:solidFill>
            <a:prstDash val="solid"/>
          </a:ln>
        </p:spPr>
      </p:sp>
      <p:sp>
        <p:nvSpPr>
          <p:cNvPr id="17" name="Shape 15"/>
          <p:cNvSpPr/>
          <p:nvPr/>
        </p:nvSpPr>
        <p:spPr>
          <a:xfrm rot="10800000">
            <a:off x="384048" y="2350008"/>
            <a:ext cx="164592" cy="146304"/>
          </a:xfrm>
          <a:prstGeom prst="triangle">
            <a:avLst/>
          </a:prstGeom>
          <a:solidFill>
            <a:srgbClr val="1E3A5F"/>
          </a:solidFill>
          <a:ln w="12700">
            <a:solidFill>
              <a:srgbClr val="1E3A5F"/>
            </a:solidFill>
            <a:prstDash val="solid"/>
          </a:ln>
        </p:spPr>
      </p:sp>
      <p:sp>
        <p:nvSpPr>
          <p:cNvPr id="18" name="Text 16"/>
          <p:cNvSpPr/>
          <p:nvPr/>
        </p:nvSpPr>
        <p:spPr>
          <a:xfrm>
            <a:off x="594360" y="2258568"/>
            <a:ext cx="2194560" cy="182880"/>
          </a:xfrm>
          <a:prstGeom prst="rect">
            <a:avLst/>
          </a:prstGeom>
          <a:noFill/>
          <a:ln/>
        </p:spPr>
        <p:txBody>
          <a:bodyPr wrap="square" rtlCol="0" anchor="ctr"/>
          <a:lstStyle/>
          <a:p>
            <a:pPr indent="0" marL="0">
              <a:buNone/>
            </a:pPr>
            <a:r>
              <a:rPr lang="en-US" sz="800" b="1" dirty="0">
                <a:solidFill>
                  <a:srgbClr val="1E3A5F"/>
                </a:solidFill>
                <a:latin typeface="Calibri" pitchFamily="34" charset="0"/>
                <a:ea typeface="Calibri" pitchFamily="34" charset="-122"/>
                <a:cs typeface="Calibri" pitchFamily="34" charset="-120"/>
              </a:rPr>
              <a:t>SMAP Soil Moisture Data</a:t>
            </a:r>
            <a:endParaRPr lang="en-US" sz="800" dirty="0"/>
          </a:p>
        </p:txBody>
      </p:sp>
      <p:sp>
        <p:nvSpPr>
          <p:cNvPr id="19" name="Text 17"/>
          <p:cNvSpPr/>
          <p:nvPr/>
        </p:nvSpPr>
        <p:spPr>
          <a:xfrm>
            <a:off x="594360" y="2441448"/>
            <a:ext cx="2194560" cy="128016"/>
          </a:xfrm>
          <a:prstGeom prst="rect">
            <a:avLst/>
          </a:prstGeom>
          <a:noFill/>
          <a:ln/>
        </p:spPr>
        <p:txBody>
          <a:bodyPr wrap="square" rtlCol="0" anchor="ctr"/>
          <a:lstStyle/>
          <a:p>
            <a:pPr indent="0" marL="0">
              <a:buNone/>
            </a:pPr>
            <a:r>
              <a:rPr lang="en-US" sz="600" dirty="0">
                <a:solidFill>
                  <a:srgbClr val="5A5A5A"/>
                </a:solidFill>
                <a:latin typeface="Calibri" pitchFamily="34" charset="0"/>
                <a:ea typeface="Calibri" pitchFamily="34" charset="-122"/>
                <a:cs typeface="Calibri" pitchFamily="34" charset="-120"/>
              </a:rPr>
              <a:t>Range: 0–100% moisture</a:t>
            </a:r>
            <a:endParaRPr lang="en-US" sz="600" dirty="0"/>
          </a:p>
        </p:txBody>
      </p:sp>
      <p:sp>
        <p:nvSpPr>
          <p:cNvPr id="20" name="Text 18"/>
          <p:cNvSpPr/>
          <p:nvPr/>
        </p:nvSpPr>
        <p:spPr>
          <a:xfrm>
            <a:off x="594360" y="2578608"/>
            <a:ext cx="2194560" cy="128016"/>
          </a:xfrm>
          <a:prstGeom prst="rect">
            <a:avLst/>
          </a:prstGeom>
          <a:noFill/>
          <a:ln/>
        </p:spPr>
        <p:txBody>
          <a:bodyPr wrap="square" rtlCol="0" anchor="ctr"/>
          <a:lstStyle/>
          <a:p>
            <a:pPr indent="0" marL="0">
              <a:buNone/>
            </a:pPr>
            <a:r>
              <a:rPr lang="en-US" sz="600" i="1" dirty="0">
                <a:solidFill>
                  <a:srgbClr val="4A7BA7"/>
                </a:solidFill>
                <a:latin typeface="Calibri" pitchFamily="34" charset="0"/>
                <a:ea typeface="Calibri" pitchFamily="34" charset="-122"/>
                <a:cs typeface="Calibri" pitchFamily="34" charset="-120"/>
              </a:rPr>
              <a:t>Dry / Saturated / Critical Saturation</a:t>
            </a:r>
            <a:endParaRPr lang="en-US" sz="600" dirty="0"/>
          </a:p>
        </p:txBody>
      </p:sp>
      <p:sp>
        <p:nvSpPr>
          <p:cNvPr id="21" name="Shape 19"/>
          <p:cNvSpPr/>
          <p:nvPr/>
        </p:nvSpPr>
        <p:spPr>
          <a:xfrm>
            <a:off x="320040" y="2779776"/>
            <a:ext cx="2560320" cy="530352"/>
          </a:xfrm>
          <a:prstGeom prst="rect">
            <a:avLst/>
          </a:prstGeom>
          <a:solidFill>
            <a:srgbClr val="FFFFFF"/>
          </a:solidFill>
          <a:ln w="12700">
            <a:solidFill>
              <a:srgbClr val="4A7BA7"/>
            </a:solidFill>
            <a:prstDash val="solid"/>
          </a:ln>
        </p:spPr>
      </p:sp>
      <p:sp>
        <p:nvSpPr>
          <p:cNvPr id="22" name="Shape 20"/>
          <p:cNvSpPr/>
          <p:nvPr/>
        </p:nvSpPr>
        <p:spPr>
          <a:xfrm rot="10800000">
            <a:off x="384048" y="2916936"/>
            <a:ext cx="164592" cy="146304"/>
          </a:xfrm>
          <a:prstGeom prst="triangle">
            <a:avLst/>
          </a:prstGeom>
          <a:solidFill>
            <a:srgbClr val="1E3A5F"/>
          </a:solidFill>
          <a:ln w="12700">
            <a:solidFill>
              <a:srgbClr val="1E3A5F"/>
            </a:solidFill>
            <a:prstDash val="solid"/>
          </a:ln>
        </p:spPr>
      </p:sp>
      <p:sp>
        <p:nvSpPr>
          <p:cNvPr id="23" name="Text 21"/>
          <p:cNvSpPr/>
          <p:nvPr/>
        </p:nvSpPr>
        <p:spPr>
          <a:xfrm>
            <a:off x="594360" y="2825496"/>
            <a:ext cx="2194560" cy="182880"/>
          </a:xfrm>
          <a:prstGeom prst="rect">
            <a:avLst/>
          </a:prstGeom>
          <a:noFill/>
          <a:ln/>
        </p:spPr>
        <p:txBody>
          <a:bodyPr wrap="square" rtlCol="0" anchor="ctr"/>
          <a:lstStyle/>
          <a:p>
            <a:pPr indent="0" marL="0">
              <a:buNone/>
            </a:pPr>
            <a:r>
              <a:rPr lang="en-US" sz="800" b="1" dirty="0">
                <a:solidFill>
                  <a:srgbClr val="1E3A5F"/>
                </a:solidFill>
                <a:latin typeface="Calibri" pitchFamily="34" charset="0"/>
                <a:ea typeface="Calibri" pitchFamily="34" charset="-122"/>
                <a:cs typeface="Calibri" pitchFamily="34" charset="-120"/>
              </a:rPr>
              <a:t>Rainfall Data</a:t>
            </a:r>
            <a:endParaRPr lang="en-US" sz="800" dirty="0"/>
          </a:p>
        </p:txBody>
      </p:sp>
      <p:sp>
        <p:nvSpPr>
          <p:cNvPr id="24" name="Text 22"/>
          <p:cNvSpPr/>
          <p:nvPr/>
        </p:nvSpPr>
        <p:spPr>
          <a:xfrm>
            <a:off x="594360" y="3008376"/>
            <a:ext cx="2194560" cy="128016"/>
          </a:xfrm>
          <a:prstGeom prst="rect">
            <a:avLst/>
          </a:prstGeom>
          <a:noFill/>
          <a:ln/>
        </p:spPr>
        <p:txBody>
          <a:bodyPr wrap="square" rtlCol="0" anchor="ctr"/>
          <a:lstStyle/>
          <a:p>
            <a:pPr indent="0" marL="0">
              <a:buNone/>
            </a:pPr>
            <a:r>
              <a:rPr lang="en-US" sz="600" dirty="0">
                <a:solidFill>
                  <a:srgbClr val="5A5A5A"/>
                </a:solidFill>
                <a:latin typeface="Calibri" pitchFamily="34" charset="0"/>
                <a:ea typeface="Calibri" pitchFamily="34" charset="-122"/>
                <a:cs typeface="Calibri" pitchFamily="34" charset="-120"/>
              </a:rPr>
              <a:t>Range: 0–300 mm/hr</a:t>
            </a:r>
            <a:endParaRPr lang="en-US" sz="600" dirty="0"/>
          </a:p>
        </p:txBody>
      </p:sp>
      <p:sp>
        <p:nvSpPr>
          <p:cNvPr id="25" name="Text 23"/>
          <p:cNvSpPr/>
          <p:nvPr/>
        </p:nvSpPr>
        <p:spPr>
          <a:xfrm>
            <a:off x="594360" y="3145536"/>
            <a:ext cx="2194560" cy="128016"/>
          </a:xfrm>
          <a:prstGeom prst="rect">
            <a:avLst/>
          </a:prstGeom>
          <a:noFill/>
          <a:ln/>
        </p:spPr>
        <p:txBody>
          <a:bodyPr wrap="square" rtlCol="0" anchor="ctr"/>
          <a:lstStyle/>
          <a:p>
            <a:pPr indent="0" marL="0">
              <a:buNone/>
            </a:pPr>
            <a:r>
              <a:rPr lang="en-US" sz="600" i="1" dirty="0">
                <a:solidFill>
                  <a:srgbClr val="4A7BA7"/>
                </a:solidFill>
                <a:latin typeface="Calibri" pitchFamily="34" charset="0"/>
                <a:ea typeface="Calibri" pitchFamily="34" charset="-122"/>
                <a:cs typeface="Calibri" pitchFamily="34" charset="-120"/>
              </a:rPr>
              <a:t>Low / Moderate / Extreme Rainfall</a:t>
            </a:r>
            <a:endParaRPr lang="en-US" sz="600" dirty="0"/>
          </a:p>
        </p:txBody>
      </p:sp>
      <p:sp>
        <p:nvSpPr>
          <p:cNvPr id="26" name="Shape 24"/>
          <p:cNvSpPr/>
          <p:nvPr/>
        </p:nvSpPr>
        <p:spPr>
          <a:xfrm>
            <a:off x="320040" y="3346704"/>
            <a:ext cx="2560320" cy="530352"/>
          </a:xfrm>
          <a:prstGeom prst="rect">
            <a:avLst/>
          </a:prstGeom>
          <a:solidFill>
            <a:srgbClr val="FFFFFF"/>
          </a:solidFill>
          <a:ln w="12700">
            <a:solidFill>
              <a:srgbClr val="4A7BA7"/>
            </a:solidFill>
            <a:prstDash val="solid"/>
          </a:ln>
        </p:spPr>
      </p:sp>
      <p:sp>
        <p:nvSpPr>
          <p:cNvPr id="27" name="Shape 25"/>
          <p:cNvSpPr/>
          <p:nvPr/>
        </p:nvSpPr>
        <p:spPr>
          <a:xfrm rot="10800000">
            <a:off x="384048" y="3483864"/>
            <a:ext cx="164592" cy="146304"/>
          </a:xfrm>
          <a:prstGeom prst="triangle">
            <a:avLst/>
          </a:prstGeom>
          <a:solidFill>
            <a:srgbClr val="1E3A5F"/>
          </a:solidFill>
          <a:ln w="12700">
            <a:solidFill>
              <a:srgbClr val="1E3A5F"/>
            </a:solidFill>
            <a:prstDash val="solid"/>
          </a:ln>
        </p:spPr>
      </p:sp>
      <p:sp>
        <p:nvSpPr>
          <p:cNvPr id="28" name="Text 26"/>
          <p:cNvSpPr/>
          <p:nvPr/>
        </p:nvSpPr>
        <p:spPr>
          <a:xfrm>
            <a:off x="594360" y="3392424"/>
            <a:ext cx="2194560" cy="182880"/>
          </a:xfrm>
          <a:prstGeom prst="rect">
            <a:avLst/>
          </a:prstGeom>
          <a:noFill/>
          <a:ln/>
        </p:spPr>
        <p:txBody>
          <a:bodyPr wrap="square" rtlCol="0" anchor="ctr"/>
          <a:lstStyle/>
          <a:p>
            <a:pPr indent="0" marL="0">
              <a:buNone/>
            </a:pPr>
            <a:r>
              <a:rPr lang="en-US" sz="800" b="1" dirty="0">
                <a:solidFill>
                  <a:srgbClr val="1E3A5F"/>
                </a:solidFill>
                <a:latin typeface="Calibri" pitchFamily="34" charset="0"/>
                <a:ea typeface="Calibri" pitchFamily="34" charset="-122"/>
                <a:cs typeface="Calibri" pitchFamily="34" charset="-120"/>
              </a:rPr>
              <a:t>Population Density | Buildings | Roads</a:t>
            </a:r>
            <a:endParaRPr lang="en-US" sz="800" dirty="0"/>
          </a:p>
        </p:txBody>
      </p:sp>
      <p:sp>
        <p:nvSpPr>
          <p:cNvPr id="29" name="Text 27"/>
          <p:cNvSpPr/>
          <p:nvPr/>
        </p:nvSpPr>
        <p:spPr>
          <a:xfrm>
            <a:off x="594360" y="3575304"/>
            <a:ext cx="2194560" cy="128016"/>
          </a:xfrm>
          <a:prstGeom prst="rect">
            <a:avLst/>
          </a:prstGeom>
          <a:noFill/>
          <a:ln/>
        </p:spPr>
        <p:txBody>
          <a:bodyPr wrap="square" rtlCol="0" anchor="ctr"/>
          <a:lstStyle/>
          <a:p>
            <a:pPr indent="0" marL="0">
              <a:buNone/>
            </a:pPr>
            <a:r>
              <a:rPr lang="en-US" sz="600" dirty="0">
                <a:solidFill>
                  <a:srgbClr val="5A5A5A"/>
                </a:solidFill>
                <a:latin typeface="Calibri" pitchFamily="34" charset="0"/>
                <a:ea typeface="Calibri" pitchFamily="34" charset="-122"/>
                <a:cs typeface="Calibri" pitchFamily="34" charset="-120"/>
              </a:rPr>
              <a:t>Range: 1–50,000 people/sq km</a:t>
            </a:r>
            <a:endParaRPr lang="en-US" sz="600" dirty="0"/>
          </a:p>
        </p:txBody>
      </p:sp>
      <p:sp>
        <p:nvSpPr>
          <p:cNvPr id="30" name="Text 28"/>
          <p:cNvSpPr/>
          <p:nvPr/>
        </p:nvSpPr>
        <p:spPr>
          <a:xfrm>
            <a:off x="594360" y="3712464"/>
            <a:ext cx="2194560" cy="128016"/>
          </a:xfrm>
          <a:prstGeom prst="rect">
            <a:avLst/>
          </a:prstGeom>
          <a:noFill/>
          <a:ln/>
        </p:spPr>
        <p:txBody>
          <a:bodyPr wrap="square" rtlCol="0" anchor="ctr"/>
          <a:lstStyle/>
          <a:p>
            <a:pPr indent="0" marL="0">
              <a:buNone/>
            </a:pPr>
            <a:r>
              <a:rPr lang="en-US" sz="600" i="1" dirty="0">
                <a:solidFill>
                  <a:srgbClr val="4A7BA7"/>
                </a:solidFill>
                <a:latin typeface="Calibri" pitchFamily="34" charset="0"/>
                <a:ea typeface="Calibri" pitchFamily="34" charset="-122"/>
                <a:cs typeface="Calibri" pitchFamily="34" charset="-120"/>
              </a:rPr>
              <a:t>Sparse / Dense / Highly Dense</a:t>
            </a:r>
            <a:endParaRPr lang="en-US" sz="600" dirty="0"/>
          </a:p>
        </p:txBody>
      </p:sp>
      <p:sp>
        <p:nvSpPr>
          <p:cNvPr id="31" name="Shape 29"/>
          <p:cNvSpPr/>
          <p:nvPr/>
        </p:nvSpPr>
        <p:spPr>
          <a:xfrm>
            <a:off x="320040" y="3913632"/>
            <a:ext cx="2560320" cy="530352"/>
          </a:xfrm>
          <a:prstGeom prst="rect">
            <a:avLst/>
          </a:prstGeom>
          <a:solidFill>
            <a:srgbClr val="FFFFFF"/>
          </a:solidFill>
          <a:ln w="12700">
            <a:solidFill>
              <a:srgbClr val="4A7BA7"/>
            </a:solidFill>
            <a:prstDash val="solid"/>
          </a:ln>
        </p:spPr>
      </p:sp>
      <p:sp>
        <p:nvSpPr>
          <p:cNvPr id="32" name="Shape 30"/>
          <p:cNvSpPr/>
          <p:nvPr/>
        </p:nvSpPr>
        <p:spPr>
          <a:xfrm rot="10800000">
            <a:off x="384048" y="4050792"/>
            <a:ext cx="164592" cy="146304"/>
          </a:xfrm>
          <a:prstGeom prst="triangle">
            <a:avLst/>
          </a:prstGeom>
          <a:solidFill>
            <a:srgbClr val="1E3A5F"/>
          </a:solidFill>
          <a:ln w="12700">
            <a:solidFill>
              <a:srgbClr val="1E3A5F"/>
            </a:solidFill>
            <a:prstDash val="solid"/>
          </a:ln>
        </p:spPr>
      </p:sp>
      <p:sp>
        <p:nvSpPr>
          <p:cNvPr id="33" name="Text 31"/>
          <p:cNvSpPr/>
          <p:nvPr/>
        </p:nvSpPr>
        <p:spPr>
          <a:xfrm>
            <a:off x="594360" y="3959352"/>
            <a:ext cx="2194560" cy="182880"/>
          </a:xfrm>
          <a:prstGeom prst="rect">
            <a:avLst/>
          </a:prstGeom>
          <a:noFill/>
          <a:ln/>
        </p:spPr>
        <p:txBody>
          <a:bodyPr wrap="square" rtlCol="0" anchor="ctr"/>
          <a:lstStyle/>
          <a:p>
            <a:pPr indent="0" marL="0">
              <a:buNone/>
            </a:pPr>
            <a:r>
              <a:rPr lang="en-US" sz="800" b="1" dirty="0">
                <a:solidFill>
                  <a:srgbClr val="1E3A5F"/>
                </a:solidFill>
                <a:latin typeface="Calibri" pitchFamily="34" charset="0"/>
                <a:ea typeface="Calibri" pitchFamily="34" charset="-122"/>
                <a:cs typeface="Calibri" pitchFamily="34" charset="-120"/>
              </a:rPr>
              <a:t>Satellite Topography (UAV, Slope, Elevation, DEM)</a:t>
            </a:r>
            <a:endParaRPr lang="en-US" sz="800" dirty="0"/>
          </a:p>
        </p:txBody>
      </p:sp>
      <p:sp>
        <p:nvSpPr>
          <p:cNvPr id="34" name="Text 32"/>
          <p:cNvSpPr/>
          <p:nvPr/>
        </p:nvSpPr>
        <p:spPr>
          <a:xfrm>
            <a:off x="594360" y="4142232"/>
            <a:ext cx="2194560" cy="128016"/>
          </a:xfrm>
          <a:prstGeom prst="rect">
            <a:avLst/>
          </a:prstGeom>
          <a:noFill/>
          <a:ln/>
        </p:spPr>
        <p:txBody>
          <a:bodyPr wrap="square" rtlCol="0" anchor="ctr"/>
          <a:lstStyle/>
          <a:p>
            <a:pPr indent="0" marL="0">
              <a:buNone/>
            </a:pPr>
            <a:r>
              <a:rPr lang="en-US" sz="600" dirty="0">
                <a:solidFill>
                  <a:srgbClr val="5A5A5A"/>
                </a:solidFill>
                <a:latin typeface="Calibri" pitchFamily="34" charset="0"/>
                <a:ea typeface="Calibri" pitchFamily="34" charset="-122"/>
                <a:cs typeface="Calibri" pitchFamily="34" charset="-120"/>
              </a:rPr>
              <a:t>Range: 1–30 m spatial resolution</a:t>
            </a:r>
            <a:endParaRPr lang="en-US" sz="600" dirty="0"/>
          </a:p>
        </p:txBody>
      </p:sp>
      <p:sp>
        <p:nvSpPr>
          <p:cNvPr id="35" name="Text 33"/>
          <p:cNvSpPr/>
          <p:nvPr/>
        </p:nvSpPr>
        <p:spPr>
          <a:xfrm>
            <a:off x="594360" y="4279392"/>
            <a:ext cx="2194560" cy="128016"/>
          </a:xfrm>
          <a:prstGeom prst="rect">
            <a:avLst/>
          </a:prstGeom>
          <a:noFill/>
          <a:ln/>
        </p:spPr>
        <p:txBody>
          <a:bodyPr wrap="square" rtlCol="0" anchor="ctr"/>
          <a:lstStyle/>
          <a:p>
            <a:pPr indent="0" marL="0">
              <a:buNone/>
            </a:pPr>
            <a:r>
              <a:rPr lang="en-US" sz="600" i="1" dirty="0">
                <a:solidFill>
                  <a:srgbClr val="4A7BA7"/>
                </a:solidFill>
                <a:latin typeface="Calibri" pitchFamily="34" charset="0"/>
                <a:ea typeface="Calibri" pitchFamily="34" charset="-122"/>
                <a:cs typeface="Calibri" pitchFamily="34" charset="-120"/>
              </a:rPr>
              <a:t>Flat / Moderate / Steep Terrain</a:t>
            </a:r>
            <a:endParaRPr lang="en-US" sz="600" dirty="0"/>
          </a:p>
        </p:txBody>
      </p:sp>
      <p:sp>
        <p:nvSpPr>
          <p:cNvPr id="36" name="Shape 34"/>
          <p:cNvSpPr/>
          <p:nvPr/>
        </p:nvSpPr>
        <p:spPr>
          <a:xfrm>
            <a:off x="320040" y="4480560"/>
            <a:ext cx="2560320" cy="530352"/>
          </a:xfrm>
          <a:prstGeom prst="rect">
            <a:avLst/>
          </a:prstGeom>
          <a:solidFill>
            <a:srgbClr val="FFFFFF"/>
          </a:solidFill>
          <a:ln w="12700">
            <a:solidFill>
              <a:srgbClr val="4A7BA7"/>
            </a:solidFill>
            <a:prstDash val="solid"/>
          </a:ln>
        </p:spPr>
      </p:sp>
      <p:sp>
        <p:nvSpPr>
          <p:cNvPr id="37" name="Shape 35"/>
          <p:cNvSpPr/>
          <p:nvPr/>
        </p:nvSpPr>
        <p:spPr>
          <a:xfrm rot="10800000">
            <a:off x="384048" y="4617720"/>
            <a:ext cx="164592" cy="146304"/>
          </a:xfrm>
          <a:prstGeom prst="triangle">
            <a:avLst/>
          </a:prstGeom>
          <a:solidFill>
            <a:srgbClr val="1E3A5F"/>
          </a:solidFill>
          <a:ln w="12700">
            <a:solidFill>
              <a:srgbClr val="1E3A5F"/>
            </a:solidFill>
            <a:prstDash val="solid"/>
          </a:ln>
        </p:spPr>
      </p:sp>
      <p:sp>
        <p:nvSpPr>
          <p:cNvPr id="38" name="Text 36"/>
          <p:cNvSpPr/>
          <p:nvPr/>
        </p:nvSpPr>
        <p:spPr>
          <a:xfrm>
            <a:off x="594360" y="4526280"/>
            <a:ext cx="2194560" cy="182880"/>
          </a:xfrm>
          <a:prstGeom prst="rect">
            <a:avLst/>
          </a:prstGeom>
          <a:noFill/>
          <a:ln/>
        </p:spPr>
        <p:txBody>
          <a:bodyPr wrap="square" rtlCol="0" anchor="ctr"/>
          <a:lstStyle/>
          <a:p>
            <a:pPr indent="0" marL="0">
              <a:buNone/>
            </a:pPr>
            <a:r>
              <a:rPr lang="en-US" sz="800" b="1" dirty="0">
                <a:solidFill>
                  <a:srgbClr val="1E3A5F"/>
                </a:solidFill>
                <a:latin typeface="Calibri" pitchFamily="34" charset="0"/>
                <a:ea typeface="Calibri" pitchFamily="34" charset="-122"/>
                <a:cs typeface="Calibri" pitchFamily="34" charset="-120"/>
              </a:rPr>
              <a:t>Slope Data</a:t>
            </a:r>
            <a:endParaRPr lang="en-US" sz="800" dirty="0"/>
          </a:p>
        </p:txBody>
      </p:sp>
      <p:sp>
        <p:nvSpPr>
          <p:cNvPr id="39" name="Text 37"/>
          <p:cNvSpPr/>
          <p:nvPr/>
        </p:nvSpPr>
        <p:spPr>
          <a:xfrm>
            <a:off x="594360" y="4709160"/>
            <a:ext cx="2194560" cy="128016"/>
          </a:xfrm>
          <a:prstGeom prst="rect">
            <a:avLst/>
          </a:prstGeom>
          <a:noFill/>
          <a:ln/>
        </p:spPr>
        <p:txBody>
          <a:bodyPr wrap="square" rtlCol="0" anchor="ctr"/>
          <a:lstStyle/>
          <a:p>
            <a:pPr indent="0" marL="0">
              <a:buNone/>
            </a:pPr>
            <a:r>
              <a:rPr lang="en-US" sz="600" dirty="0">
                <a:solidFill>
                  <a:srgbClr val="5A5A5A"/>
                </a:solidFill>
                <a:latin typeface="Calibri" pitchFamily="34" charset="0"/>
                <a:ea typeface="Calibri" pitchFamily="34" charset="-122"/>
                <a:cs typeface="Calibri" pitchFamily="34" charset="-120"/>
              </a:rPr>
              <a:t>Range: 0–90° slope</a:t>
            </a:r>
            <a:endParaRPr lang="en-US" sz="600" dirty="0"/>
          </a:p>
        </p:txBody>
      </p:sp>
      <p:sp>
        <p:nvSpPr>
          <p:cNvPr id="40" name="Text 38"/>
          <p:cNvSpPr/>
          <p:nvPr/>
        </p:nvSpPr>
        <p:spPr>
          <a:xfrm>
            <a:off x="594360" y="4846320"/>
            <a:ext cx="2194560" cy="128016"/>
          </a:xfrm>
          <a:prstGeom prst="rect">
            <a:avLst/>
          </a:prstGeom>
          <a:noFill/>
          <a:ln/>
        </p:spPr>
        <p:txBody>
          <a:bodyPr wrap="square" rtlCol="0" anchor="ctr"/>
          <a:lstStyle/>
          <a:p>
            <a:pPr indent="0" marL="0">
              <a:buNone/>
            </a:pPr>
            <a:r>
              <a:rPr lang="en-US" sz="600" i="1" dirty="0">
                <a:solidFill>
                  <a:srgbClr val="4A7BA7"/>
                </a:solidFill>
                <a:latin typeface="Calibri" pitchFamily="34" charset="0"/>
                <a:ea typeface="Calibri" pitchFamily="34" charset="-122"/>
                <a:cs typeface="Calibri" pitchFamily="34" charset="-120"/>
              </a:rPr>
              <a:t>Stable / Vulnerable / Critical</a:t>
            </a:r>
            <a:endParaRPr lang="en-US" sz="600" dirty="0"/>
          </a:p>
        </p:txBody>
      </p:sp>
      <p:sp>
        <p:nvSpPr>
          <p:cNvPr id="41" name="Shape 39"/>
          <p:cNvSpPr/>
          <p:nvPr/>
        </p:nvSpPr>
        <p:spPr>
          <a:xfrm>
            <a:off x="320040" y="5047488"/>
            <a:ext cx="2560320" cy="530352"/>
          </a:xfrm>
          <a:prstGeom prst="rect">
            <a:avLst/>
          </a:prstGeom>
          <a:solidFill>
            <a:srgbClr val="FFFFFF"/>
          </a:solidFill>
          <a:ln w="12700">
            <a:solidFill>
              <a:srgbClr val="4A7BA7"/>
            </a:solidFill>
            <a:prstDash val="solid"/>
          </a:ln>
        </p:spPr>
      </p:sp>
      <p:sp>
        <p:nvSpPr>
          <p:cNvPr id="42" name="Shape 40"/>
          <p:cNvSpPr/>
          <p:nvPr/>
        </p:nvSpPr>
        <p:spPr>
          <a:xfrm rot="10800000">
            <a:off x="384048" y="5184648"/>
            <a:ext cx="164592" cy="146304"/>
          </a:xfrm>
          <a:prstGeom prst="triangle">
            <a:avLst/>
          </a:prstGeom>
          <a:solidFill>
            <a:srgbClr val="1E3A5F"/>
          </a:solidFill>
          <a:ln w="12700">
            <a:solidFill>
              <a:srgbClr val="1E3A5F"/>
            </a:solidFill>
            <a:prstDash val="solid"/>
          </a:ln>
        </p:spPr>
      </p:sp>
      <p:sp>
        <p:nvSpPr>
          <p:cNvPr id="43" name="Text 41"/>
          <p:cNvSpPr/>
          <p:nvPr/>
        </p:nvSpPr>
        <p:spPr>
          <a:xfrm>
            <a:off x="594360" y="5093208"/>
            <a:ext cx="2194560" cy="182880"/>
          </a:xfrm>
          <a:prstGeom prst="rect">
            <a:avLst/>
          </a:prstGeom>
          <a:noFill/>
          <a:ln/>
        </p:spPr>
        <p:txBody>
          <a:bodyPr wrap="square" rtlCol="0" anchor="ctr"/>
          <a:lstStyle/>
          <a:p>
            <a:pPr indent="0" marL="0">
              <a:buNone/>
            </a:pPr>
            <a:r>
              <a:rPr lang="en-US" sz="800" b="1" dirty="0">
                <a:solidFill>
                  <a:srgbClr val="1E3A5F"/>
                </a:solidFill>
                <a:latin typeface="Calibri" pitchFamily="34" charset="0"/>
                <a:ea typeface="Calibri" pitchFamily="34" charset="-122"/>
                <a:cs typeface="Calibri" pitchFamily="34" charset="-120"/>
              </a:rPr>
              <a:t>Terrain Curvature Data</a:t>
            </a:r>
            <a:endParaRPr lang="en-US" sz="800" dirty="0"/>
          </a:p>
        </p:txBody>
      </p:sp>
      <p:sp>
        <p:nvSpPr>
          <p:cNvPr id="44" name="Text 42"/>
          <p:cNvSpPr/>
          <p:nvPr/>
        </p:nvSpPr>
        <p:spPr>
          <a:xfrm>
            <a:off x="594360" y="5276088"/>
            <a:ext cx="2194560" cy="128016"/>
          </a:xfrm>
          <a:prstGeom prst="rect">
            <a:avLst/>
          </a:prstGeom>
          <a:noFill/>
          <a:ln/>
        </p:spPr>
        <p:txBody>
          <a:bodyPr wrap="square" rtlCol="0" anchor="ctr"/>
          <a:lstStyle/>
          <a:p>
            <a:pPr indent="0" marL="0">
              <a:buNone/>
            </a:pPr>
            <a:r>
              <a:rPr lang="en-US" sz="600" dirty="0">
                <a:solidFill>
                  <a:srgbClr val="5A5A5A"/>
                </a:solidFill>
                <a:latin typeface="Calibri" pitchFamily="34" charset="0"/>
                <a:ea typeface="Calibri" pitchFamily="34" charset="-122"/>
                <a:cs typeface="Calibri" pitchFamily="34" charset="-120"/>
              </a:rPr>
              <a:t>Range: Concave / Convex / Flat</a:t>
            </a:r>
            <a:endParaRPr lang="en-US" sz="600" dirty="0"/>
          </a:p>
        </p:txBody>
      </p:sp>
      <p:sp>
        <p:nvSpPr>
          <p:cNvPr id="45" name="Text 43"/>
          <p:cNvSpPr/>
          <p:nvPr/>
        </p:nvSpPr>
        <p:spPr>
          <a:xfrm>
            <a:off x="594360" y="5413248"/>
            <a:ext cx="2194560" cy="128016"/>
          </a:xfrm>
          <a:prstGeom prst="rect">
            <a:avLst/>
          </a:prstGeom>
          <a:noFill/>
          <a:ln/>
        </p:spPr>
        <p:txBody>
          <a:bodyPr wrap="square" rtlCol="0" anchor="ctr"/>
          <a:lstStyle/>
          <a:p>
            <a:pPr indent="0" marL="0">
              <a:buNone/>
            </a:pPr>
            <a:r>
              <a:rPr lang="en-US" sz="600" i="1" dirty="0">
                <a:solidFill>
                  <a:srgbClr val="4A7BA7"/>
                </a:solidFill>
                <a:latin typeface="Calibri" pitchFamily="34" charset="0"/>
                <a:ea typeface="Calibri" pitchFamily="34" charset="-122"/>
                <a:cs typeface="Calibri" pitchFamily="34" charset="-120"/>
              </a:rPr>
              <a:t>Stable / Erosion-Prone</a:t>
            </a:r>
            <a:endParaRPr lang="en-US" sz="600" dirty="0"/>
          </a:p>
        </p:txBody>
      </p:sp>
      <p:sp>
        <p:nvSpPr>
          <p:cNvPr id="46" name="Shape 44"/>
          <p:cNvSpPr/>
          <p:nvPr/>
        </p:nvSpPr>
        <p:spPr>
          <a:xfrm>
            <a:off x="3200400" y="1051560"/>
            <a:ext cx="2651760" cy="4297680"/>
          </a:xfrm>
          <a:prstGeom prst="rect">
            <a:avLst/>
          </a:prstGeom>
          <a:solidFill>
            <a:srgbClr val="C76E6E"/>
          </a:solidFill>
          <a:ln w="12700">
            <a:solidFill>
              <a:srgbClr val="4A7BA7"/>
            </a:solidFill>
            <a:prstDash val="solid"/>
          </a:ln>
        </p:spPr>
      </p:sp>
      <p:sp>
        <p:nvSpPr>
          <p:cNvPr id="47" name="Shape 45"/>
          <p:cNvSpPr/>
          <p:nvPr/>
        </p:nvSpPr>
        <p:spPr>
          <a:xfrm>
            <a:off x="4206240" y="914400"/>
            <a:ext cx="320040" cy="320040"/>
          </a:xfrm>
          <a:prstGeom prst="ellipse">
            <a:avLst/>
          </a:prstGeom>
          <a:solidFill>
            <a:srgbClr val="FFFFFF"/>
          </a:solidFill>
          <a:ln w="25400">
            <a:solidFill>
              <a:srgbClr val="C76E6E"/>
            </a:solidFill>
            <a:prstDash val="solid"/>
          </a:ln>
        </p:spPr>
      </p:sp>
      <p:sp>
        <p:nvSpPr>
          <p:cNvPr id="48" name="Text 46"/>
          <p:cNvSpPr/>
          <p:nvPr/>
        </p:nvSpPr>
        <p:spPr>
          <a:xfrm>
            <a:off x="4206240" y="914400"/>
            <a:ext cx="320040" cy="320040"/>
          </a:xfrm>
          <a:prstGeom prst="rect">
            <a:avLst/>
          </a:prstGeom>
          <a:noFill/>
          <a:ln/>
        </p:spPr>
        <p:txBody>
          <a:bodyPr wrap="square" rtlCol="0" anchor="ctr"/>
          <a:lstStyle/>
          <a:p>
            <a:pPr algn="ctr" indent="0" marL="0">
              <a:buNone/>
            </a:pPr>
            <a:r>
              <a:rPr lang="en-US" sz="1600" b="1" dirty="0">
                <a:solidFill>
                  <a:srgbClr val="C76E6E"/>
                </a:solidFill>
              </a:rPr>
              <a:t>2</a:t>
            </a:r>
            <a:endParaRPr lang="en-US" sz="1600" dirty="0"/>
          </a:p>
        </p:txBody>
      </p:sp>
      <p:sp>
        <p:nvSpPr>
          <p:cNvPr id="49" name="Text 47"/>
          <p:cNvSpPr/>
          <p:nvPr/>
        </p:nvSpPr>
        <p:spPr>
          <a:xfrm>
            <a:off x="3200400" y="1280160"/>
            <a:ext cx="2651760" cy="27432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GEOSPATIAL MODELING</a:t>
            </a:r>
            <a:endParaRPr lang="en-US" sz="1300" dirty="0"/>
          </a:p>
        </p:txBody>
      </p:sp>
      <p:sp>
        <p:nvSpPr>
          <p:cNvPr id="50" name="Shape 48"/>
          <p:cNvSpPr/>
          <p:nvPr/>
        </p:nvSpPr>
        <p:spPr>
          <a:xfrm>
            <a:off x="3291840" y="1691640"/>
            <a:ext cx="2468880" cy="347472"/>
          </a:xfrm>
          <a:prstGeom prst="rect">
            <a:avLst/>
          </a:prstGeom>
          <a:solidFill>
            <a:srgbClr val="FFFFFF"/>
          </a:solidFill>
          <a:ln w="12700">
            <a:solidFill>
              <a:srgbClr val="1E3A5F"/>
            </a:solidFill>
            <a:prstDash val="solid"/>
          </a:ln>
        </p:spPr>
      </p:sp>
      <p:sp>
        <p:nvSpPr>
          <p:cNvPr id="51" name="Shape 49"/>
          <p:cNvSpPr/>
          <p:nvPr/>
        </p:nvSpPr>
        <p:spPr>
          <a:xfrm rot="10800000">
            <a:off x="3355848" y="1783080"/>
            <a:ext cx="137160" cy="118872"/>
          </a:xfrm>
          <a:prstGeom prst="triangle">
            <a:avLst/>
          </a:prstGeom>
          <a:solidFill>
            <a:srgbClr val="1E3A5F"/>
          </a:solidFill>
          <a:ln w="12700">
            <a:solidFill>
              <a:srgbClr val="1E3A5F"/>
            </a:solidFill>
            <a:prstDash val="solid"/>
          </a:ln>
        </p:spPr>
      </p:sp>
      <p:sp>
        <p:nvSpPr>
          <p:cNvPr id="52" name="Text 50"/>
          <p:cNvSpPr/>
          <p:nvPr/>
        </p:nvSpPr>
        <p:spPr>
          <a:xfrm>
            <a:off x="3538728" y="1719072"/>
            <a:ext cx="2148840" cy="128016"/>
          </a:xfrm>
          <a:prstGeom prst="rect">
            <a:avLst/>
          </a:prstGeom>
          <a:noFill/>
          <a:ln/>
        </p:spPr>
        <p:txBody>
          <a:bodyPr wrap="square" rtlCol="0" anchor="ctr"/>
          <a:lstStyle/>
          <a:p>
            <a:pPr indent="0" marL="0">
              <a:buNone/>
            </a:pPr>
            <a:r>
              <a:rPr lang="en-US" sz="700" b="1" dirty="0">
                <a:solidFill>
                  <a:srgbClr val="1E3A5F"/>
                </a:solidFill>
                <a:latin typeface="Calibri" pitchFamily="34" charset="0"/>
                <a:ea typeface="Calibri" pitchFamily="34" charset="-122"/>
                <a:cs typeface="Calibri" pitchFamily="34" charset="-120"/>
              </a:rPr>
              <a:t>Geospatial | Slope Stability Analysis</a:t>
            </a:r>
            <a:endParaRPr lang="en-US" sz="700" dirty="0"/>
          </a:p>
        </p:txBody>
      </p:sp>
      <p:sp>
        <p:nvSpPr>
          <p:cNvPr id="53" name="Text 51"/>
          <p:cNvSpPr/>
          <p:nvPr/>
        </p:nvSpPr>
        <p:spPr>
          <a:xfrm>
            <a:off x="3538728" y="1847088"/>
            <a:ext cx="2148840" cy="91440"/>
          </a:xfrm>
          <a:prstGeom prst="rect">
            <a:avLst/>
          </a:prstGeom>
          <a:noFill/>
          <a:ln/>
        </p:spPr>
        <p:txBody>
          <a:bodyPr wrap="square" rtlCol="0" anchor="ctr"/>
          <a:lstStyle/>
          <a:p>
            <a:pPr indent="0" marL="0">
              <a:buNone/>
            </a:pPr>
            <a:r>
              <a:rPr lang="en-US" sz="550" dirty="0">
                <a:solidFill>
                  <a:srgbClr val="5A5A5A"/>
                </a:solidFill>
                <a:latin typeface="Calibri" pitchFamily="34" charset="0"/>
                <a:ea typeface="Calibri" pitchFamily="34" charset="-122"/>
                <a:cs typeface="Calibri" pitchFamily="34" charset="-120"/>
              </a:rPr>
              <a:t>Range: Factor of Safety: 0–3</a:t>
            </a:r>
            <a:endParaRPr lang="en-US" sz="550" dirty="0"/>
          </a:p>
        </p:txBody>
      </p:sp>
      <p:sp>
        <p:nvSpPr>
          <p:cNvPr id="54" name="Text 52"/>
          <p:cNvSpPr/>
          <p:nvPr/>
        </p:nvSpPr>
        <p:spPr>
          <a:xfrm>
            <a:off x="3538728" y="1947672"/>
            <a:ext cx="2148840" cy="82296"/>
          </a:xfrm>
          <a:prstGeom prst="rect">
            <a:avLst/>
          </a:prstGeom>
          <a:noFill/>
          <a:ln/>
        </p:spPr>
        <p:txBody>
          <a:bodyPr wrap="square" rtlCol="0" anchor="ctr"/>
          <a:lstStyle/>
          <a:p>
            <a:pPr indent="0" marL="0">
              <a:buNone/>
            </a:pPr>
            <a:r>
              <a:rPr lang="en-US" sz="550" i="1" dirty="0">
                <a:solidFill>
                  <a:srgbClr val="C76E6E"/>
                </a:solidFill>
                <a:latin typeface="Calibri" pitchFamily="34" charset="0"/>
                <a:ea typeface="Calibri" pitchFamily="34" charset="-122"/>
                <a:cs typeface="Calibri" pitchFamily="34" charset="-120"/>
              </a:rPr>
              <a:t>Stable &gt;1.5, Critical &lt;1</a:t>
            </a:r>
            <a:endParaRPr lang="en-US" sz="550" dirty="0"/>
          </a:p>
        </p:txBody>
      </p:sp>
      <p:sp>
        <p:nvSpPr>
          <p:cNvPr id="55" name="Shape 53"/>
          <p:cNvSpPr/>
          <p:nvPr/>
        </p:nvSpPr>
        <p:spPr>
          <a:xfrm>
            <a:off x="3291840" y="2066544"/>
            <a:ext cx="2468880" cy="347472"/>
          </a:xfrm>
          <a:prstGeom prst="rect">
            <a:avLst/>
          </a:prstGeom>
          <a:solidFill>
            <a:srgbClr val="FFFFFF"/>
          </a:solidFill>
          <a:ln w="12700">
            <a:solidFill>
              <a:srgbClr val="1E3A5F"/>
            </a:solidFill>
            <a:prstDash val="solid"/>
          </a:ln>
        </p:spPr>
      </p:sp>
      <p:sp>
        <p:nvSpPr>
          <p:cNvPr id="56" name="Shape 54"/>
          <p:cNvSpPr/>
          <p:nvPr/>
        </p:nvSpPr>
        <p:spPr>
          <a:xfrm rot="10800000">
            <a:off x="3355848" y="2157984"/>
            <a:ext cx="137160" cy="118872"/>
          </a:xfrm>
          <a:prstGeom prst="triangle">
            <a:avLst/>
          </a:prstGeom>
          <a:solidFill>
            <a:srgbClr val="1E3A5F"/>
          </a:solidFill>
          <a:ln w="12700">
            <a:solidFill>
              <a:srgbClr val="1E3A5F"/>
            </a:solidFill>
            <a:prstDash val="solid"/>
          </a:ln>
        </p:spPr>
      </p:sp>
      <p:sp>
        <p:nvSpPr>
          <p:cNvPr id="57" name="Text 55"/>
          <p:cNvSpPr/>
          <p:nvPr/>
        </p:nvSpPr>
        <p:spPr>
          <a:xfrm>
            <a:off x="3538728" y="2093976"/>
            <a:ext cx="2148840" cy="128016"/>
          </a:xfrm>
          <a:prstGeom prst="rect">
            <a:avLst/>
          </a:prstGeom>
          <a:noFill/>
          <a:ln/>
        </p:spPr>
        <p:txBody>
          <a:bodyPr wrap="square" rtlCol="0" anchor="ctr"/>
          <a:lstStyle/>
          <a:p>
            <a:pPr indent="0" marL="0">
              <a:buNone/>
            </a:pPr>
            <a:r>
              <a:rPr lang="en-US" sz="700" b="1" dirty="0">
                <a:solidFill>
                  <a:srgbClr val="1E3A5F"/>
                </a:solidFill>
                <a:latin typeface="Calibri" pitchFamily="34" charset="0"/>
                <a:ea typeface="Calibri" pitchFamily="34" charset="-122"/>
                <a:cs typeface="Calibri" pitchFamily="34" charset="-120"/>
              </a:rPr>
              <a:t>Dynamic Debris &amp; Mudflow Routing</a:t>
            </a:r>
            <a:endParaRPr lang="en-US" sz="700" dirty="0"/>
          </a:p>
        </p:txBody>
      </p:sp>
      <p:sp>
        <p:nvSpPr>
          <p:cNvPr id="58" name="Text 56"/>
          <p:cNvSpPr/>
          <p:nvPr/>
        </p:nvSpPr>
        <p:spPr>
          <a:xfrm>
            <a:off x="3538728" y="2221992"/>
            <a:ext cx="2148840" cy="91440"/>
          </a:xfrm>
          <a:prstGeom prst="rect">
            <a:avLst/>
          </a:prstGeom>
          <a:noFill/>
          <a:ln/>
        </p:spPr>
        <p:txBody>
          <a:bodyPr wrap="square" rtlCol="0" anchor="ctr"/>
          <a:lstStyle/>
          <a:p>
            <a:pPr indent="0" marL="0">
              <a:buNone/>
            </a:pPr>
            <a:r>
              <a:rPr lang="en-US" sz="550" dirty="0">
                <a:solidFill>
                  <a:srgbClr val="5A5A5A"/>
                </a:solidFill>
                <a:latin typeface="Calibri" pitchFamily="34" charset="0"/>
                <a:ea typeface="Calibri" pitchFamily="34" charset="-122"/>
                <a:cs typeface="Calibri" pitchFamily="34" charset="-120"/>
              </a:rPr>
              <a:t>Range: 0–50 km flow distance</a:t>
            </a:r>
            <a:endParaRPr lang="en-US" sz="550" dirty="0"/>
          </a:p>
        </p:txBody>
      </p:sp>
      <p:sp>
        <p:nvSpPr>
          <p:cNvPr id="59" name="Text 57"/>
          <p:cNvSpPr/>
          <p:nvPr/>
        </p:nvSpPr>
        <p:spPr>
          <a:xfrm>
            <a:off x="3538728" y="2322576"/>
            <a:ext cx="2148840" cy="82296"/>
          </a:xfrm>
          <a:prstGeom prst="rect">
            <a:avLst/>
          </a:prstGeom>
          <a:noFill/>
          <a:ln/>
        </p:spPr>
        <p:txBody>
          <a:bodyPr wrap="square" rtlCol="0" anchor="ctr"/>
          <a:lstStyle/>
          <a:p>
            <a:pPr indent="0" marL="0">
              <a:buNone/>
            </a:pPr>
            <a:r>
              <a:rPr lang="en-US" sz="550" i="1" dirty="0">
                <a:solidFill>
                  <a:srgbClr val="C76E6E"/>
                </a:solidFill>
                <a:latin typeface="Calibri" pitchFamily="34" charset="0"/>
                <a:ea typeface="Calibri" pitchFamily="34" charset="-122"/>
                <a:cs typeface="Calibri" pitchFamily="34" charset="-120"/>
              </a:rPr>
              <a:t>Low / Moderate / Severe Impact</a:t>
            </a:r>
            <a:endParaRPr lang="en-US" sz="550" dirty="0"/>
          </a:p>
        </p:txBody>
      </p:sp>
      <p:sp>
        <p:nvSpPr>
          <p:cNvPr id="60" name="Shape 58"/>
          <p:cNvSpPr/>
          <p:nvPr/>
        </p:nvSpPr>
        <p:spPr>
          <a:xfrm>
            <a:off x="3291840" y="2441448"/>
            <a:ext cx="2468880" cy="347472"/>
          </a:xfrm>
          <a:prstGeom prst="rect">
            <a:avLst/>
          </a:prstGeom>
          <a:solidFill>
            <a:srgbClr val="FFFFFF"/>
          </a:solidFill>
          <a:ln w="12700">
            <a:solidFill>
              <a:srgbClr val="1E3A5F"/>
            </a:solidFill>
            <a:prstDash val="solid"/>
          </a:ln>
        </p:spPr>
      </p:sp>
      <p:sp>
        <p:nvSpPr>
          <p:cNvPr id="61" name="Shape 59"/>
          <p:cNvSpPr/>
          <p:nvPr/>
        </p:nvSpPr>
        <p:spPr>
          <a:xfrm rot="10800000">
            <a:off x="3355848" y="2532888"/>
            <a:ext cx="137160" cy="118872"/>
          </a:xfrm>
          <a:prstGeom prst="triangle">
            <a:avLst/>
          </a:prstGeom>
          <a:solidFill>
            <a:srgbClr val="1E3A5F"/>
          </a:solidFill>
          <a:ln w="12700">
            <a:solidFill>
              <a:srgbClr val="1E3A5F"/>
            </a:solidFill>
            <a:prstDash val="solid"/>
          </a:ln>
        </p:spPr>
      </p:sp>
      <p:sp>
        <p:nvSpPr>
          <p:cNvPr id="62" name="Text 60"/>
          <p:cNvSpPr/>
          <p:nvPr/>
        </p:nvSpPr>
        <p:spPr>
          <a:xfrm>
            <a:off x="3538728" y="2468880"/>
            <a:ext cx="2148840" cy="128016"/>
          </a:xfrm>
          <a:prstGeom prst="rect">
            <a:avLst/>
          </a:prstGeom>
          <a:noFill/>
          <a:ln/>
        </p:spPr>
        <p:txBody>
          <a:bodyPr wrap="square" rtlCol="0" anchor="ctr"/>
          <a:lstStyle/>
          <a:p>
            <a:pPr indent="0" marL="0">
              <a:buNone/>
            </a:pPr>
            <a:r>
              <a:rPr lang="en-US" sz="700" b="1" dirty="0">
                <a:solidFill>
                  <a:srgbClr val="1E3A5F"/>
                </a:solidFill>
                <a:latin typeface="Calibri" pitchFamily="34" charset="0"/>
                <a:ea typeface="Calibri" pitchFamily="34" charset="-122"/>
                <a:cs typeface="Calibri" pitchFamily="34" charset="-120"/>
              </a:rPr>
              <a:t>Rainfall-Threshold Trigger Analysis</a:t>
            </a:r>
            <a:endParaRPr lang="en-US" sz="700" dirty="0"/>
          </a:p>
        </p:txBody>
      </p:sp>
      <p:sp>
        <p:nvSpPr>
          <p:cNvPr id="63" name="Text 61"/>
          <p:cNvSpPr/>
          <p:nvPr/>
        </p:nvSpPr>
        <p:spPr>
          <a:xfrm>
            <a:off x="3538728" y="2596896"/>
            <a:ext cx="2148840" cy="91440"/>
          </a:xfrm>
          <a:prstGeom prst="rect">
            <a:avLst/>
          </a:prstGeom>
          <a:noFill/>
          <a:ln/>
        </p:spPr>
        <p:txBody>
          <a:bodyPr wrap="square" rtlCol="0" anchor="ctr"/>
          <a:lstStyle/>
          <a:p>
            <a:pPr indent="0" marL="0">
              <a:buNone/>
            </a:pPr>
            <a:r>
              <a:rPr lang="en-US" sz="550" dirty="0">
                <a:solidFill>
                  <a:srgbClr val="5A5A5A"/>
                </a:solidFill>
                <a:latin typeface="Calibri" pitchFamily="34" charset="0"/>
                <a:ea typeface="Calibri" pitchFamily="34" charset="-122"/>
                <a:cs typeface="Calibri" pitchFamily="34" charset="-120"/>
              </a:rPr>
              <a:t>Range: 50–300 mm/day</a:t>
            </a:r>
            <a:endParaRPr lang="en-US" sz="550" dirty="0"/>
          </a:p>
        </p:txBody>
      </p:sp>
      <p:sp>
        <p:nvSpPr>
          <p:cNvPr id="64" name="Text 62"/>
          <p:cNvSpPr/>
          <p:nvPr/>
        </p:nvSpPr>
        <p:spPr>
          <a:xfrm>
            <a:off x="3538728" y="2697480"/>
            <a:ext cx="2148840" cy="82296"/>
          </a:xfrm>
          <a:prstGeom prst="rect">
            <a:avLst/>
          </a:prstGeom>
          <a:noFill/>
          <a:ln/>
        </p:spPr>
        <p:txBody>
          <a:bodyPr wrap="square" rtlCol="0" anchor="ctr"/>
          <a:lstStyle/>
          <a:p>
            <a:pPr indent="0" marL="0">
              <a:buNone/>
            </a:pPr>
            <a:r>
              <a:rPr lang="en-US" sz="550" i="1" dirty="0">
                <a:solidFill>
                  <a:srgbClr val="C76E6E"/>
                </a:solidFill>
                <a:latin typeface="Calibri" pitchFamily="34" charset="0"/>
                <a:ea typeface="Calibri" pitchFamily="34" charset="-122"/>
                <a:cs typeface="Calibri" pitchFamily="34" charset="-120"/>
              </a:rPr>
              <a:t>Low / Moderate / High Trigger Risk</a:t>
            </a:r>
            <a:endParaRPr lang="en-US" sz="550" dirty="0"/>
          </a:p>
        </p:txBody>
      </p:sp>
      <p:sp>
        <p:nvSpPr>
          <p:cNvPr id="65" name="Shape 63"/>
          <p:cNvSpPr/>
          <p:nvPr/>
        </p:nvSpPr>
        <p:spPr>
          <a:xfrm>
            <a:off x="3291840" y="2816352"/>
            <a:ext cx="2468880" cy="347472"/>
          </a:xfrm>
          <a:prstGeom prst="rect">
            <a:avLst/>
          </a:prstGeom>
          <a:solidFill>
            <a:srgbClr val="FFFFFF"/>
          </a:solidFill>
          <a:ln w="12700">
            <a:solidFill>
              <a:srgbClr val="1E3A5F"/>
            </a:solidFill>
            <a:prstDash val="solid"/>
          </a:ln>
        </p:spPr>
      </p:sp>
      <p:sp>
        <p:nvSpPr>
          <p:cNvPr id="66" name="Shape 64"/>
          <p:cNvSpPr/>
          <p:nvPr/>
        </p:nvSpPr>
        <p:spPr>
          <a:xfrm rot="10800000">
            <a:off x="3355848" y="2907792"/>
            <a:ext cx="137160" cy="118872"/>
          </a:xfrm>
          <a:prstGeom prst="triangle">
            <a:avLst/>
          </a:prstGeom>
          <a:solidFill>
            <a:srgbClr val="1E3A5F"/>
          </a:solidFill>
          <a:ln w="12700">
            <a:solidFill>
              <a:srgbClr val="1E3A5F"/>
            </a:solidFill>
            <a:prstDash val="solid"/>
          </a:ln>
        </p:spPr>
      </p:sp>
      <p:sp>
        <p:nvSpPr>
          <p:cNvPr id="67" name="Text 65"/>
          <p:cNvSpPr/>
          <p:nvPr/>
        </p:nvSpPr>
        <p:spPr>
          <a:xfrm>
            <a:off x="3538728" y="2843784"/>
            <a:ext cx="2148840" cy="128016"/>
          </a:xfrm>
          <a:prstGeom prst="rect">
            <a:avLst/>
          </a:prstGeom>
          <a:noFill/>
          <a:ln/>
        </p:spPr>
        <p:txBody>
          <a:bodyPr wrap="square" rtlCol="0" anchor="ctr"/>
          <a:lstStyle/>
          <a:p>
            <a:pPr indent="0" marL="0">
              <a:buNone/>
            </a:pPr>
            <a:r>
              <a:rPr lang="en-US" sz="700" b="1" dirty="0">
                <a:solidFill>
                  <a:srgbClr val="1E3A5F"/>
                </a:solidFill>
                <a:latin typeface="Calibri" pitchFamily="34" charset="0"/>
                <a:ea typeface="Calibri" pitchFamily="34" charset="-122"/>
                <a:cs typeface="Calibri" pitchFamily="34" charset="-120"/>
              </a:rPr>
              <a:t>Slope Stability Index Mapping</a:t>
            </a:r>
            <a:endParaRPr lang="en-US" sz="700" dirty="0"/>
          </a:p>
        </p:txBody>
      </p:sp>
      <p:sp>
        <p:nvSpPr>
          <p:cNvPr id="68" name="Text 66"/>
          <p:cNvSpPr/>
          <p:nvPr/>
        </p:nvSpPr>
        <p:spPr>
          <a:xfrm>
            <a:off x="3538728" y="2971800"/>
            <a:ext cx="2148840" cy="91440"/>
          </a:xfrm>
          <a:prstGeom prst="rect">
            <a:avLst/>
          </a:prstGeom>
          <a:noFill/>
          <a:ln/>
        </p:spPr>
        <p:txBody>
          <a:bodyPr wrap="square" rtlCol="0" anchor="ctr"/>
          <a:lstStyle/>
          <a:p>
            <a:pPr indent="0" marL="0">
              <a:buNone/>
            </a:pPr>
            <a:r>
              <a:rPr lang="en-US" sz="550" dirty="0">
                <a:solidFill>
                  <a:srgbClr val="5A5A5A"/>
                </a:solidFill>
                <a:latin typeface="Calibri" pitchFamily="34" charset="0"/>
                <a:ea typeface="Calibri" pitchFamily="34" charset="-122"/>
                <a:cs typeface="Calibri" pitchFamily="34" charset="-120"/>
              </a:rPr>
              <a:t>Range: Stability index 0–100</a:t>
            </a:r>
            <a:endParaRPr lang="en-US" sz="550" dirty="0"/>
          </a:p>
        </p:txBody>
      </p:sp>
      <p:sp>
        <p:nvSpPr>
          <p:cNvPr id="69" name="Text 67"/>
          <p:cNvSpPr/>
          <p:nvPr/>
        </p:nvSpPr>
        <p:spPr>
          <a:xfrm>
            <a:off x="3538728" y="3072384"/>
            <a:ext cx="2148840" cy="82296"/>
          </a:xfrm>
          <a:prstGeom prst="rect">
            <a:avLst/>
          </a:prstGeom>
          <a:noFill/>
          <a:ln/>
        </p:spPr>
        <p:txBody>
          <a:bodyPr wrap="square" rtlCol="0" anchor="ctr"/>
          <a:lstStyle/>
          <a:p>
            <a:pPr indent="0" marL="0">
              <a:buNone/>
            </a:pPr>
            <a:r>
              <a:rPr lang="en-US" sz="550" i="1" dirty="0">
                <a:solidFill>
                  <a:srgbClr val="C76E6E"/>
                </a:solidFill>
                <a:latin typeface="Calibri" pitchFamily="34" charset="0"/>
                <a:ea typeface="Calibri" pitchFamily="34" charset="-122"/>
                <a:cs typeface="Calibri" pitchFamily="34" charset="-120"/>
              </a:rPr>
              <a:t>Stable / Vulnerable / Critical</a:t>
            </a:r>
            <a:endParaRPr lang="en-US" sz="550" dirty="0"/>
          </a:p>
        </p:txBody>
      </p:sp>
      <p:sp>
        <p:nvSpPr>
          <p:cNvPr id="70" name="Shape 68"/>
          <p:cNvSpPr/>
          <p:nvPr/>
        </p:nvSpPr>
        <p:spPr>
          <a:xfrm>
            <a:off x="3291840" y="3191256"/>
            <a:ext cx="2468880" cy="347472"/>
          </a:xfrm>
          <a:prstGeom prst="rect">
            <a:avLst/>
          </a:prstGeom>
          <a:solidFill>
            <a:srgbClr val="FFFFFF"/>
          </a:solidFill>
          <a:ln w="12700">
            <a:solidFill>
              <a:srgbClr val="1E3A5F"/>
            </a:solidFill>
            <a:prstDash val="solid"/>
          </a:ln>
        </p:spPr>
      </p:sp>
      <p:sp>
        <p:nvSpPr>
          <p:cNvPr id="71" name="Shape 69"/>
          <p:cNvSpPr/>
          <p:nvPr/>
        </p:nvSpPr>
        <p:spPr>
          <a:xfrm rot="10800000">
            <a:off x="3355848" y="3282696"/>
            <a:ext cx="137160" cy="118872"/>
          </a:xfrm>
          <a:prstGeom prst="triangle">
            <a:avLst/>
          </a:prstGeom>
          <a:solidFill>
            <a:srgbClr val="1E3A5F"/>
          </a:solidFill>
          <a:ln w="12700">
            <a:solidFill>
              <a:srgbClr val="1E3A5F"/>
            </a:solidFill>
            <a:prstDash val="solid"/>
          </a:ln>
        </p:spPr>
      </p:sp>
      <p:sp>
        <p:nvSpPr>
          <p:cNvPr id="72" name="Text 70"/>
          <p:cNvSpPr/>
          <p:nvPr/>
        </p:nvSpPr>
        <p:spPr>
          <a:xfrm>
            <a:off x="3538728" y="3218688"/>
            <a:ext cx="2148840" cy="128016"/>
          </a:xfrm>
          <a:prstGeom prst="rect">
            <a:avLst/>
          </a:prstGeom>
          <a:noFill/>
          <a:ln/>
        </p:spPr>
        <p:txBody>
          <a:bodyPr wrap="square" rtlCol="0" anchor="ctr"/>
          <a:lstStyle/>
          <a:p>
            <a:pPr indent="0" marL="0">
              <a:buNone/>
            </a:pPr>
            <a:r>
              <a:rPr lang="en-US" sz="700" b="1" dirty="0">
                <a:solidFill>
                  <a:srgbClr val="1E3A5F"/>
                </a:solidFill>
                <a:latin typeface="Calibri" pitchFamily="34" charset="0"/>
                <a:ea typeface="Calibri" pitchFamily="34" charset="-122"/>
                <a:cs typeface="Calibri" pitchFamily="34" charset="-120"/>
              </a:rPr>
              <a:t>Ground Displacement Detection</a:t>
            </a:r>
            <a:endParaRPr lang="en-US" sz="700" dirty="0"/>
          </a:p>
        </p:txBody>
      </p:sp>
      <p:sp>
        <p:nvSpPr>
          <p:cNvPr id="73" name="Text 71"/>
          <p:cNvSpPr/>
          <p:nvPr/>
        </p:nvSpPr>
        <p:spPr>
          <a:xfrm>
            <a:off x="3538728" y="3346704"/>
            <a:ext cx="2148840" cy="91440"/>
          </a:xfrm>
          <a:prstGeom prst="rect">
            <a:avLst/>
          </a:prstGeom>
          <a:noFill/>
          <a:ln/>
        </p:spPr>
        <p:txBody>
          <a:bodyPr wrap="square" rtlCol="0" anchor="ctr"/>
          <a:lstStyle/>
          <a:p>
            <a:pPr indent="0" marL="0">
              <a:buNone/>
            </a:pPr>
            <a:r>
              <a:rPr lang="en-US" sz="550" dirty="0">
                <a:solidFill>
                  <a:srgbClr val="5A5A5A"/>
                </a:solidFill>
                <a:latin typeface="Calibri" pitchFamily="34" charset="0"/>
                <a:ea typeface="Calibri" pitchFamily="34" charset="-122"/>
                <a:cs typeface="Calibri" pitchFamily="34" charset="-120"/>
              </a:rPr>
              <a:t>Range: 0–500 mm movement</a:t>
            </a:r>
            <a:endParaRPr lang="en-US" sz="550" dirty="0"/>
          </a:p>
        </p:txBody>
      </p:sp>
      <p:sp>
        <p:nvSpPr>
          <p:cNvPr id="74" name="Text 72"/>
          <p:cNvSpPr/>
          <p:nvPr/>
        </p:nvSpPr>
        <p:spPr>
          <a:xfrm>
            <a:off x="3538728" y="3447288"/>
            <a:ext cx="2148840" cy="82296"/>
          </a:xfrm>
          <a:prstGeom prst="rect">
            <a:avLst/>
          </a:prstGeom>
          <a:noFill/>
          <a:ln/>
        </p:spPr>
        <p:txBody>
          <a:bodyPr wrap="square" rtlCol="0" anchor="ctr"/>
          <a:lstStyle/>
          <a:p>
            <a:pPr indent="0" marL="0">
              <a:buNone/>
            </a:pPr>
            <a:r>
              <a:rPr lang="en-US" sz="550" i="1" dirty="0">
                <a:solidFill>
                  <a:srgbClr val="C76E6E"/>
                </a:solidFill>
                <a:latin typeface="Calibri" pitchFamily="34" charset="0"/>
                <a:ea typeface="Calibri" pitchFamily="34" charset="-122"/>
                <a:cs typeface="Calibri" pitchFamily="34" charset="-120"/>
              </a:rPr>
              <a:t>Stable / Active Movement / Failure Risk</a:t>
            </a:r>
            <a:endParaRPr lang="en-US" sz="550" dirty="0"/>
          </a:p>
        </p:txBody>
      </p:sp>
      <p:sp>
        <p:nvSpPr>
          <p:cNvPr id="75" name="Shape 73"/>
          <p:cNvSpPr/>
          <p:nvPr/>
        </p:nvSpPr>
        <p:spPr>
          <a:xfrm>
            <a:off x="3291840" y="3566160"/>
            <a:ext cx="2468880" cy="347472"/>
          </a:xfrm>
          <a:prstGeom prst="rect">
            <a:avLst/>
          </a:prstGeom>
          <a:solidFill>
            <a:srgbClr val="FFFFFF"/>
          </a:solidFill>
          <a:ln w="12700">
            <a:solidFill>
              <a:srgbClr val="1E3A5F"/>
            </a:solidFill>
            <a:prstDash val="solid"/>
          </a:ln>
        </p:spPr>
      </p:sp>
      <p:sp>
        <p:nvSpPr>
          <p:cNvPr id="76" name="Shape 74"/>
          <p:cNvSpPr/>
          <p:nvPr/>
        </p:nvSpPr>
        <p:spPr>
          <a:xfrm rot="10800000">
            <a:off x="3355848" y="3657600"/>
            <a:ext cx="137160" cy="118872"/>
          </a:xfrm>
          <a:prstGeom prst="triangle">
            <a:avLst/>
          </a:prstGeom>
          <a:solidFill>
            <a:srgbClr val="1E3A5F"/>
          </a:solidFill>
          <a:ln w="12700">
            <a:solidFill>
              <a:srgbClr val="1E3A5F"/>
            </a:solidFill>
            <a:prstDash val="solid"/>
          </a:ln>
        </p:spPr>
      </p:sp>
      <p:sp>
        <p:nvSpPr>
          <p:cNvPr id="77" name="Text 75"/>
          <p:cNvSpPr/>
          <p:nvPr/>
        </p:nvSpPr>
        <p:spPr>
          <a:xfrm>
            <a:off x="3538728" y="3593592"/>
            <a:ext cx="2148840" cy="128016"/>
          </a:xfrm>
          <a:prstGeom prst="rect">
            <a:avLst/>
          </a:prstGeom>
          <a:noFill/>
          <a:ln/>
        </p:spPr>
        <p:txBody>
          <a:bodyPr wrap="square" rtlCol="0" anchor="ctr"/>
          <a:lstStyle/>
          <a:p>
            <a:pPr indent="0" marL="0">
              <a:buNone/>
            </a:pPr>
            <a:r>
              <a:rPr lang="en-US" sz="700" b="1" dirty="0">
                <a:solidFill>
                  <a:srgbClr val="1E3A5F"/>
                </a:solidFill>
                <a:latin typeface="Calibri" pitchFamily="34" charset="0"/>
                <a:ea typeface="Calibri" pitchFamily="34" charset="-122"/>
                <a:cs typeface="Calibri" pitchFamily="34" charset="-120"/>
              </a:rPr>
              <a:t>Watershed Delineation</a:t>
            </a:r>
            <a:endParaRPr lang="en-US" sz="700" dirty="0"/>
          </a:p>
        </p:txBody>
      </p:sp>
      <p:sp>
        <p:nvSpPr>
          <p:cNvPr id="78" name="Text 76"/>
          <p:cNvSpPr/>
          <p:nvPr/>
        </p:nvSpPr>
        <p:spPr>
          <a:xfrm>
            <a:off x="3538728" y="3721608"/>
            <a:ext cx="2148840" cy="91440"/>
          </a:xfrm>
          <a:prstGeom prst="rect">
            <a:avLst/>
          </a:prstGeom>
          <a:noFill/>
          <a:ln/>
        </p:spPr>
        <p:txBody>
          <a:bodyPr wrap="square" rtlCol="0" anchor="ctr"/>
          <a:lstStyle/>
          <a:p>
            <a:pPr indent="0" marL="0">
              <a:buNone/>
            </a:pPr>
            <a:r>
              <a:rPr lang="en-US" sz="550" dirty="0">
                <a:solidFill>
                  <a:srgbClr val="5A5A5A"/>
                </a:solidFill>
                <a:latin typeface="Calibri" pitchFamily="34" charset="0"/>
                <a:ea typeface="Calibri" pitchFamily="34" charset="-122"/>
                <a:cs typeface="Calibri" pitchFamily="34" charset="-120"/>
              </a:rPr>
              <a:t>Range: Basin-scale coverage</a:t>
            </a:r>
            <a:endParaRPr lang="en-US" sz="550" dirty="0"/>
          </a:p>
        </p:txBody>
      </p:sp>
      <p:sp>
        <p:nvSpPr>
          <p:cNvPr id="79" name="Text 77"/>
          <p:cNvSpPr/>
          <p:nvPr/>
        </p:nvSpPr>
        <p:spPr>
          <a:xfrm>
            <a:off x="3538728" y="3822192"/>
            <a:ext cx="2148840" cy="82296"/>
          </a:xfrm>
          <a:prstGeom prst="rect">
            <a:avLst/>
          </a:prstGeom>
          <a:noFill/>
          <a:ln/>
        </p:spPr>
        <p:txBody>
          <a:bodyPr wrap="square" rtlCol="0" anchor="ctr"/>
          <a:lstStyle/>
          <a:p>
            <a:pPr indent="0" marL="0">
              <a:buNone/>
            </a:pPr>
            <a:r>
              <a:rPr lang="en-US" sz="550" i="1" dirty="0">
                <a:solidFill>
                  <a:srgbClr val="C76E6E"/>
                </a:solidFill>
                <a:latin typeface="Calibri" pitchFamily="34" charset="0"/>
                <a:ea typeface="Calibri" pitchFamily="34" charset="-122"/>
                <a:cs typeface="Calibri" pitchFamily="34" charset="-120"/>
              </a:rPr>
              <a:t>Small / Medium / Large Basin</a:t>
            </a:r>
            <a:endParaRPr lang="en-US" sz="550" dirty="0"/>
          </a:p>
        </p:txBody>
      </p:sp>
      <p:sp>
        <p:nvSpPr>
          <p:cNvPr id="80" name="Shape 78"/>
          <p:cNvSpPr/>
          <p:nvPr/>
        </p:nvSpPr>
        <p:spPr>
          <a:xfrm>
            <a:off x="3291840" y="3941064"/>
            <a:ext cx="2468880" cy="347472"/>
          </a:xfrm>
          <a:prstGeom prst="rect">
            <a:avLst/>
          </a:prstGeom>
          <a:solidFill>
            <a:srgbClr val="FFFFFF"/>
          </a:solidFill>
          <a:ln w="12700">
            <a:solidFill>
              <a:srgbClr val="1E3A5F"/>
            </a:solidFill>
            <a:prstDash val="solid"/>
          </a:ln>
        </p:spPr>
      </p:sp>
      <p:sp>
        <p:nvSpPr>
          <p:cNvPr id="81" name="Shape 79"/>
          <p:cNvSpPr/>
          <p:nvPr/>
        </p:nvSpPr>
        <p:spPr>
          <a:xfrm rot="10800000">
            <a:off x="3355848" y="4032504"/>
            <a:ext cx="137160" cy="118872"/>
          </a:xfrm>
          <a:prstGeom prst="triangle">
            <a:avLst/>
          </a:prstGeom>
          <a:solidFill>
            <a:srgbClr val="1E3A5F"/>
          </a:solidFill>
          <a:ln w="12700">
            <a:solidFill>
              <a:srgbClr val="1E3A5F"/>
            </a:solidFill>
            <a:prstDash val="solid"/>
          </a:ln>
        </p:spPr>
      </p:sp>
      <p:sp>
        <p:nvSpPr>
          <p:cNvPr id="82" name="Text 80"/>
          <p:cNvSpPr/>
          <p:nvPr/>
        </p:nvSpPr>
        <p:spPr>
          <a:xfrm>
            <a:off x="3538728" y="3968496"/>
            <a:ext cx="2148840" cy="128016"/>
          </a:xfrm>
          <a:prstGeom prst="rect">
            <a:avLst/>
          </a:prstGeom>
          <a:noFill/>
          <a:ln/>
        </p:spPr>
        <p:txBody>
          <a:bodyPr wrap="square" rtlCol="0" anchor="ctr"/>
          <a:lstStyle/>
          <a:p>
            <a:pPr indent="0" marL="0">
              <a:buNone/>
            </a:pPr>
            <a:r>
              <a:rPr lang="en-US" sz="700" b="1" dirty="0">
                <a:solidFill>
                  <a:srgbClr val="1E3A5F"/>
                </a:solidFill>
                <a:latin typeface="Calibri" pitchFamily="34" charset="0"/>
                <a:ea typeface="Calibri" pitchFamily="34" charset="-122"/>
                <a:cs typeface="Calibri" pitchFamily="34" charset="-120"/>
              </a:rPr>
              <a:t>DEM Derivation &amp; Curvature Analysis</a:t>
            </a:r>
            <a:endParaRPr lang="en-US" sz="700" dirty="0"/>
          </a:p>
        </p:txBody>
      </p:sp>
      <p:sp>
        <p:nvSpPr>
          <p:cNvPr id="83" name="Text 81"/>
          <p:cNvSpPr/>
          <p:nvPr/>
        </p:nvSpPr>
        <p:spPr>
          <a:xfrm>
            <a:off x="3538728" y="4096512"/>
            <a:ext cx="2148840" cy="91440"/>
          </a:xfrm>
          <a:prstGeom prst="rect">
            <a:avLst/>
          </a:prstGeom>
          <a:noFill/>
          <a:ln/>
        </p:spPr>
        <p:txBody>
          <a:bodyPr wrap="square" rtlCol="0" anchor="ctr"/>
          <a:lstStyle/>
          <a:p>
            <a:pPr indent="0" marL="0">
              <a:buNone/>
            </a:pPr>
            <a:r>
              <a:rPr lang="en-US" sz="550" dirty="0">
                <a:solidFill>
                  <a:srgbClr val="5A5A5A"/>
                </a:solidFill>
                <a:latin typeface="Calibri" pitchFamily="34" charset="0"/>
                <a:ea typeface="Calibri" pitchFamily="34" charset="-122"/>
                <a:cs typeface="Calibri" pitchFamily="34" charset="-120"/>
              </a:rPr>
              <a:t>Range: 1–30 m resolution</a:t>
            </a:r>
            <a:endParaRPr lang="en-US" sz="550" dirty="0"/>
          </a:p>
        </p:txBody>
      </p:sp>
      <p:sp>
        <p:nvSpPr>
          <p:cNvPr id="84" name="Text 82"/>
          <p:cNvSpPr/>
          <p:nvPr/>
        </p:nvSpPr>
        <p:spPr>
          <a:xfrm>
            <a:off x="3538728" y="4197096"/>
            <a:ext cx="2148840" cy="82296"/>
          </a:xfrm>
          <a:prstGeom prst="rect">
            <a:avLst/>
          </a:prstGeom>
          <a:noFill/>
          <a:ln/>
        </p:spPr>
        <p:txBody>
          <a:bodyPr wrap="square" rtlCol="0" anchor="ctr"/>
          <a:lstStyle/>
          <a:p>
            <a:pPr indent="0" marL="0">
              <a:buNone/>
            </a:pPr>
            <a:r>
              <a:rPr lang="en-US" sz="550" i="1" dirty="0">
                <a:solidFill>
                  <a:srgbClr val="C76E6E"/>
                </a:solidFill>
                <a:latin typeface="Calibri" pitchFamily="34" charset="0"/>
                <a:ea typeface="Calibri" pitchFamily="34" charset="-122"/>
                <a:cs typeface="Calibri" pitchFamily="34" charset="-120"/>
              </a:rPr>
              <a:t>Stable / Erosion-Prone</a:t>
            </a:r>
            <a:endParaRPr lang="en-US" sz="550" dirty="0"/>
          </a:p>
        </p:txBody>
      </p:sp>
      <p:sp>
        <p:nvSpPr>
          <p:cNvPr id="85" name="Shape 83"/>
          <p:cNvSpPr/>
          <p:nvPr/>
        </p:nvSpPr>
        <p:spPr>
          <a:xfrm>
            <a:off x="3291840" y="4315968"/>
            <a:ext cx="2468880" cy="347472"/>
          </a:xfrm>
          <a:prstGeom prst="rect">
            <a:avLst/>
          </a:prstGeom>
          <a:solidFill>
            <a:srgbClr val="FFFFFF"/>
          </a:solidFill>
          <a:ln w="12700">
            <a:solidFill>
              <a:srgbClr val="1E3A5F"/>
            </a:solidFill>
            <a:prstDash val="solid"/>
          </a:ln>
        </p:spPr>
      </p:sp>
      <p:sp>
        <p:nvSpPr>
          <p:cNvPr id="86" name="Shape 84"/>
          <p:cNvSpPr/>
          <p:nvPr/>
        </p:nvSpPr>
        <p:spPr>
          <a:xfrm rot="10800000">
            <a:off x="3355848" y="4407408"/>
            <a:ext cx="137160" cy="118872"/>
          </a:xfrm>
          <a:prstGeom prst="triangle">
            <a:avLst/>
          </a:prstGeom>
          <a:solidFill>
            <a:srgbClr val="1E3A5F"/>
          </a:solidFill>
          <a:ln w="12700">
            <a:solidFill>
              <a:srgbClr val="1E3A5F"/>
            </a:solidFill>
            <a:prstDash val="solid"/>
          </a:ln>
        </p:spPr>
      </p:sp>
      <p:sp>
        <p:nvSpPr>
          <p:cNvPr id="87" name="Text 85"/>
          <p:cNvSpPr/>
          <p:nvPr/>
        </p:nvSpPr>
        <p:spPr>
          <a:xfrm>
            <a:off x="3538728" y="4343400"/>
            <a:ext cx="2148840" cy="128016"/>
          </a:xfrm>
          <a:prstGeom prst="rect">
            <a:avLst/>
          </a:prstGeom>
          <a:noFill/>
          <a:ln/>
        </p:spPr>
        <p:txBody>
          <a:bodyPr wrap="square" rtlCol="0" anchor="ctr"/>
          <a:lstStyle/>
          <a:p>
            <a:pPr indent="0" marL="0">
              <a:buNone/>
            </a:pPr>
            <a:r>
              <a:rPr lang="en-US" sz="700" b="1" dirty="0">
                <a:solidFill>
                  <a:srgbClr val="1E3A5F"/>
                </a:solidFill>
                <a:latin typeface="Calibri" pitchFamily="34" charset="0"/>
                <a:ea typeface="Calibri" pitchFamily="34" charset="-122"/>
                <a:cs typeface="Calibri" pitchFamily="34" charset="-120"/>
              </a:rPr>
              <a:t>Susceptibility Mapping</a:t>
            </a:r>
            <a:endParaRPr lang="en-US" sz="700" dirty="0"/>
          </a:p>
        </p:txBody>
      </p:sp>
      <p:sp>
        <p:nvSpPr>
          <p:cNvPr id="88" name="Text 86"/>
          <p:cNvSpPr/>
          <p:nvPr/>
        </p:nvSpPr>
        <p:spPr>
          <a:xfrm>
            <a:off x="3538728" y="4471416"/>
            <a:ext cx="2148840" cy="91440"/>
          </a:xfrm>
          <a:prstGeom prst="rect">
            <a:avLst/>
          </a:prstGeom>
          <a:noFill/>
          <a:ln/>
        </p:spPr>
        <p:txBody>
          <a:bodyPr wrap="square" rtlCol="0" anchor="ctr"/>
          <a:lstStyle/>
          <a:p>
            <a:pPr indent="0" marL="0">
              <a:buNone/>
            </a:pPr>
            <a:r>
              <a:rPr lang="en-US" sz="550" dirty="0">
                <a:solidFill>
                  <a:srgbClr val="5A5A5A"/>
                </a:solidFill>
                <a:latin typeface="Calibri" pitchFamily="34" charset="0"/>
                <a:ea typeface="Calibri" pitchFamily="34" charset="-122"/>
                <a:cs typeface="Calibri" pitchFamily="34" charset="-120"/>
              </a:rPr>
              <a:t>Range: Risk score 0–100</a:t>
            </a:r>
            <a:endParaRPr lang="en-US" sz="550" dirty="0"/>
          </a:p>
        </p:txBody>
      </p:sp>
      <p:sp>
        <p:nvSpPr>
          <p:cNvPr id="89" name="Text 87"/>
          <p:cNvSpPr/>
          <p:nvPr/>
        </p:nvSpPr>
        <p:spPr>
          <a:xfrm>
            <a:off x="3538728" y="4572000"/>
            <a:ext cx="2148840" cy="82296"/>
          </a:xfrm>
          <a:prstGeom prst="rect">
            <a:avLst/>
          </a:prstGeom>
          <a:noFill/>
          <a:ln/>
        </p:spPr>
        <p:txBody>
          <a:bodyPr wrap="square" rtlCol="0" anchor="ctr"/>
          <a:lstStyle/>
          <a:p>
            <a:pPr indent="0" marL="0">
              <a:buNone/>
            </a:pPr>
            <a:r>
              <a:rPr lang="en-US" sz="550" i="1" dirty="0">
                <a:solidFill>
                  <a:srgbClr val="C76E6E"/>
                </a:solidFill>
                <a:latin typeface="Calibri" pitchFamily="34" charset="0"/>
                <a:ea typeface="Calibri" pitchFamily="34" charset="-122"/>
                <a:cs typeface="Calibri" pitchFamily="34" charset="-120"/>
              </a:rPr>
              <a:t>Low / Medium / High Risk</a:t>
            </a:r>
            <a:endParaRPr lang="en-US" sz="550" dirty="0"/>
          </a:p>
        </p:txBody>
      </p:sp>
      <p:sp>
        <p:nvSpPr>
          <p:cNvPr id="90" name="Shape 88"/>
          <p:cNvSpPr/>
          <p:nvPr/>
        </p:nvSpPr>
        <p:spPr>
          <a:xfrm>
            <a:off x="3291840" y="4690872"/>
            <a:ext cx="2468880" cy="347472"/>
          </a:xfrm>
          <a:prstGeom prst="rect">
            <a:avLst/>
          </a:prstGeom>
          <a:solidFill>
            <a:srgbClr val="FFFFFF"/>
          </a:solidFill>
          <a:ln w="12700">
            <a:solidFill>
              <a:srgbClr val="1E3A5F"/>
            </a:solidFill>
            <a:prstDash val="solid"/>
          </a:ln>
        </p:spPr>
      </p:sp>
      <p:sp>
        <p:nvSpPr>
          <p:cNvPr id="91" name="Shape 89"/>
          <p:cNvSpPr/>
          <p:nvPr/>
        </p:nvSpPr>
        <p:spPr>
          <a:xfrm rot="10800000">
            <a:off x="3355848" y="4782312"/>
            <a:ext cx="137160" cy="118872"/>
          </a:xfrm>
          <a:prstGeom prst="triangle">
            <a:avLst/>
          </a:prstGeom>
          <a:solidFill>
            <a:srgbClr val="1E3A5F"/>
          </a:solidFill>
          <a:ln w="12700">
            <a:solidFill>
              <a:srgbClr val="1E3A5F"/>
            </a:solidFill>
            <a:prstDash val="solid"/>
          </a:ln>
        </p:spPr>
      </p:sp>
      <p:sp>
        <p:nvSpPr>
          <p:cNvPr id="92" name="Text 90"/>
          <p:cNvSpPr/>
          <p:nvPr/>
        </p:nvSpPr>
        <p:spPr>
          <a:xfrm>
            <a:off x="3538728" y="4718304"/>
            <a:ext cx="2148840" cy="128016"/>
          </a:xfrm>
          <a:prstGeom prst="rect">
            <a:avLst/>
          </a:prstGeom>
          <a:noFill/>
          <a:ln/>
        </p:spPr>
        <p:txBody>
          <a:bodyPr wrap="square" rtlCol="0" anchor="ctr"/>
          <a:lstStyle/>
          <a:p>
            <a:pPr indent="0" marL="0">
              <a:buNone/>
            </a:pPr>
            <a:r>
              <a:rPr lang="en-US" sz="700" b="1" dirty="0">
                <a:solidFill>
                  <a:srgbClr val="1E3A5F"/>
                </a:solidFill>
                <a:latin typeface="Calibri" pitchFamily="34" charset="0"/>
                <a:ea typeface="Calibri" pitchFamily="34" charset="-122"/>
                <a:cs typeface="Calibri" pitchFamily="34" charset="-120"/>
              </a:rPr>
              <a:t>Temporal Prediction Modeling</a:t>
            </a:r>
            <a:endParaRPr lang="en-US" sz="700" dirty="0"/>
          </a:p>
        </p:txBody>
      </p:sp>
      <p:sp>
        <p:nvSpPr>
          <p:cNvPr id="93" name="Text 91"/>
          <p:cNvSpPr/>
          <p:nvPr/>
        </p:nvSpPr>
        <p:spPr>
          <a:xfrm>
            <a:off x="3538728" y="4846320"/>
            <a:ext cx="2148840" cy="91440"/>
          </a:xfrm>
          <a:prstGeom prst="rect">
            <a:avLst/>
          </a:prstGeom>
          <a:noFill/>
          <a:ln/>
        </p:spPr>
        <p:txBody>
          <a:bodyPr wrap="square" rtlCol="0" anchor="ctr"/>
          <a:lstStyle/>
          <a:p>
            <a:pPr indent="0" marL="0">
              <a:buNone/>
            </a:pPr>
            <a:r>
              <a:rPr lang="en-US" sz="550" dirty="0">
                <a:solidFill>
                  <a:srgbClr val="5A5A5A"/>
                </a:solidFill>
                <a:latin typeface="Calibri" pitchFamily="34" charset="0"/>
                <a:ea typeface="Calibri" pitchFamily="34" charset="-122"/>
                <a:cs typeface="Calibri" pitchFamily="34" charset="-120"/>
              </a:rPr>
              <a:t>Range: 1–72 hr lead time</a:t>
            </a:r>
            <a:endParaRPr lang="en-US" sz="550" dirty="0"/>
          </a:p>
        </p:txBody>
      </p:sp>
      <p:sp>
        <p:nvSpPr>
          <p:cNvPr id="94" name="Text 92"/>
          <p:cNvSpPr/>
          <p:nvPr/>
        </p:nvSpPr>
        <p:spPr>
          <a:xfrm>
            <a:off x="3538728" y="4946904"/>
            <a:ext cx="2148840" cy="82296"/>
          </a:xfrm>
          <a:prstGeom prst="rect">
            <a:avLst/>
          </a:prstGeom>
          <a:noFill/>
          <a:ln/>
        </p:spPr>
        <p:txBody>
          <a:bodyPr wrap="square" rtlCol="0" anchor="ctr"/>
          <a:lstStyle/>
          <a:p>
            <a:pPr indent="0" marL="0">
              <a:buNone/>
            </a:pPr>
            <a:r>
              <a:rPr lang="en-US" sz="550" i="1" dirty="0">
                <a:solidFill>
                  <a:srgbClr val="C76E6E"/>
                </a:solidFill>
                <a:latin typeface="Calibri" pitchFamily="34" charset="0"/>
                <a:ea typeface="Calibri" pitchFamily="34" charset="-122"/>
                <a:cs typeface="Calibri" pitchFamily="34" charset="-120"/>
              </a:rPr>
              <a:t>Advisory / Warning / Emergency</a:t>
            </a:r>
            <a:endParaRPr lang="en-US" sz="550" dirty="0"/>
          </a:p>
        </p:txBody>
      </p:sp>
      <p:sp>
        <p:nvSpPr>
          <p:cNvPr id="95" name="Shape 93"/>
          <p:cNvSpPr/>
          <p:nvPr/>
        </p:nvSpPr>
        <p:spPr>
          <a:xfrm>
            <a:off x="3291840" y="5065776"/>
            <a:ext cx="2468880" cy="347472"/>
          </a:xfrm>
          <a:prstGeom prst="rect">
            <a:avLst/>
          </a:prstGeom>
          <a:solidFill>
            <a:srgbClr val="FFFFFF"/>
          </a:solidFill>
          <a:ln w="12700">
            <a:solidFill>
              <a:srgbClr val="1E3A5F"/>
            </a:solidFill>
            <a:prstDash val="solid"/>
          </a:ln>
        </p:spPr>
      </p:sp>
      <p:sp>
        <p:nvSpPr>
          <p:cNvPr id="96" name="Shape 94"/>
          <p:cNvSpPr/>
          <p:nvPr/>
        </p:nvSpPr>
        <p:spPr>
          <a:xfrm rot="10800000">
            <a:off x="3355848" y="5157216"/>
            <a:ext cx="137160" cy="118872"/>
          </a:xfrm>
          <a:prstGeom prst="triangle">
            <a:avLst/>
          </a:prstGeom>
          <a:solidFill>
            <a:srgbClr val="1E3A5F"/>
          </a:solidFill>
          <a:ln w="12700">
            <a:solidFill>
              <a:srgbClr val="1E3A5F"/>
            </a:solidFill>
            <a:prstDash val="solid"/>
          </a:ln>
        </p:spPr>
      </p:sp>
      <p:sp>
        <p:nvSpPr>
          <p:cNvPr id="97" name="Text 95"/>
          <p:cNvSpPr/>
          <p:nvPr/>
        </p:nvSpPr>
        <p:spPr>
          <a:xfrm>
            <a:off x="3538728" y="5093208"/>
            <a:ext cx="2148840" cy="128016"/>
          </a:xfrm>
          <a:prstGeom prst="rect">
            <a:avLst/>
          </a:prstGeom>
          <a:noFill/>
          <a:ln/>
        </p:spPr>
        <p:txBody>
          <a:bodyPr wrap="square" rtlCol="0" anchor="ctr"/>
          <a:lstStyle/>
          <a:p>
            <a:pPr indent="0" marL="0">
              <a:buNone/>
            </a:pPr>
            <a:r>
              <a:rPr lang="en-US" sz="700" b="1" dirty="0">
                <a:solidFill>
                  <a:srgbClr val="1E3A5F"/>
                </a:solidFill>
                <a:latin typeface="Calibri" pitchFamily="34" charset="0"/>
                <a:ea typeface="Calibri" pitchFamily="34" charset="-122"/>
                <a:cs typeface="Calibri" pitchFamily="34" charset="-120"/>
              </a:rPr>
              <a:t>Terrain Instability Assessment</a:t>
            </a:r>
            <a:endParaRPr lang="en-US" sz="700" dirty="0"/>
          </a:p>
        </p:txBody>
      </p:sp>
      <p:sp>
        <p:nvSpPr>
          <p:cNvPr id="98" name="Text 96"/>
          <p:cNvSpPr/>
          <p:nvPr/>
        </p:nvSpPr>
        <p:spPr>
          <a:xfrm>
            <a:off x="3538728" y="5221224"/>
            <a:ext cx="2148840" cy="91440"/>
          </a:xfrm>
          <a:prstGeom prst="rect">
            <a:avLst/>
          </a:prstGeom>
          <a:noFill/>
          <a:ln/>
        </p:spPr>
        <p:txBody>
          <a:bodyPr wrap="square" rtlCol="0" anchor="ctr"/>
          <a:lstStyle/>
          <a:p>
            <a:pPr indent="0" marL="0">
              <a:buNone/>
            </a:pPr>
            <a:r>
              <a:rPr lang="en-US" sz="550" dirty="0">
                <a:solidFill>
                  <a:srgbClr val="5A5A5A"/>
                </a:solidFill>
                <a:latin typeface="Calibri" pitchFamily="34" charset="0"/>
                <a:ea typeface="Calibri" pitchFamily="34" charset="-122"/>
                <a:cs typeface="Calibri" pitchFamily="34" charset="-120"/>
              </a:rPr>
              <a:t>Range: Multi-factor risk score</a:t>
            </a:r>
            <a:endParaRPr lang="en-US" sz="550" dirty="0"/>
          </a:p>
        </p:txBody>
      </p:sp>
      <p:sp>
        <p:nvSpPr>
          <p:cNvPr id="99" name="Text 97"/>
          <p:cNvSpPr/>
          <p:nvPr/>
        </p:nvSpPr>
        <p:spPr>
          <a:xfrm>
            <a:off x="3538728" y="5321808"/>
            <a:ext cx="2148840" cy="82296"/>
          </a:xfrm>
          <a:prstGeom prst="rect">
            <a:avLst/>
          </a:prstGeom>
          <a:noFill/>
          <a:ln/>
        </p:spPr>
        <p:txBody>
          <a:bodyPr wrap="square" rtlCol="0" anchor="ctr"/>
          <a:lstStyle/>
          <a:p>
            <a:pPr indent="0" marL="0">
              <a:buNone/>
            </a:pPr>
            <a:r>
              <a:rPr lang="en-US" sz="550" i="1" dirty="0">
                <a:solidFill>
                  <a:srgbClr val="C76E6E"/>
                </a:solidFill>
                <a:latin typeface="Calibri" pitchFamily="34" charset="0"/>
                <a:ea typeface="Calibri" pitchFamily="34" charset="-122"/>
                <a:cs typeface="Calibri" pitchFamily="34" charset="-120"/>
              </a:rPr>
              <a:t>Stable / Vulnerable / Severe</a:t>
            </a:r>
            <a:endParaRPr lang="en-US" sz="550" dirty="0"/>
          </a:p>
        </p:txBody>
      </p:sp>
      <p:sp>
        <p:nvSpPr>
          <p:cNvPr id="100" name="Text 98"/>
          <p:cNvSpPr/>
          <p:nvPr/>
        </p:nvSpPr>
        <p:spPr>
          <a:xfrm>
            <a:off x="3291840" y="4572000"/>
            <a:ext cx="2468880" cy="164592"/>
          </a:xfrm>
          <a:prstGeom prst="rect">
            <a:avLst/>
          </a:prstGeom>
          <a:noFill/>
          <a:ln/>
        </p:spPr>
        <p:txBody>
          <a:bodyPr wrap="square" rtlCol="0" anchor="ctr"/>
          <a:lstStyle/>
          <a:p>
            <a:pPr algn="l" indent="0" marL="0">
              <a:buNone/>
            </a:pPr>
            <a:r>
              <a:rPr lang="en-US" sz="800" b="1" dirty="0">
                <a:solidFill>
                  <a:srgbClr val="FFFFFF"/>
                </a:solidFill>
                <a:latin typeface="Calibri" pitchFamily="34" charset="0"/>
                <a:ea typeface="Calibri" pitchFamily="34" charset="-122"/>
                <a:cs typeface="Calibri" pitchFamily="34" charset="-120"/>
              </a:rPr>
              <a:t>▼ Slope Pre-Processing</a:t>
            </a:r>
            <a:endParaRPr lang="en-US" sz="800" dirty="0"/>
          </a:p>
        </p:txBody>
      </p:sp>
      <p:sp>
        <p:nvSpPr>
          <p:cNvPr id="101" name="Text 99"/>
          <p:cNvSpPr/>
          <p:nvPr/>
        </p:nvSpPr>
        <p:spPr>
          <a:xfrm>
            <a:off x="3337560" y="4773168"/>
            <a:ext cx="2377440" cy="256032"/>
          </a:xfrm>
          <a:prstGeom prst="rect">
            <a:avLst/>
          </a:prstGeom>
          <a:noFill/>
          <a:ln/>
        </p:spPr>
        <p:txBody>
          <a:bodyPr wrap="square" rtlCol="0" anchor="ctr"/>
          <a:lstStyle/>
          <a:p>
            <a:pPr indent="0" marL="0">
              <a:buNone/>
            </a:pPr>
            <a:r>
              <a:rPr lang="en-US" sz="700" dirty="0">
                <a:solidFill>
                  <a:srgbClr val="FFFFFF"/>
                </a:solidFill>
                <a:latin typeface="Calibri" pitchFamily="34" charset="0"/>
                <a:ea typeface="Calibri" pitchFamily="34" charset="-122"/>
                <a:cs typeface="Calibri" pitchFamily="34" charset="-120"/>
              </a:rPr>
              <a:t>DEM derivation, slope/aspect &amp; curvature calculation</a:t>
            </a:r>
            <a:endParaRPr lang="en-US" sz="700" dirty="0"/>
          </a:p>
        </p:txBody>
      </p:sp>
      <p:sp>
        <p:nvSpPr>
          <p:cNvPr id="102" name="Text 100"/>
          <p:cNvSpPr/>
          <p:nvPr/>
        </p:nvSpPr>
        <p:spPr>
          <a:xfrm>
            <a:off x="3337560" y="5047488"/>
            <a:ext cx="2377440" cy="256032"/>
          </a:xfrm>
          <a:prstGeom prst="rect">
            <a:avLst/>
          </a:prstGeom>
          <a:noFill/>
          <a:ln/>
        </p:spPr>
        <p:txBody>
          <a:bodyPr wrap="square" rtlCol="0" anchor="ctr"/>
          <a:lstStyle/>
          <a:p>
            <a:pPr indent="0" marL="0">
              <a:buNone/>
            </a:pPr>
            <a:r>
              <a:rPr lang="en-US" sz="700" dirty="0">
                <a:solidFill>
                  <a:srgbClr val="FFFFFF"/>
                </a:solidFill>
                <a:latin typeface="Calibri" pitchFamily="34" charset="0"/>
                <a:ea typeface="Calibri" pitchFamily="34" charset="-122"/>
                <a:cs typeface="Calibri" pitchFamily="34" charset="-120"/>
              </a:rPr>
              <a:t>Watershed delineation and catchment boundary analysis</a:t>
            </a:r>
            <a:endParaRPr lang="en-US" sz="700" dirty="0"/>
          </a:p>
        </p:txBody>
      </p:sp>
      <p:sp>
        <p:nvSpPr>
          <p:cNvPr id="103" name="Shape 101"/>
          <p:cNvSpPr/>
          <p:nvPr/>
        </p:nvSpPr>
        <p:spPr>
          <a:xfrm>
            <a:off x="6080760" y="1051560"/>
            <a:ext cx="2651760" cy="4297680"/>
          </a:xfrm>
          <a:prstGeom prst="rect">
            <a:avLst/>
          </a:prstGeom>
          <a:solidFill>
            <a:srgbClr val="5A5A5A"/>
          </a:solidFill>
          <a:ln w="12700">
            <a:solidFill>
              <a:srgbClr val="4A7BA7"/>
            </a:solidFill>
            <a:prstDash val="solid"/>
          </a:ln>
        </p:spPr>
      </p:sp>
      <p:sp>
        <p:nvSpPr>
          <p:cNvPr id="104" name="Shape 102"/>
          <p:cNvSpPr/>
          <p:nvPr/>
        </p:nvSpPr>
        <p:spPr>
          <a:xfrm>
            <a:off x="7086600" y="914400"/>
            <a:ext cx="320040" cy="320040"/>
          </a:xfrm>
          <a:prstGeom prst="ellipse">
            <a:avLst/>
          </a:prstGeom>
          <a:solidFill>
            <a:srgbClr val="FFFFFF"/>
          </a:solidFill>
          <a:ln w="25400">
            <a:solidFill>
              <a:srgbClr val="C76E6E"/>
            </a:solidFill>
            <a:prstDash val="solid"/>
          </a:ln>
        </p:spPr>
      </p:sp>
      <p:sp>
        <p:nvSpPr>
          <p:cNvPr id="105" name="Text 103"/>
          <p:cNvSpPr/>
          <p:nvPr/>
        </p:nvSpPr>
        <p:spPr>
          <a:xfrm>
            <a:off x="7086600" y="914400"/>
            <a:ext cx="320040" cy="320040"/>
          </a:xfrm>
          <a:prstGeom prst="rect">
            <a:avLst/>
          </a:prstGeom>
          <a:noFill/>
          <a:ln/>
        </p:spPr>
        <p:txBody>
          <a:bodyPr wrap="square" rtlCol="0" anchor="ctr"/>
          <a:lstStyle/>
          <a:p>
            <a:pPr algn="ctr" indent="0" marL="0">
              <a:buNone/>
            </a:pPr>
            <a:r>
              <a:rPr lang="en-US" sz="1600" b="1" dirty="0">
                <a:solidFill>
                  <a:srgbClr val="C76E6E"/>
                </a:solidFill>
              </a:rPr>
              <a:t>3</a:t>
            </a:r>
            <a:endParaRPr lang="en-US" sz="1600" dirty="0"/>
          </a:p>
        </p:txBody>
      </p:sp>
      <p:sp>
        <p:nvSpPr>
          <p:cNvPr id="106" name="Text 104"/>
          <p:cNvSpPr/>
          <p:nvPr/>
        </p:nvSpPr>
        <p:spPr>
          <a:xfrm>
            <a:off x="6080760" y="1280160"/>
            <a:ext cx="2651760" cy="27432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FUTURE AI / ML ENHANCEMENT</a:t>
            </a:r>
            <a:endParaRPr lang="en-US" sz="1200" dirty="0"/>
          </a:p>
        </p:txBody>
      </p:sp>
      <p:sp>
        <p:nvSpPr>
          <p:cNvPr id="107" name="Shape 105"/>
          <p:cNvSpPr/>
          <p:nvPr/>
        </p:nvSpPr>
        <p:spPr>
          <a:xfrm>
            <a:off x="6172200" y="1691640"/>
            <a:ext cx="2468880" cy="621792"/>
          </a:xfrm>
          <a:prstGeom prst="rect">
            <a:avLst/>
          </a:prstGeom>
          <a:solidFill>
            <a:srgbClr val="FFFFFF"/>
          </a:solidFill>
          <a:ln w="12700">
            <a:solidFill>
              <a:srgbClr val="1E3A5F"/>
            </a:solidFill>
            <a:prstDash val="solid"/>
          </a:ln>
        </p:spPr>
      </p:sp>
      <p:sp>
        <p:nvSpPr>
          <p:cNvPr id="108" name="Shape 106"/>
          <p:cNvSpPr/>
          <p:nvPr/>
        </p:nvSpPr>
        <p:spPr>
          <a:xfrm rot="10800000">
            <a:off x="6236208" y="1892808"/>
            <a:ext cx="164592" cy="146304"/>
          </a:xfrm>
          <a:prstGeom prst="triangle">
            <a:avLst/>
          </a:prstGeom>
          <a:solidFill>
            <a:srgbClr val="1E3A5F"/>
          </a:solidFill>
          <a:ln w="12700">
            <a:solidFill>
              <a:srgbClr val="1E3A5F"/>
            </a:solidFill>
            <a:prstDash val="solid"/>
          </a:ln>
        </p:spPr>
      </p:sp>
      <p:sp>
        <p:nvSpPr>
          <p:cNvPr id="109" name="Text 107"/>
          <p:cNvSpPr/>
          <p:nvPr/>
        </p:nvSpPr>
        <p:spPr>
          <a:xfrm>
            <a:off x="6446520" y="1764792"/>
            <a:ext cx="2148840" cy="475488"/>
          </a:xfrm>
          <a:prstGeom prst="rect">
            <a:avLst/>
          </a:prstGeom>
          <a:noFill/>
          <a:ln/>
        </p:spPr>
        <p:txBody>
          <a:bodyPr wrap="square" rtlCol="0" anchor="ctr"/>
          <a:lstStyle/>
          <a:p>
            <a:pPr algn="l" indent="0" marL="0">
              <a:buNone/>
            </a:pPr>
            <a:r>
              <a:rPr lang="en-US" sz="900" dirty="0">
                <a:solidFill>
                  <a:srgbClr val="1E3A5F"/>
                </a:solidFill>
                <a:latin typeface="Calibri" pitchFamily="34" charset="0"/>
                <a:ea typeface="Calibri" pitchFamily="34" charset="-122"/>
                <a:cs typeface="Calibri" pitchFamily="34" charset="-120"/>
              </a:rPr>
              <a:t>SVM landslide susceptibility</a:t>
            </a:r>
            <a:endParaRPr lang="en-US" sz="900" dirty="0"/>
          </a:p>
          <a:p>
            <a:pPr algn="l" indent="0" marL="0">
              <a:buNone/>
            </a:pPr>
            <a:r>
              <a:rPr lang="en-US" sz="900" dirty="0">
                <a:solidFill>
                  <a:srgbClr val="1E3A5F"/>
                </a:solidFill>
                <a:latin typeface="Calibri" pitchFamily="34" charset="0"/>
                <a:ea typeface="Calibri" pitchFamily="34" charset="-122"/>
                <a:cs typeface="Calibri" pitchFamily="34" charset="-120"/>
              </a:rPr>
              <a:t>mapping</a:t>
            </a:r>
            <a:endParaRPr lang="en-US" sz="900" dirty="0"/>
          </a:p>
        </p:txBody>
      </p:sp>
      <p:sp>
        <p:nvSpPr>
          <p:cNvPr id="110" name="Shape 108"/>
          <p:cNvSpPr/>
          <p:nvPr/>
        </p:nvSpPr>
        <p:spPr>
          <a:xfrm>
            <a:off x="6172200" y="2404872"/>
            <a:ext cx="2468880" cy="621792"/>
          </a:xfrm>
          <a:prstGeom prst="rect">
            <a:avLst/>
          </a:prstGeom>
          <a:solidFill>
            <a:srgbClr val="FFFFFF"/>
          </a:solidFill>
          <a:ln w="12700">
            <a:solidFill>
              <a:srgbClr val="1E3A5F"/>
            </a:solidFill>
            <a:prstDash val="solid"/>
          </a:ln>
        </p:spPr>
      </p:sp>
      <p:sp>
        <p:nvSpPr>
          <p:cNvPr id="111" name="Shape 109"/>
          <p:cNvSpPr/>
          <p:nvPr/>
        </p:nvSpPr>
        <p:spPr>
          <a:xfrm rot="10800000">
            <a:off x="6236208" y="2606040"/>
            <a:ext cx="164592" cy="146304"/>
          </a:xfrm>
          <a:prstGeom prst="triangle">
            <a:avLst/>
          </a:prstGeom>
          <a:solidFill>
            <a:srgbClr val="1E3A5F"/>
          </a:solidFill>
          <a:ln w="12700">
            <a:solidFill>
              <a:srgbClr val="1E3A5F"/>
            </a:solidFill>
            <a:prstDash val="solid"/>
          </a:ln>
        </p:spPr>
      </p:sp>
      <p:sp>
        <p:nvSpPr>
          <p:cNvPr id="112" name="Text 110"/>
          <p:cNvSpPr/>
          <p:nvPr/>
        </p:nvSpPr>
        <p:spPr>
          <a:xfrm>
            <a:off x="6446520" y="2478024"/>
            <a:ext cx="2148840" cy="475488"/>
          </a:xfrm>
          <a:prstGeom prst="rect">
            <a:avLst/>
          </a:prstGeom>
          <a:noFill/>
          <a:ln/>
        </p:spPr>
        <p:txBody>
          <a:bodyPr wrap="square" rtlCol="0" anchor="ctr"/>
          <a:lstStyle/>
          <a:p>
            <a:pPr algn="l" indent="0" marL="0">
              <a:buNone/>
            </a:pPr>
            <a:r>
              <a:rPr lang="en-US" sz="900" dirty="0">
                <a:solidFill>
                  <a:srgbClr val="1E3A5F"/>
                </a:solidFill>
                <a:latin typeface="Calibri" pitchFamily="34" charset="0"/>
                <a:ea typeface="Calibri" pitchFamily="34" charset="-122"/>
                <a:cs typeface="Calibri" pitchFamily="34" charset="-120"/>
              </a:rPr>
              <a:t>XGBoost / Gradient Boosting</a:t>
            </a:r>
            <a:endParaRPr lang="en-US" sz="900" dirty="0"/>
          </a:p>
          <a:p>
            <a:pPr algn="l" indent="0" marL="0">
              <a:buNone/>
            </a:pPr>
            <a:r>
              <a:rPr lang="en-US" sz="900" dirty="0">
                <a:solidFill>
                  <a:srgbClr val="1E3A5F"/>
                </a:solidFill>
                <a:latin typeface="Calibri" pitchFamily="34" charset="0"/>
                <a:ea typeface="Calibri" pitchFamily="34" charset="-122"/>
                <a:cs typeface="Calibri" pitchFamily="34" charset="-120"/>
              </a:rPr>
              <a:t>classification</a:t>
            </a:r>
            <a:endParaRPr lang="en-US" sz="900" dirty="0"/>
          </a:p>
        </p:txBody>
      </p:sp>
      <p:sp>
        <p:nvSpPr>
          <p:cNvPr id="113" name="Shape 111"/>
          <p:cNvSpPr/>
          <p:nvPr/>
        </p:nvSpPr>
        <p:spPr>
          <a:xfrm>
            <a:off x="6172200" y="3118104"/>
            <a:ext cx="2468880" cy="621792"/>
          </a:xfrm>
          <a:prstGeom prst="rect">
            <a:avLst/>
          </a:prstGeom>
          <a:solidFill>
            <a:srgbClr val="FFFFFF"/>
          </a:solidFill>
          <a:ln w="12700">
            <a:solidFill>
              <a:srgbClr val="1E3A5F"/>
            </a:solidFill>
            <a:prstDash val="solid"/>
          </a:ln>
        </p:spPr>
      </p:sp>
      <p:sp>
        <p:nvSpPr>
          <p:cNvPr id="114" name="Shape 112"/>
          <p:cNvSpPr/>
          <p:nvPr/>
        </p:nvSpPr>
        <p:spPr>
          <a:xfrm rot="10800000">
            <a:off x="6236208" y="3319272"/>
            <a:ext cx="164592" cy="146304"/>
          </a:xfrm>
          <a:prstGeom prst="triangle">
            <a:avLst/>
          </a:prstGeom>
          <a:solidFill>
            <a:srgbClr val="1E3A5F"/>
          </a:solidFill>
          <a:ln w="12700">
            <a:solidFill>
              <a:srgbClr val="1E3A5F"/>
            </a:solidFill>
            <a:prstDash val="solid"/>
          </a:ln>
        </p:spPr>
      </p:sp>
      <p:sp>
        <p:nvSpPr>
          <p:cNvPr id="115" name="Text 113"/>
          <p:cNvSpPr/>
          <p:nvPr/>
        </p:nvSpPr>
        <p:spPr>
          <a:xfrm>
            <a:off x="6446520" y="3191256"/>
            <a:ext cx="2148840" cy="475488"/>
          </a:xfrm>
          <a:prstGeom prst="rect">
            <a:avLst/>
          </a:prstGeom>
          <a:noFill/>
          <a:ln/>
        </p:spPr>
        <p:txBody>
          <a:bodyPr wrap="square" rtlCol="0" anchor="ctr"/>
          <a:lstStyle/>
          <a:p>
            <a:pPr algn="l" indent="0" marL="0">
              <a:buNone/>
            </a:pPr>
            <a:r>
              <a:rPr lang="en-US" sz="900" dirty="0">
                <a:solidFill>
                  <a:srgbClr val="1E3A5F"/>
                </a:solidFill>
                <a:latin typeface="Calibri" pitchFamily="34" charset="0"/>
                <a:ea typeface="Calibri" pitchFamily="34" charset="-122"/>
                <a:cs typeface="Calibri" pitchFamily="34" charset="-120"/>
              </a:rPr>
              <a:t>SAR Interferometry (InSAR)</a:t>
            </a:r>
            <a:endParaRPr lang="en-US" sz="900" dirty="0"/>
          </a:p>
          <a:p>
            <a:pPr algn="l" indent="0" marL="0">
              <a:buNone/>
            </a:pPr>
            <a:r>
              <a:rPr lang="en-US" sz="900" dirty="0">
                <a:solidFill>
                  <a:srgbClr val="1E3A5F"/>
                </a:solidFill>
                <a:latin typeface="Calibri" pitchFamily="34" charset="0"/>
                <a:ea typeface="Calibri" pitchFamily="34" charset="-122"/>
                <a:cs typeface="Calibri" pitchFamily="34" charset="-120"/>
              </a:rPr>
              <a:t>displacement</a:t>
            </a:r>
            <a:endParaRPr lang="en-US" sz="900" dirty="0"/>
          </a:p>
        </p:txBody>
      </p:sp>
      <p:sp>
        <p:nvSpPr>
          <p:cNvPr id="116" name="Shape 114"/>
          <p:cNvSpPr/>
          <p:nvPr/>
        </p:nvSpPr>
        <p:spPr>
          <a:xfrm>
            <a:off x="6172200" y="3831336"/>
            <a:ext cx="2468880" cy="621792"/>
          </a:xfrm>
          <a:prstGeom prst="rect">
            <a:avLst/>
          </a:prstGeom>
          <a:solidFill>
            <a:srgbClr val="FFFFFF"/>
          </a:solidFill>
          <a:ln w="12700">
            <a:solidFill>
              <a:srgbClr val="1E3A5F"/>
            </a:solidFill>
            <a:prstDash val="solid"/>
          </a:ln>
        </p:spPr>
      </p:sp>
      <p:sp>
        <p:nvSpPr>
          <p:cNvPr id="117" name="Shape 115"/>
          <p:cNvSpPr/>
          <p:nvPr/>
        </p:nvSpPr>
        <p:spPr>
          <a:xfrm rot="10800000">
            <a:off x="6236208" y="4032504"/>
            <a:ext cx="164592" cy="146304"/>
          </a:xfrm>
          <a:prstGeom prst="triangle">
            <a:avLst/>
          </a:prstGeom>
          <a:solidFill>
            <a:srgbClr val="1E3A5F"/>
          </a:solidFill>
          <a:ln w="12700">
            <a:solidFill>
              <a:srgbClr val="1E3A5F"/>
            </a:solidFill>
            <a:prstDash val="solid"/>
          </a:ln>
        </p:spPr>
      </p:sp>
      <p:sp>
        <p:nvSpPr>
          <p:cNvPr id="118" name="Text 116"/>
          <p:cNvSpPr/>
          <p:nvPr/>
        </p:nvSpPr>
        <p:spPr>
          <a:xfrm>
            <a:off x="6446520" y="3904488"/>
            <a:ext cx="2148840" cy="475488"/>
          </a:xfrm>
          <a:prstGeom prst="rect">
            <a:avLst/>
          </a:prstGeom>
          <a:noFill/>
          <a:ln/>
        </p:spPr>
        <p:txBody>
          <a:bodyPr wrap="square" rtlCol="0" anchor="ctr"/>
          <a:lstStyle/>
          <a:p>
            <a:pPr algn="l" indent="0" marL="0">
              <a:buNone/>
            </a:pPr>
            <a:r>
              <a:rPr lang="en-US" sz="900" dirty="0">
                <a:solidFill>
                  <a:srgbClr val="1E3A5F"/>
                </a:solidFill>
                <a:latin typeface="Calibri" pitchFamily="34" charset="0"/>
                <a:ea typeface="Calibri" pitchFamily="34" charset="-122"/>
                <a:cs typeface="Calibri" pitchFamily="34" charset="-120"/>
              </a:rPr>
              <a:t>Rainfall-threshold prediction</a:t>
            </a:r>
            <a:endParaRPr lang="en-US" sz="900" dirty="0"/>
          </a:p>
          <a:p>
            <a:pPr algn="l" indent="0" marL="0">
              <a:buNone/>
            </a:pPr>
            <a:r>
              <a:rPr lang="en-US" sz="900" dirty="0">
                <a:solidFill>
                  <a:srgbClr val="1E3A5F"/>
                </a:solidFill>
                <a:latin typeface="Calibri" pitchFamily="34" charset="0"/>
                <a:ea typeface="Calibri" pitchFamily="34" charset="-122"/>
                <a:cs typeface="Calibri" pitchFamily="34" charset="-120"/>
              </a:rPr>
              <a:t>model</a:t>
            </a:r>
            <a:endParaRPr lang="en-US" sz="900" dirty="0"/>
          </a:p>
        </p:txBody>
      </p:sp>
      <p:sp>
        <p:nvSpPr>
          <p:cNvPr id="119" name="Shape 117"/>
          <p:cNvSpPr/>
          <p:nvPr/>
        </p:nvSpPr>
        <p:spPr>
          <a:xfrm>
            <a:off x="6172200" y="4526280"/>
            <a:ext cx="2468880" cy="777240"/>
          </a:xfrm>
          <a:prstGeom prst="rect">
            <a:avLst/>
          </a:prstGeom>
          <a:solidFill>
            <a:srgbClr val="000000"/>
          </a:solidFill>
          <a:ln w="25400">
            <a:solidFill>
              <a:srgbClr val="E67E22"/>
            </a:solidFill>
            <a:prstDash val="dash"/>
          </a:ln>
        </p:spPr>
      </p:sp>
      <p:sp>
        <p:nvSpPr>
          <p:cNvPr id="120" name="Text 118"/>
          <p:cNvSpPr/>
          <p:nvPr/>
        </p:nvSpPr>
        <p:spPr>
          <a:xfrm>
            <a:off x="6217920" y="4572000"/>
            <a:ext cx="2377440" cy="182880"/>
          </a:xfrm>
          <a:prstGeom prst="rect">
            <a:avLst/>
          </a:prstGeom>
          <a:noFill/>
          <a:ln/>
        </p:spPr>
        <p:txBody>
          <a:bodyPr wrap="square" rtlCol="0" anchor="ctr"/>
          <a:lstStyle/>
          <a:p>
            <a:pPr algn="ctr" indent="0" marL="0">
              <a:buNone/>
            </a:pPr>
            <a:r>
              <a:rPr lang="en-US" sz="1000" b="1" dirty="0">
                <a:solidFill>
                  <a:srgbClr val="E67E22"/>
                </a:solidFill>
                <a:latin typeface="Calibri" pitchFamily="34" charset="0"/>
                <a:ea typeface="Calibri" pitchFamily="34" charset="-122"/>
                <a:cs typeface="Calibri" pitchFamily="34" charset="-120"/>
              </a:rPr>
              <a:t>FUTURE ROADMAP</a:t>
            </a:r>
            <a:endParaRPr lang="en-US" sz="1000" dirty="0"/>
          </a:p>
        </p:txBody>
      </p:sp>
      <p:sp>
        <p:nvSpPr>
          <p:cNvPr id="121" name="Text 119"/>
          <p:cNvSpPr/>
          <p:nvPr/>
        </p:nvSpPr>
        <p:spPr>
          <a:xfrm>
            <a:off x="6263640" y="4800600"/>
            <a:ext cx="2286000" cy="457200"/>
          </a:xfrm>
          <a:prstGeom prst="rect">
            <a:avLst/>
          </a:prstGeom>
          <a:noFill/>
          <a:ln/>
        </p:spPr>
        <p:txBody>
          <a:bodyPr wrap="square" rtlCol="0" anchor="ctr"/>
          <a:lstStyle/>
          <a:p>
            <a:pPr indent="0" marL="0">
              <a:buNone/>
            </a:pPr>
            <a:r>
              <a:rPr lang="en-US" sz="700" i="1" dirty="0">
                <a:solidFill>
                  <a:srgbClr val="FFFFFF"/>
                </a:solidFill>
                <a:latin typeface="Calibri" pitchFamily="34" charset="0"/>
                <a:ea typeface="Calibri" pitchFamily="34" charset="-122"/>
                <a:cs typeface="Calibri" pitchFamily="34" charset="-120"/>
              </a:rPr>
              <a:t>AI/ML enhancement to be integrated in Phase 2 — augmenting deterministic models with predictive intelligence. Starting ~3 months post sensor data availability.</a:t>
            </a:r>
            <a:endParaRPr lang="en-US" sz="700" dirty="0"/>
          </a:p>
        </p:txBody>
      </p:sp>
      <p:sp>
        <p:nvSpPr>
          <p:cNvPr id="122" name="Shape 120"/>
          <p:cNvSpPr/>
          <p:nvPr/>
        </p:nvSpPr>
        <p:spPr>
          <a:xfrm>
            <a:off x="8961120" y="1051560"/>
            <a:ext cx="2880360" cy="4297680"/>
          </a:xfrm>
          <a:prstGeom prst="rect">
            <a:avLst/>
          </a:prstGeom>
          <a:solidFill>
            <a:srgbClr val="1E3A5F"/>
          </a:solidFill>
          <a:ln w="12700">
            <a:solidFill>
              <a:srgbClr val="4A7BA7"/>
            </a:solidFill>
            <a:prstDash val="solid"/>
          </a:ln>
        </p:spPr>
      </p:sp>
      <p:sp>
        <p:nvSpPr>
          <p:cNvPr id="123" name="Shape 121"/>
          <p:cNvSpPr/>
          <p:nvPr/>
        </p:nvSpPr>
        <p:spPr>
          <a:xfrm>
            <a:off x="10241280" y="914400"/>
            <a:ext cx="320040" cy="320040"/>
          </a:xfrm>
          <a:prstGeom prst="ellipse">
            <a:avLst/>
          </a:prstGeom>
          <a:solidFill>
            <a:srgbClr val="FFFFFF"/>
          </a:solidFill>
          <a:ln w="25400">
            <a:solidFill>
              <a:srgbClr val="C76E6E"/>
            </a:solidFill>
            <a:prstDash val="solid"/>
          </a:ln>
        </p:spPr>
      </p:sp>
      <p:sp>
        <p:nvSpPr>
          <p:cNvPr id="124" name="Text 122"/>
          <p:cNvSpPr/>
          <p:nvPr/>
        </p:nvSpPr>
        <p:spPr>
          <a:xfrm>
            <a:off x="10241280" y="914400"/>
            <a:ext cx="320040" cy="320040"/>
          </a:xfrm>
          <a:prstGeom prst="rect">
            <a:avLst/>
          </a:prstGeom>
          <a:noFill/>
          <a:ln/>
        </p:spPr>
        <p:txBody>
          <a:bodyPr wrap="square" rtlCol="0" anchor="ctr"/>
          <a:lstStyle/>
          <a:p>
            <a:pPr algn="ctr" indent="0" marL="0">
              <a:buNone/>
            </a:pPr>
            <a:r>
              <a:rPr lang="en-US" sz="1600" b="1" dirty="0">
                <a:solidFill>
                  <a:srgbClr val="C76E6E"/>
                </a:solidFill>
              </a:rPr>
              <a:t>4</a:t>
            </a:r>
            <a:endParaRPr lang="en-US" sz="1600" dirty="0"/>
          </a:p>
        </p:txBody>
      </p:sp>
      <p:sp>
        <p:nvSpPr>
          <p:cNvPr id="125" name="Text 123"/>
          <p:cNvSpPr/>
          <p:nvPr/>
        </p:nvSpPr>
        <p:spPr>
          <a:xfrm>
            <a:off x="8961120" y="1280160"/>
            <a:ext cx="2880360" cy="27432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OUTPUTS &amp; ALERTS (Pillar 1)</a:t>
            </a:r>
            <a:endParaRPr lang="en-US" sz="1300" dirty="0"/>
          </a:p>
        </p:txBody>
      </p:sp>
      <p:sp>
        <p:nvSpPr>
          <p:cNvPr id="126" name="Shape 124"/>
          <p:cNvSpPr/>
          <p:nvPr/>
        </p:nvSpPr>
        <p:spPr>
          <a:xfrm>
            <a:off x="9052560" y="1691640"/>
            <a:ext cx="2697480" cy="347472"/>
          </a:xfrm>
          <a:prstGeom prst="rect">
            <a:avLst/>
          </a:prstGeom>
          <a:solidFill>
            <a:srgbClr val="FFFFFF"/>
          </a:solidFill>
          <a:ln w="12700">
            <a:solidFill>
              <a:srgbClr val="4A7BA7"/>
            </a:solidFill>
            <a:prstDash val="solid"/>
          </a:ln>
        </p:spPr>
      </p:sp>
      <p:sp>
        <p:nvSpPr>
          <p:cNvPr id="127" name="Shape 125"/>
          <p:cNvSpPr/>
          <p:nvPr/>
        </p:nvSpPr>
        <p:spPr>
          <a:xfrm rot="10800000">
            <a:off x="9116568" y="1783080"/>
            <a:ext cx="137160" cy="118872"/>
          </a:xfrm>
          <a:prstGeom prst="triangle">
            <a:avLst/>
          </a:prstGeom>
          <a:solidFill>
            <a:srgbClr val="1E3A5F"/>
          </a:solidFill>
          <a:ln w="12700">
            <a:solidFill>
              <a:srgbClr val="1E3A5F"/>
            </a:solidFill>
            <a:prstDash val="solid"/>
          </a:ln>
        </p:spPr>
      </p:sp>
      <p:sp>
        <p:nvSpPr>
          <p:cNvPr id="128" name="Text 126"/>
          <p:cNvSpPr/>
          <p:nvPr/>
        </p:nvSpPr>
        <p:spPr>
          <a:xfrm>
            <a:off x="9299448" y="1719072"/>
            <a:ext cx="2377440" cy="128016"/>
          </a:xfrm>
          <a:prstGeom prst="rect">
            <a:avLst/>
          </a:prstGeom>
          <a:noFill/>
          <a:ln/>
        </p:spPr>
        <p:txBody>
          <a:bodyPr wrap="square" rtlCol="0" anchor="ctr"/>
          <a:lstStyle/>
          <a:p>
            <a:pPr indent="0" marL="0">
              <a:buNone/>
            </a:pPr>
            <a:r>
              <a:rPr lang="en-US" sz="700" b="1" dirty="0">
                <a:solidFill>
                  <a:srgbClr val="1E3A5F"/>
                </a:solidFill>
                <a:latin typeface="Calibri" pitchFamily="34" charset="0"/>
                <a:ea typeface="Calibri" pitchFamily="34" charset="-122"/>
                <a:cs typeface="Calibri" pitchFamily="34" charset="-120"/>
              </a:rPr>
              <a:t>Landslide Susceptibility Zone Map</a:t>
            </a:r>
            <a:endParaRPr lang="en-US" sz="700" dirty="0"/>
          </a:p>
        </p:txBody>
      </p:sp>
      <p:sp>
        <p:nvSpPr>
          <p:cNvPr id="129" name="Text 127"/>
          <p:cNvSpPr/>
          <p:nvPr/>
        </p:nvSpPr>
        <p:spPr>
          <a:xfrm>
            <a:off x="9299448" y="1847088"/>
            <a:ext cx="2377440" cy="91440"/>
          </a:xfrm>
          <a:prstGeom prst="rect">
            <a:avLst/>
          </a:prstGeom>
          <a:noFill/>
          <a:ln/>
        </p:spPr>
        <p:txBody>
          <a:bodyPr wrap="square" rtlCol="0" anchor="ctr"/>
          <a:lstStyle/>
          <a:p>
            <a:pPr indent="0" marL="0">
              <a:buNone/>
            </a:pPr>
            <a:r>
              <a:rPr lang="en-US" sz="550" dirty="0">
                <a:solidFill>
                  <a:srgbClr val="5A5A5A"/>
                </a:solidFill>
                <a:latin typeface="Calibri" pitchFamily="34" charset="0"/>
                <a:ea typeface="Calibri" pitchFamily="34" charset="-122"/>
                <a:cs typeface="Calibri" pitchFamily="34" charset="-120"/>
              </a:rPr>
              <a:t>Range: 0–100 risk index</a:t>
            </a:r>
            <a:endParaRPr lang="en-US" sz="550" dirty="0"/>
          </a:p>
        </p:txBody>
      </p:sp>
      <p:sp>
        <p:nvSpPr>
          <p:cNvPr id="130" name="Text 128"/>
          <p:cNvSpPr/>
          <p:nvPr/>
        </p:nvSpPr>
        <p:spPr>
          <a:xfrm>
            <a:off x="9299448" y="1947672"/>
            <a:ext cx="2377440" cy="82296"/>
          </a:xfrm>
          <a:prstGeom prst="rect">
            <a:avLst/>
          </a:prstGeom>
          <a:noFill/>
          <a:ln/>
        </p:spPr>
        <p:txBody>
          <a:bodyPr wrap="square" rtlCol="0" anchor="ctr"/>
          <a:lstStyle/>
          <a:p>
            <a:pPr indent="0" marL="0">
              <a:buNone/>
            </a:pPr>
            <a:r>
              <a:rPr lang="en-US" sz="550" i="1" dirty="0">
                <a:solidFill>
                  <a:srgbClr val="4A7BA7"/>
                </a:solidFill>
                <a:latin typeface="Calibri" pitchFamily="34" charset="0"/>
                <a:ea typeface="Calibri" pitchFamily="34" charset="-122"/>
                <a:cs typeface="Calibri" pitchFamily="34" charset="-120"/>
              </a:rPr>
              <a:t>Low / Medium / High / Severe</a:t>
            </a:r>
            <a:endParaRPr lang="en-US" sz="550" dirty="0"/>
          </a:p>
        </p:txBody>
      </p:sp>
      <p:sp>
        <p:nvSpPr>
          <p:cNvPr id="131" name="Shape 129"/>
          <p:cNvSpPr/>
          <p:nvPr/>
        </p:nvSpPr>
        <p:spPr>
          <a:xfrm>
            <a:off x="9052560" y="2066544"/>
            <a:ext cx="2697480" cy="347472"/>
          </a:xfrm>
          <a:prstGeom prst="rect">
            <a:avLst/>
          </a:prstGeom>
          <a:solidFill>
            <a:srgbClr val="FFFFFF"/>
          </a:solidFill>
          <a:ln w="12700">
            <a:solidFill>
              <a:srgbClr val="4A7BA7"/>
            </a:solidFill>
            <a:prstDash val="solid"/>
          </a:ln>
        </p:spPr>
      </p:sp>
      <p:sp>
        <p:nvSpPr>
          <p:cNvPr id="132" name="Shape 130"/>
          <p:cNvSpPr/>
          <p:nvPr/>
        </p:nvSpPr>
        <p:spPr>
          <a:xfrm rot="10800000">
            <a:off x="9116568" y="2157984"/>
            <a:ext cx="137160" cy="118872"/>
          </a:xfrm>
          <a:prstGeom prst="triangle">
            <a:avLst/>
          </a:prstGeom>
          <a:solidFill>
            <a:srgbClr val="1E3A5F"/>
          </a:solidFill>
          <a:ln w="12700">
            <a:solidFill>
              <a:srgbClr val="1E3A5F"/>
            </a:solidFill>
            <a:prstDash val="solid"/>
          </a:ln>
        </p:spPr>
      </p:sp>
      <p:sp>
        <p:nvSpPr>
          <p:cNvPr id="133" name="Text 131"/>
          <p:cNvSpPr/>
          <p:nvPr/>
        </p:nvSpPr>
        <p:spPr>
          <a:xfrm>
            <a:off x="9299448" y="2093976"/>
            <a:ext cx="2377440" cy="128016"/>
          </a:xfrm>
          <a:prstGeom prst="rect">
            <a:avLst/>
          </a:prstGeom>
          <a:noFill/>
          <a:ln/>
        </p:spPr>
        <p:txBody>
          <a:bodyPr wrap="square" rtlCol="0" anchor="ctr"/>
          <a:lstStyle/>
          <a:p>
            <a:pPr indent="0" marL="0">
              <a:buNone/>
            </a:pPr>
            <a:r>
              <a:rPr lang="en-US" sz="700" b="1" dirty="0">
                <a:solidFill>
                  <a:srgbClr val="1E3A5F"/>
                </a:solidFill>
                <a:latin typeface="Calibri" pitchFamily="34" charset="0"/>
                <a:ea typeface="Calibri" pitchFamily="34" charset="-122"/>
                <a:cs typeface="Calibri" pitchFamily="34" charset="-120"/>
              </a:rPr>
              <a:t>Ground Deformation Detection</a:t>
            </a:r>
            <a:endParaRPr lang="en-US" sz="700" dirty="0"/>
          </a:p>
        </p:txBody>
      </p:sp>
      <p:sp>
        <p:nvSpPr>
          <p:cNvPr id="134" name="Text 132"/>
          <p:cNvSpPr/>
          <p:nvPr/>
        </p:nvSpPr>
        <p:spPr>
          <a:xfrm>
            <a:off x="9299448" y="2221992"/>
            <a:ext cx="2377440" cy="91440"/>
          </a:xfrm>
          <a:prstGeom prst="rect">
            <a:avLst/>
          </a:prstGeom>
          <a:noFill/>
          <a:ln/>
        </p:spPr>
        <p:txBody>
          <a:bodyPr wrap="square" rtlCol="0" anchor="ctr"/>
          <a:lstStyle/>
          <a:p>
            <a:pPr indent="0" marL="0">
              <a:buNone/>
            </a:pPr>
            <a:r>
              <a:rPr lang="en-US" sz="550" dirty="0">
                <a:solidFill>
                  <a:srgbClr val="5A5A5A"/>
                </a:solidFill>
                <a:latin typeface="Calibri" pitchFamily="34" charset="0"/>
                <a:ea typeface="Calibri" pitchFamily="34" charset="-122"/>
                <a:cs typeface="Calibri" pitchFamily="34" charset="-120"/>
              </a:rPr>
              <a:t>Range: 0–500 mm shift</a:t>
            </a:r>
            <a:endParaRPr lang="en-US" sz="550" dirty="0"/>
          </a:p>
        </p:txBody>
      </p:sp>
      <p:sp>
        <p:nvSpPr>
          <p:cNvPr id="135" name="Text 133"/>
          <p:cNvSpPr/>
          <p:nvPr/>
        </p:nvSpPr>
        <p:spPr>
          <a:xfrm>
            <a:off x="9299448" y="2322576"/>
            <a:ext cx="2377440" cy="82296"/>
          </a:xfrm>
          <a:prstGeom prst="rect">
            <a:avLst/>
          </a:prstGeom>
          <a:noFill/>
          <a:ln/>
        </p:spPr>
        <p:txBody>
          <a:bodyPr wrap="square" rtlCol="0" anchor="ctr"/>
          <a:lstStyle/>
          <a:p>
            <a:pPr indent="0" marL="0">
              <a:buNone/>
            </a:pPr>
            <a:r>
              <a:rPr lang="en-US" sz="550" i="1" dirty="0">
                <a:solidFill>
                  <a:srgbClr val="4A7BA7"/>
                </a:solidFill>
                <a:latin typeface="Calibri" pitchFamily="34" charset="0"/>
                <a:ea typeface="Calibri" pitchFamily="34" charset="-122"/>
                <a:cs typeface="Calibri" pitchFamily="34" charset="-120"/>
              </a:rPr>
              <a:t>Stable / Active / Critical</a:t>
            </a:r>
            <a:endParaRPr lang="en-US" sz="550" dirty="0"/>
          </a:p>
        </p:txBody>
      </p:sp>
      <p:sp>
        <p:nvSpPr>
          <p:cNvPr id="136" name="Shape 134"/>
          <p:cNvSpPr/>
          <p:nvPr/>
        </p:nvSpPr>
        <p:spPr>
          <a:xfrm>
            <a:off x="9052560" y="2441448"/>
            <a:ext cx="2697480" cy="347472"/>
          </a:xfrm>
          <a:prstGeom prst="rect">
            <a:avLst/>
          </a:prstGeom>
          <a:solidFill>
            <a:srgbClr val="FFFFFF"/>
          </a:solidFill>
          <a:ln w="12700">
            <a:solidFill>
              <a:srgbClr val="4A7BA7"/>
            </a:solidFill>
            <a:prstDash val="solid"/>
          </a:ln>
        </p:spPr>
      </p:sp>
      <p:sp>
        <p:nvSpPr>
          <p:cNvPr id="137" name="Shape 135"/>
          <p:cNvSpPr/>
          <p:nvPr/>
        </p:nvSpPr>
        <p:spPr>
          <a:xfrm rot="10800000">
            <a:off x="9116568" y="2532888"/>
            <a:ext cx="137160" cy="118872"/>
          </a:xfrm>
          <a:prstGeom prst="triangle">
            <a:avLst/>
          </a:prstGeom>
          <a:solidFill>
            <a:srgbClr val="1E3A5F"/>
          </a:solidFill>
          <a:ln w="12700">
            <a:solidFill>
              <a:srgbClr val="1E3A5F"/>
            </a:solidFill>
            <a:prstDash val="solid"/>
          </a:ln>
        </p:spPr>
      </p:sp>
      <p:sp>
        <p:nvSpPr>
          <p:cNvPr id="138" name="Text 136"/>
          <p:cNvSpPr/>
          <p:nvPr/>
        </p:nvSpPr>
        <p:spPr>
          <a:xfrm>
            <a:off x="9299448" y="2468880"/>
            <a:ext cx="2377440" cy="128016"/>
          </a:xfrm>
          <a:prstGeom prst="rect">
            <a:avLst/>
          </a:prstGeom>
          <a:noFill/>
          <a:ln/>
        </p:spPr>
        <p:txBody>
          <a:bodyPr wrap="square" rtlCol="0" anchor="ctr"/>
          <a:lstStyle/>
          <a:p>
            <a:pPr indent="0" marL="0">
              <a:buNone/>
            </a:pPr>
            <a:r>
              <a:rPr lang="en-US" sz="700" b="1" dirty="0">
                <a:solidFill>
                  <a:srgbClr val="1E3A5F"/>
                </a:solidFill>
                <a:latin typeface="Calibri" pitchFamily="34" charset="0"/>
                <a:ea typeface="Calibri" pitchFamily="34" charset="-122"/>
                <a:cs typeface="Calibri" pitchFamily="34" charset="-120"/>
              </a:rPr>
              <a:t>Population Exposure Analysis</a:t>
            </a:r>
            <a:endParaRPr lang="en-US" sz="700" dirty="0"/>
          </a:p>
        </p:txBody>
      </p:sp>
      <p:sp>
        <p:nvSpPr>
          <p:cNvPr id="139" name="Text 137"/>
          <p:cNvSpPr/>
          <p:nvPr/>
        </p:nvSpPr>
        <p:spPr>
          <a:xfrm>
            <a:off x="9299448" y="2596896"/>
            <a:ext cx="2377440" cy="91440"/>
          </a:xfrm>
          <a:prstGeom prst="rect">
            <a:avLst/>
          </a:prstGeom>
          <a:noFill/>
          <a:ln/>
        </p:spPr>
        <p:txBody>
          <a:bodyPr wrap="square" rtlCol="0" anchor="ctr"/>
          <a:lstStyle/>
          <a:p>
            <a:pPr indent="0" marL="0">
              <a:buNone/>
            </a:pPr>
            <a:r>
              <a:rPr lang="en-US" sz="550" dirty="0">
                <a:solidFill>
                  <a:srgbClr val="5A5A5A"/>
                </a:solidFill>
                <a:latin typeface="Calibri" pitchFamily="34" charset="0"/>
                <a:ea typeface="Calibri" pitchFamily="34" charset="-122"/>
                <a:cs typeface="Calibri" pitchFamily="34" charset="-120"/>
              </a:rPr>
              <a:t>Range: 100 – millions</a:t>
            </a:r>
            <a:endParaRPr lang="en-US" sz="550" dirty="0"/>
          </a:p>
        </p:txBody>
      </p:sp>
      <p:sp>
        <p:nvSpPr>
          <p:cNvPr id="140" name="Text 138"/>
          <p:cNvSpPr/>
          <p:nvPr/>
        </p:nvSpPr>
        <p:spPr>
          <a:xfrm>
            <a:off x="9299448" y="2697480"/>
            <a:ext cx="2377440" cy="82296"/>
          </a:xfrm>
          <a:prstGeom prst="rect">
            <a:avLst/>
          </a:prstGeom>
          <a:noFill/>
          <a:ln/>
        </p:spPr>
        <p:txBody>
          <a:bodyPr wrap="square" rtlCol="0" anchor="ctr"/>
          <a:lstStyle/>
          <a:p>
            <a:pPr indent="0" marL="0">
              <a:buNone/>
            </a:pPr>
            <a:r>
              <a:rPr lang="en-US" sz="550" i="1" dirty="0">
                <a:solidFill>
                  <a:srgbClr val="4A7BA7"/>
                </a:solidFill>
                <a:latin typeface="Calibri" pitchFamily="34" charset="0"/>
                <a:ea typeface="Calibri" pitchFamily="34" charset="-122"/>
                <a:cs typeface="Calibri" pitchFamily="34" charset="-120"/>
              </a:rPr>
              <a:t>Low / Medium / Critical</a:t>
            </a:r>
            <a:endParaRPr lang="en-US" sz="550" dirty="0"/>
          </a:p>
        </p:txBody>
      </p:sp>
      <p:sp>
        <p:nvSpPr>
          <p:cNvPr id="141" name="Shape 139"/>
          <p:cNvSpPr/>
          <p:nvPr/>
        </p:nvSpPr>
        <p:spPr>
          <a:xfrm>
            <a:off x="9052560" y="2816352"/>
            <a:ext cx="2697480" cy="347472"/>
          </a:xfrm>
          <a:prstGeom prst="rect">
            <a:avLst/>
          </a:prstGeom>
          <a:solidFill>
            <a:srgbClr val="FFFFFF"/>
          </a:solidFill>
          <a:ln w="12700">
            <a:solidFill>
              <a:srgbClr val="4A7BA7"/>
            </a:solidFill>
            <a:prstDash val="solid"/>
          </a:ln>
        </p:spPr>
      </p:sp>
      <p:sp>
        <p:nvSpPr>
          <p:cNvPr id="142" name="Shape 140"/>
          <p:cNvSpPr/>
          <p:nvPr/>
        </p:nvSpPr>
        <p:spPr>
          <a:xfrm rot="10800000">
            <a:off x="9116568" y="2907792"/>
            <a:ext cx="137160" cy="118872"/>
          </a:xfrm>
          <a:prstGeom prst="triangle">
            <a:avLst/>
          </a:prstGeom>
          <a:solidFill>
            <a:srgbClr val="1E3A5F"/>
          </a:solidFill>
          <a:ln w="12700">
            <a:solidFill>
              <a:srgbClr val="1E3A5F"/>
            </a:solidFill>
            <a:prstDash val="solid"/>
          </a:ln>
        </p:spPr>
      </p:sp>
      <p:sp>
        <p:nvSpPr>
          <p:cNvPr id="143" name="Text 141"/>
          <p:cNvSpPr/>
          <p:nvPr/>
        </p:nvSpPr>
        <p:spPr>
          <a:xfrm>
            <a:off x="9299448" y="2843784"/>
            <a:ext cx="2377440" cy="128016"/>
          </a:xfrm>
          <a:prstGeom prst="rect">
            <a:avLst/>
          </a:prstGeom>
          <a:noFill/>
          <a:ln/>
        </p:spPr>
        <p:txBody>
          <a:bodyPr wrap="square" rtlCol="0" anchor="ctr"/>
          <a:lstStyle/>
          <a:p>
            <a:pPr indent="0" marL="0">
              <a:buNone/>
            </a:pPr>
            <a:r>
              <a:rPr lang="en-US" sz="700" b="1" dirty="0">
                <a:solidFill>
                  <a:srgbClr val="1E3A5F"/>
                </a:solidFill>
                <a:latin typeface="Calibri" pitchFamily="34" charset="0"/>
                <a:ea typeface="Calibri" pitchFamily="34" charset="-122"/>
                <a:cs typeface="Calibri" pitchFamily="34" charset="-120"/>
              </a:rPr>
              <a:t>Infrastructure Exposure Index</a:t>
            </a:r>
            <a:endParaRPr lang="en-US" sz="700" dirty="0"/>
          </a:p>
        </p:txBody>
      </p:sp>
      <p:sp>
        <p:nvSpPr>
          <p:cNvPr id="144" name="Text 142"/>
          <p:cNvSpPr/>
          <p:nvPr/>
        </p:nvSpPr>
        <p:spPr>
          <a:xfrm>
            <a:off x="9299448" y="2971800"/>
            <a:ext cx="2377440" cy="91440"/>
          </a:xfrm>
          <a:prstGeom prst="rect">
            <a:avLst/>
          </a:prstGeom>
          <a:noFill/>
          <a:ln/>
        </p:spPr>
        <p:txBody>
          <a:bodyPr wrap="square" rtlCol="0" anchor="ctr"/>
          <a:lstStyle/>
          <a:p>
            <a:pPr indent="0" marL="0">
              <a:buNone/>
            </a:pPr>
            <a:r>
              <a:rPr lang="en-US" sz="550" dirty="0">
                <a:solidFill>
                  <a:srgbClr val="5A5A5A"/>
                </a:solidFill>
                <a:latin typeface="Calibri" pitchFamily="34" charset="0"/>
                <a:ea typeface="Calibri" pitchFamily="34" charset="-122"/>
                <a:cs typeface="Calibri" pitchFamily="34" charset="-120"/>
              </a:rPr>
              <a:t>Range: 1–1000+ assets</a:t>
            </a:r>
            <a:endParaRPr lang="en-US" sz="550" dirty="0"/>
          </a:p>
        </p:txBody>
      </p:sp>
      <p:sp>
        <p:nvSpPr>
          <p:cNvPr id="145" name="Text 143"/>
          <p:cNvSpPr/>
          <p:nvPr/>
        </p:nvSpPr>
        <p:spPr>
          <a:xfrm>
            <a:off x="9299448" y="3072384"/>
            <a:ext cx="2377440" cy="82296"/>
          </a:xfrm>
          <a:prstGeom prst="rect">
            <a:avLst/>
          </a:prstGeom>
          <a:noFill/>
          <a:ln/>
        </p:spPr>
        <p:txBody>
          <a:bodyPr wrap="square" rtlCol="0" anchor="ctr"/>
          <a:lstStyle/>
          <a:p>
            <a:pPr indent="0" marL="0">
              <a:buNone/>
            </a:pPr>
            <a:r>
              <a:rPr lang="en-US" sz="550" i="1" dirty="0">
                <a:solidFill>
                  <a:srgbClr val="4A7BA7"/>
                </a:solidFill>
                <a:latin typeface="Calibri" pitchFamily="34" charset="0"/>
                <a:ea typeface="Calibri" pitchFamily="34" charset="-122"/>
                <a:cs typeface="Calibri" pitchFamily="34" charset="-120"/>
              </a:rPr>
              <a:t>Minimal / Major Impact</a:t>
            </a:r>
            <a:endParaRPr lang="en-US" sz="550" dirty="0"/>
          </a:p>
        </p:txBody>
      </p:sp>
      <p:sp>
        <p:nvSpPr>
          <p:cNvPr id="146" name="Shape 144"/>
          <p:cNvSpPr/>
          <p:nvPr/>
        </p:nvSpPr>
        <p:spPr>
          <a:xfrm>
            <a:off x="9052560" y="3191256"/>
            <a:ext cx="2697480" cy="347472"/>
          </a:xfrm>
          <a:prstGeom prst="rect">
            <a:avLst/>
          </a:prstGeom>
          <a:solidFill>
            <a:srgbClr val="FFFFFF"/>
          </a:solidFill>
          <a:ln w="12700">
            <a:solidFill>
              <a:srgbClr val="4A7BA7"/>
            </a:solidFill>
            <a:prstDash val="solid"/>
          </a:ln>
        </p:spPr>
      </p:sp>
      <p:sp>
        <p:nvSpPr>
          <p:cNvPr id="147" name="Shape 145"/>
          <p:cNvSpPr/>
          <p:nvPr/>
        </p:nvSpPr>
        <p:spPr>
          <a:xfrm rot="10800000">
            <a:off x="9116568" y="3282696"/>
            <a:ext cx="137160" cy="118872"/>
          </a:xfrm>
          <a:prstGeom prst="triangle">
            <a:avLst/>
          </a:prstGeom>
          <a:solidFill>
            <a:srgbClr val="1E3A5F"/>
          </a:solidFill>
          <a:ln w="12700">
            <a:solidFill>
              <a:srgbClr val="1E3A5F"/>
            </a:solidFill>
            <a:prstDash val="solid"/>
          </a:ln>
        </p:spPr>
      </p:sp>
      <p:sp>
        <p:nvSpPr>
          <p:cNvPr id="148" name="Text 146"/>
          <p:cNvSpPr/>
          <p:nvPr/>
        </p:nvSpPr>
        <p:spPr>
          <a:xfrm>
            <a:off x="9299448" y="3218688"/>
            <a:ext cx="2377440" cy="128016"/>
          </a:xfrm>
          <a:prstGeom prst="rect">
            <a:avLst/>
          </a:prstGeom>
          <a:noFill/>
          <a:ln/>
        </p:spPr>
        <p:txBody>
          <a:bodyPr wrap="square" rtlCol="0" anchor="ctr"/>
          <a:lstStyle/>
          <a:p>
            <a:pPr indent="0" marL="0">
              <a:buNone/>
            </a:pPr>
            <a:r>
              <a:rPr lang="en-US" sz="700" b="1" dirty="0">
                <a:solidFill>
                  <a:srgbClr val="1E3A5F"/>
                </a:solidFill>
                <a:latin typeface="Calibri" pitchFamily="34" charset="0"/>
                <a:ea typeface="Calibri" pitchFamily="34" charset="-122"/>
                <a:cs typeface="Calibri" pitchFamily="34" charset="-120"/>
              </a:rPr>
              <a:t>Evacuation Safe Zone Analysis</a:t>
            </a:r>
            <a:endParaRPr lang="en-US" sz="700" dirty="0"/>
          </a:p>
        </p:txBody>
      </p:sp>
      <p:sp>
        <p:nvSpPr>
          <p:cNvPr id="149" name="Text 147"/>
          <p:cNvSpPr/>
          <p:nvPr/>
        </p:nvSpPr>
        <p:spPr>
          <a:xfrm>
            <a:off x="9299448" y="3346704"/>
            <a:ext cx="2377440" cy="91440"/>
          </a:xfrm>
          <a:prstGeom prst="rect">
            <a:avLst/>
          </a:prstGeom>
          <a:noFill/>
          <a:ln/>
        </p:spPr>
        <p:txBody>
          <a:bodyPr wrap="square" rtlCol="0" anchor="ctr"/>
          <a:lstStyle/>
          <a:p>
            <a:pPr indent="0" marL="0">
              <a:buNone/>
            </a:pPr>
            <a:r>
              <a:rPr lang="en-US" sz="550" dirty="0">
                <a:solidFill>
                  <a:srgbClr val="5A5A5A"/>
                </a:solidFill>
                <a:latin typeface="Calibri" pitchFamily="34" charset="0"/>
                <a:ea typeface="Calibri" pitchFamily="34" charset="-122"/>
                <a:cs typeface="Calibri" pitchFamily="34" charset="-120"/>
              </a:rPr>
              <a:t>Range: 1–20 km radius</a:t>
            </a:r>
            <a:endParaRPr lang="en-US" sz="550" dirty="0"/>
          </a:p>
        </p:txBody>
      </p:sp>
      <p:sp>
        <p:nvSpPr>
          <p:cNvPr id="150" name="Text 148"/>
          <p:cNvSpPr/>
          <p:nvPr/>
        </p:nvSpPr>
        <p:spPr>
          <a:xfrm>
            <a:off x="9299448" y="3447288"/>
            <a:ext cx="2377440" cy="82296"/>
          </a:xfrm>
          <a:prstGeom prst="rect">
            <a:avLst/>
          </a:prstGeom>
          <a:noFill/>
          <a:ln/>
        </p:spPr>
        <p:txBody>
          <a:bodyPr wrap="square" rtlCol="0" anchor="ctr"/>
          <a:lstStyle/>
          <a:p>
            <a:pPr indent="0" marL="0">
              <a:buNone/>
            </a:pPr>
            <a:r>
              <a:rPr lang="en-US" sz="550" i="1" dirty="0">
                <a:solidFill>
                  <a:srgbClr val="4A7BA7"/>
                </a:solidFill>
                <a:latin typeface="Calibri" pitchFamily="34" charset="0"/>
                <a:ea typeface="Calibri" pitchFamily="34" charset="-122"/>
                <a:cs typeface="Calibri" pitchFamily="34" charset="-120"/>
              </a:rPr>
              <a:t>Safe / Restricted / Unsafe</a:t>
            </a:r>
            <a:endParaRPr lang="en-US" sz="550" dirty="0"/>
          </a:p>
        </p:txBody>
      </p:sp>
      <p:sp>
        <p:nvSpPr>
          <p:cNvPr id="151" name="Shape 149"/>
          <p:cNvSpPr/>
          <p:nvPr/>
        </p:nvSpPr>
        <p:spPr>
          <a:xfrm>
            <a:off x="9052560" y="3566160"/>
            <a:ext cx="2697480" cy="347472"/>
          </a:xfrm>
          <a:prstGeom prst="rect">
            <a:avLst/>
          </a:prstGeom>
          <a:solidFill>
            <a:srgbClr val="FFFFFF"/>
          </a:solidFill>
          <a:ln w="12700">
            <a:solidFill>
              <a:srgbClr val="4A7BA7"/>
            </a:solidFill>
            <a:prstDash val="solid"/>
          </a:ln>
        </p:spPr>
      </p:sp>
      <p:sp>
        <p:nvSpPr>
          <p:cNvPr id="152" name="Shape 150"/>
          <p:cNvSpPr/>
          <p:nvPr/>
        </p:nvSpPr>
        <p:spPr>
          <a:xfrm rot="10800000">
            <a:off x="9116568" y="3657600"/>
            <a:ext cx="137160" cy="118872"/>
          </a:xfrm>
          <a:prstGeom prst="triangle">
            <a:avLst/>
          </a:prstGeom>
          <a:solidFill>
            <a:srgbClr val="1E3A5F"/>
          </a:solidFill>
          <a:ln w="12700">
            <a:solidFill>
              <a:srgbClr val="1E3A5F"/>
            </a:solidFill>
            <a:prstDash val="solid"/>
          </a:ln>
        </p:spPr>
      </p:sp>
      <p:sp>
        <p:nvSpPr>
          <p:cNvPr id="153" name="Text 151"/>
          <p:cNvSpPr/>
          <p:nvPr/>
        </p:nvSpPr>
        <p:spPr>
          <a:xfrm>
            <a:off x="9299448" y="3593592"/>
            <a:ext cx="2377440" cy="128016"/>
          </a:xfrm>
          <a:prstGeom prst="rect">
            <a:avLst/>
          </a:prstGeom>
          <a:noFill/>
          <a:ln/>
        </p:spPr>
        <p:txBody>
          <a:bodyPr wrap="square" rtlCol="0" anchor="ctr"/>
          <a:lstStyle/>
          <a:p>
            <a:pPr indent="0" marL="0">
              <a:buNone/>
            </a:pPr>
            <a:r>
              <a:rPr lang="en-US" sz="700" b="1" dirty="0">
                <a:solidFill>
                  <a:srgbClr val="1E3A5F"/>
                </a:solidFill>
                <a:latin typeface="Calibri" pitchFamily="34" charset="0"/>
                <a:ea typeface="Calibri" pitchFamily="34" charset="-122"/>
                <a:cs typeface="Calibri" pitchFamily="34" charset="-120"/>
              </a:rPr>
              <a:t>Road Blockage Prediction</a:t>
            </a:r>
            <a:endParaRPr lang="en-US" sz="700" dirty="0"/>
          </a:p>
        </p:txBody>
      </p:sp>
      <p:sp>
        <p:nvSpPr>
          <p:cNvPr id="154" name="Text 152"/>
          <p:cNvSpPr/>
          <p:nvPr/>
        </p:nvSpPr>
        <p:spPr>
          <a:xfrm>
            <a:off x="9299448" y="3721608"/>
            <a:ext cx="2377440" cy="91440"/>
          </a:xfrm>
          <a:prstGeom prst="rect">
            <a:avLst/>
          </a:prstGeom>
          <a:noFill/>
          <a:ln/>
        </p:spPr>
        <p:txBody>
          <a:bodyPr wrap="square" rtlCol="0" anchor="ctr"/>
          <a:lstStyle/>
          <a:p>
            <a:pPr indent="0" marL="0">
              <a:buNone/>
            </a:pPr>
            <a:r>
              <a:rPr lang="en-US" sz="550" dirty="0">
                <a:solidFill>
                  <a:srgbClr val="5A5A5A"/>
                </a:solidFill>
                <a:latin typeface="Calibri" pitchFamily="34" charset="0"/>
                <a:ea typeface="Calibri" pitchFamily="34" charset="-122"/>
                <a:cs typeface="Calibri" pitchFamily="34" charset="-120"/>
              </a:rPr>
              <a:t>Range: Open / Partial / Closed</a:t>
            </a:r>
            <a:endParaRPr lang="en-US" sz="550" dirty="0"/>
          </a:p>
        </p:txBody>
      </p:sp>
      <p:sp>
        <p:nvSpPr>
          <p:cNvPr id="155" name="Text 153"/>
          <p:cNvSpPr/>
          <p:nvPr/>
        </p:nvSpPr>
        <p:spPr>
          <a:xfrm>
            <a:off x="9299448" y="3822192"/>
            <a:ext cx="2377440" cy="82296"/>
          </a:xfrm>
          <a:prstGeom prst="rect">
            <a:avLst/>
          </a:prstGeom>
          <a:noFill/>
          <a:ln/>
        </p:spPr>
        <p:txBody>
          <a:bodyPr wrap="square" rtlCol="0" anchor="ctr"/>
          <a:lstStyle/>
          <a:p>
            <a:pPr indent="0" marL="0">
              <a:buNone/>
            </a:pPr>
            <a:r>
              <a:rPr lang="en-US" sz="550" i="1" dirty="0">
                <a:solidFill>
                  <a:srgbClr val="4A7BA7"/>
                </a:solidFill>
                <a:latin typeface="Calibri" pitchFamily="34" charset="0"/>
                <a:ea typeface="Calibri" pitchFamily="34" charset="-122"/>
                <a:cs typeface="Calibri" pitchFamily="34" charset="-120"/>
              </a:rPr>
              <a:t>Accessible / High Risk / Blocked</a:t>
            </a:r>
            <a:endParaRPr lang="en-US" sz="550" dirty="0"/>
          </a:p>
        </p:txBody>
      </p:sp>
      <p:sp>
        <p:nvSpPr>
          <p:cNvPr id="156" name="Shape 154"/>
          <p:cNvSpPr/>
          <p:nvPr/>
        </p:nvSpPr>
        <p:spPr>
          <a:xfrm>
            <a:off x="9052560" y="3941064"/>
            <a:ext cx="2697480" cy="347472"/>
          </a:xfrm>
          <a:prstGeom prst="rect">
            <a:avLst/>
          </a:prstGeom>
          <a:solidFill>
            <a:srgbClr val="FFFFFF"/>
          </a:solidFill>
          <a:ln w="12700">
            <a:solidFill>
              <a:srgbClr val="4A7BA7"/>
            </a:solidFill>
            <a:prstDash val="solid"/>
          </a:ln>
        </p:spPr>
      </p:sp>
      <p:sp>
        <p:nvSpPr>
          <p:cNvPr id="157" name="Shape 155"/>
          <p:cNvSpPr/>
          <p:nvPr/>
        </p:nvSpPr>
        <p:spPr>
          <a:xfrm rot="10800000">
            <a:off x="9116568" y="4032504"/>
            <a:ext cx="137160" cy="118872"/>
          </a:xfrm>
          <a:prstGeom prst="triangle">
            <a:avLst/>
          </a:prstGeom>
          <a:solidFill>
            <a:srgbClr val="1E3A5F"/>
          </a:solidFill>
          <a:ln w="12700">
            <a:solidFill>
              <a:srgbClr val="1E3A5F"/>
            </a:solidFill>
            <a:prstDash val="solid"/>
          </a:ln>
        </p:spPr>
      </p:sp>
      <p:sp>
        <p:nvSpPr>
          <p:cNvPr id="158" name="Text 156"/>
          <p:cNvSpPr/>
          <p:nvPr/>
        </p:nvSpPr>
        <p:spPr>
          <a:xfrm>
            <a:off x="9299448" y="3968496"/>
            <a:ext cx="2377440" cy="128016"/>
          </a:xfrm>
          <a:prstGeom prst="rect">
            <a:avLst/>
          </a:prstGeom>
          <a:noFill/>
          <a:ln/>
        </p:spPr>
        <p:txBody>
          <a:bodyPr wrap="square" rtlCol="0" anchor="ctr"/>
          <a:lstStyle/>
          <a:p>
            <a:pPr indent="0" marL="0">
              <a:buNone/>
            </a:pPr>
            <a:r>
              <a:rPr lang="en-US" sz="700" b="1" dirty="0">
                <a:solidFill>
                  <a:srgbClr val="1E3A5F"/>
                </a:solidFill>
                <a:latin typeface="Calibri" pitchFamily="34" charset="0"/>
                <a:ea typeface="Calibri" pitchFamily="34" charset="-122"/>
                <a:cs typeface="Calibri" pitchFamily="34" charset="-120"/>
              </a:rPr>
              <a:t>Debris Flow Impact Mapping</a:t>
            </a:r>
            <a:endParaRPr lang="en-US" sz="700" dirty="0"/>
          </a:p>
        </p:txBody>
      </p:sp>
      <p:sp>
        <p:nvSpPr>
          <p:cNvPr id="159" name="Text 157"/>
          <p:cNvSpPr/>
          <p:nvPr/>
        </p:nvSpPr>
        <p:spPr>
          <a:xfrm>
            <a:off x="9299448" y="4096512"/>
            <a:ext cx="2377440" cy="91440"/>
          </a:xfrm>
          <a:prstGeom prst="rect">
            <a:avLst/>
          </a:prstGeom>
          <a:noFill/>
          <a:ln/>
        </p:spPr>
        <p:txBody>
          <a:bodyPr wrap="square" rtlCol="0" anchor="ctr"/>
          <a:lstStyle/>
          <a:p>
            <a:pPr indent="0" marL="0">
              <a:buNone/>
            </a:pPr>
            <a:r>
              <a:rPr lang="en-US" sz="550" dirty="0">
                <a:solidFill>
                  <a:srgbClr val="5A5A5A"/>
                </a:solidFill>
                <a:latin typeface="Calibri" pitchFamily="34" charset="0"/>
                <a:ea typeface="Calibri" pitchFamily="34" charset="-122"/>
                <a:cs typeface="Calibri" pitchFamily="34" charset="-120"/>
              </a:rPr>
              <a:t>Range: &lt;1–100+ sq km</a:t>
            </a:r>
            <a:endParaRPr lang="en-US" sz="550" dirty="0"/>
          </a:p>
        </p:txBody>
      </p:sp>
      <p:sp>
        <p:nvSpPr>
          <p:cNvPr id="160" name="Text 158"/>
          <p:cNvSpPr/>
          <p:nvPr/>
        </p:nvSpPr>
        <p:spPr>
          <a:xfrm>
            <a:off x="9299448" y="4197096"/>
            <a:ext cx="2377440" cy="82296"/>
          </a:xfrm>
          <a:prstGeom prst="rect">
            <a:avLst/>
          </a:prstGeom>
          <a:noFill/>
          <a:ln/>
        </p:spPr>
        <p:txBody>
          <a:bodyPr wrap="square" rtlCol="0" anchor="ctr"/>
          <a:lstStyle/>
          <a:p>
            <a:pPr indent="0" marL="0">
              <a:buNone/>
            </a:pPr>
            <a:r>
              <a:rPr lang="en-US" sz="550" i="1" dirty="0">
                <a:solidFill>
                  <a:srgbClr val="4A7BA7"/>
                </a:solidFill>
                <a:latin typeface="Calibri" pitchFamily="34" charset="0"/>
                <a:ea typeface="Calibri" pitchFamily="34" charset="-122"/>
                <a:cs typeface="Calibri" pitchFamily="34" charset="-120"/>
              </a:rPr>
              <a:t>Minor / Moderate / Severe</a:t>
            </a:r>
            <a:endParaRPr lang="en-US" sz="550" dirty="0"/>
          </a:p>
        </p:txBody>
      </p:sp>
      <p:sp>
        <p:nvSpPr>
          <p:cNvPr id="161" name="Shape 159"/>
          <p:cNvSpPr/>
          <p:nvPr/>
        </p:nvSpPr>
        <p:spPr>
          <a:xfrm>
            <a:off x="9052560" y="4315968"/>
            <a:ext cx="2697480" cy="347472"/>
          </a:xfrm>
          <a:prstGeom prst="rect">
            <a:avLst/>
          </a:prstGeom>
          <a:solidFill>
            <a:srgbClr val="FFFFFF"/>
          </a:solidFill>
          <a:ln w="12700">
            <a:solidFill>
              <a:srgbClr val="4A7BA7"/>
            </a:solidFill>
            <a:prstDash val="solid"/>
          </a:ln>
        </p:spPr>
      </p:sp>
      <p:sp>
        <p:nvSpPr>
          <p:cNvPr id="162" name="Shape 160"/>
          <p:cNvSpPr/>
          <p:nvPr/>
        </p:nvSpPr>
        <p:spPr>
          <a:xfrm rot="10800000">
            <a:off x="9116568" y="4407408"/>
            <a:ext cx="137160" cy="118872"/>
          </a:xfrm>
          <a:prstGeom prst="triangle">
            <a:avLst/>
          </a:prstGeom>
          <a:solidFill>
            <a:srgbClr val="1E3A5F"/>
          </a:solidFill>
          <a:ln w="12700">
            <a:solidFill>
              <a:srgbClr val="1E3A5F"/>
            </a:solidFill>
            <a:prstDash val="solid"/>
          </a:ln>
        </p:spPr>
      </p:sp>
      <p:sp>
        <p:nvSpPr>
          <p:cNvPr id="163" name="Text 161"/>
          <p:cNvSpPr/>
          <p:nvPr/>
        </p:nvSpPr>
        <p:spPr>
          <a:xfrm>
            <a:off x="9299448" y="4343400"/>
            <a:ext cx="2377440" cy="128016"/>
          </a:xfrm>
          <a:prstGeom prst="rect">
            <a:avLst/>
          </a:prstGeom>
          <a:noFill/>
          <a:ln/>
        </p:spPr>
        <p:txBody>
          <a:bodyPr wrap="square" rtlCol="0" anchor="ctr"/>
          <a:lstStyle/>
          <a:p>
            <a:pPr indent="0" marL="0">
              <a:buNone/>
            </a:pPr>
            <a:r>
              <a:rPr lang="en-US" sz="700" b="1" dirty="0">
                <a:solidFill>
                  <a:srgbClr val="1E3A5F"/>
                </a:solidFill>
                <a:latin typeface="Calibri" pitchFamily="34" charset="0"/>
                <a:ea typeface="Calibri" pitchFamily="34" charset="-122"/>
                <a:cs typeface="Calibri" pitchFamily="34" charset="-120"/>
              </a:rPr>
              <a:t>Early Warning Notifications</a:t>
            </a:r>
            <a:endParaRPr lang="en-US" sz="700" dirty="0"/>
          </a:p>
        </p:txBody>
      </p:sp>
      <p:sp>
        <p:nvSpPr>
          <p:cNvPr id="164" name="Text 162"/>
          <p:cNvSpPr/>
          <p:nvPr/>
        </p:nvSpPr>
        <p:spPr>
          <a:xfrm>
            <a:off x="9299448" y="4471416"/>
            <a:ext cx="2377440" cy="91440"/>
          </a:xfrm>
          <a:prstGeom prst="rect">
            <a:avLst/>
          </a:prstGeom>
          <a:noFill/>
          <a:ln/>
        </p:spPr>
        <p:txBody>
          <a:bodyPr wrap="square" rtlCol="0" anchor="ctr"/>
          <a:lstStyle/>
          <a:p>
            <a:pPr indent="0" marL="0">
              <a:buNone/>
            </a:pPr>
            <a:r>
              <a:rPr lang="en-US" sz="550" dirty="0">
                <a:solidFill>
                  <a:srgbClr val="5A5A5A"/>
                </a:solidFill>
                <a:latin typeface="Calibri" pitchFamily="34" charset="0"/>
                <a:ea typeface="Calibri" pitchFamily="34" charset="-122"/>
                <a:cs typeface="Calibri" pitchFamily="34" charset="-120"/>
              </a:rPr>
              <a:t>Range: Seconds–minutes</a:t>
            </a:r>
            <a:endParaRPr lang="en-US" sz="550" dirty="0"/>
          </a:p>
        </p:txBody>
      </p:sp>
      <p:sp>
        <p:nvSpPr>
          <p:cNvPr id="165" name="Text 163"/>
          <p:cNvSpPr/>
          <p:nvPr/>
        </p:nvSpPr>
        <p:spPr>
          <a:xfrm>
            <a:off x="9299448" y="4572000"/>
            <a:ext cx="2377440" cy="82296"/>
          </a:xfrm>
          <a:prstGeom prst="rect">
            <a:avLst/>
          </a:prstGeom>
          <a:noFill/>
          <a:ln/>
        </p:spPr>
        <p:txBody>
          <a:bodyPr wrap="square" rtlCol="0" anchor="ctr"/>
          <a:lstStyle/>
          <a:p>
            <a:pPr indent="0" marL="0">
              <a:buNone/>
            </a:pPr>
            <a:r>
              <a:rPr lang="en-US" sz="550" i="1" dirty="0">
                <a:solidFill>
                  <a:srgbClr val="4A7BA7"/>
                </a:solidFill>
                <a:latin typeface="Calibri" pitchFamily="34" charset="0"/>
                <a:ea typeface="Calibri" pitchFamily="34" charset="-122"/>
                <a:cs typeface="Calibri" pitchFamily="34" charset="-120"/>
              </a:rPr>
              <a:t>Advisory / Watch / Warning / Emergency</a:t>
            </a:r>
            <a:endParaRPr lang="en-US" sz="550" dirty="0"/>
          </a:p>
        </p:txBody>
      </p:sp>
      <p:sp>
        <p:nvSpPr>
          <p:cNvPr id="166" name="Shape 164"/>
          <p:cNvSpPr/>
          <p:nvPr/>
        </p:nvSpPr>
        <p:spPr>
          <a:xfrm>
            <a:off x="9052560" y="4690872"/>
            <a:ext cx="2697480" cy="347472"/>
          </a:xfrm>
          <a:prstGeom prst="rect">
            <a:avLst/>
          </a:prstGeom>
          <a:solidFill>
            <a:srgbClr val="FFFFFF"/>
          </a:solidFill>
          <a:ln w="12700">
            <a:solidFill>
              <a:srgbClr val="4A7BA7"/>
            </a:solidFill>
            <a:prstDash val="solid"/>
          </a:ln>
        </p:spPr>
      </p:sp>
      <p:sp>
        <p:nvSpPr>
          <p:cNvPr id="167" name="Shape 165"/>
          <p:cNvSpPr/>
          <p:nvPr/>
        </p:nvSpPr>
        <p:spPr>
          <a:xfrm rot="10800000">
            <a:off x="9116568" y="4782312"/>
            <a:ext cx="137160" cy="118872"/>
          </a:xfrm>
          <a:prstGeom prst="triangle">
            <a:avLst/>
          </a:prstGeom>
          <a:solidFill>
            <a:srgbClr val="1E3A5F"/>
          </a:solidFill>
          <a:ln w="12700">
            <a:solidFill>
              <a:srgbClr val="1E3A5F"/>
            </a:solidFill>
            <a:prstDash val="solid"/>
          </a:ln>
        </p:spPr>
      </p:sp>
      <p:sp>
        <p:nvSpPr>
          <p:cNvPr id="168" name="Text 166"/>
          <p:cNvSpPr/>
          <p:nvPr/>
        </p:nvSpPr>
        <p:spPr>
          <a:xfrm>
            <a:off x="9299448" y="4718304"/>
            <a:ext cx="2377440" cy="128016"/>
          </a:xfrm>
          <a:prstGeom prst="rect">
            <a:avLst/>
          </a:prstGeom>
          <a:noFill/>
          <a:ln/>
        </p:spPr>
        <p:txBody>
          <a:bodyPr wrap="square" rtlCol="0" anchor="ctr"/>
          <a:lstStyle/>
          <a:p>
            <a:pPr indent="0" marL="0">
              <a:buNone/>
            </a:pPr>
            <a:r>
              <a:rPr lang="en-US" sz="700" b="1" dirty="0">
                <a:solidFill>
                  <a:srgbClr val="1E3A5F"/>
                </a:solidFill>
                <a:latin typeface="Calibri" pitchFamily="34" charset="0"/>
                <a:ea typeface="Calibri" pitchFamily="34" charset="-122"/>
                <a:cs typeface="Calibri" pitchFamily="34" charset="-120"/>
              </a:rPr>
              <a:t>Emergency Response Priority</a:t>
            </a:r>
            <a:endParaRPr lang="en-US" sz="700" dirty="0"/>
          </a:p>
        </p:txBody>
      </p:sp>
      <p:sp>
        <p:nvSpPr>
          <p:cNvPr id="169" name="Text 167"/>
          <p:cNvSpPr/>
          <p:nvPr/>
        </p:nvSpPr>
        <p:spPr>
          <a:xfrm>
            <a:off x="9299448" y="4846320"/>
            <a:ext cx="2377440" cy="91440"/>
          </a:xfrm>
          <a:prstGeom prst="rect">
            <a:avLst/>
          </a:prstGeom>
          <a:noFill/>
          <a:ln/>
        </p:spPr>
        <p:txBody>
          <a:bodyPr wrap="square" rtlCol="0" anchor="ctr"/>
          <a:lstStyle/>
          <a:p>
            <a:pPr indent="0" marL="0">
              <a:buNone/>
            </a:pPr>
            <a:r>
              <a:rPr lang="en-US" sz="550" dirty="0">
                <a:solidFill>
                  <a:srgbClr val="5A5A5A"/>
                </a:solidFill>
                <a:latin typeface="Calibri" pitchFamily="34" charset="0"/>
                <a:ea typeface="Calibri" pitchFamily="34" charset="-122"/>
                <a:cs typeface="Calibri" pitchFamily="34" charset="-120"/>
              </a:rPr>
              <a:t>Range: Routine–Critical</a:t>
            </a:r>
            <a:endParaRPr lang="en-US" sz="550" dirty="0"/>
          </a:p>
        </p:txBody>
      </p:sp>
      <p:sp>
        <p:nvSpPr>
          <p:cNvPr id="170" name="Text 168"/>
          <p:cNvSpPr/>
          <p:nvPr/>
        </p:nvSpPr>
        <p:spPr>
          <a:xfrm>
            <a:off x="9299448" y="4946904"/>
            <a:ext cx="2377440" cy="82296"/>
          </a:xfrm>
          <a:prstGeom prst="rect">
            <a:avLst/>
          </a:prstGeom>
          <a:noFill/>
          <a:ln/>
        </p:spPr>
        <p:txBody>
          <a:bodyPr wrap="square" rtlCol="0" anchor="ctr"/>
          <a:lstStyle/>
          <a:p>
            <a:pPr indent="0" marL="0">
              <a:buNone/>
            </a:pPr>
            <a:r>
              <a:rPr lang="en-US" sz="550" i="1" dirty="0">
                <a:solidFill>
                  <a:srgbClr val="4A7BA7"/>
                </a:solidFill>
                <a:latin typeface="Calibri" pitchFamily="34" charset="0"/>
                <a:ea typeface="Calibri" pitchFamily="34" charset="-122"/>
                <a:cs typeface="Calibri" pitchFamily="34" charset="-120"/>
              </a:rPr>
              <a:t>Standard / High Priority / Immediate</a:t>
            </a:r>
            <a:endParaRPr lang="en-US" sz="550" dirty="0"/>
          </a:p>
        </p:txBody>
      </p:sp>
      <p:sp>
        <p:nvSpPr>
          <p:cNvPr id="171" name="Shape 169"/>
          <p:cNvSpPr/>
          <p:nvPr/>
        </p:nvSpPr>
        <p:spPr>
          <a:xfrm>
            <a:off x="9052560" y="5065776"/>
            <a:ext cx="2697480" cy="347472"/>
          </a:xfrm>
          <a:prstGeom prst="rect">
            <a:avLst/>
          </a:prstGeom>
          <a:solidFill>
            <a:srgbClr val="FFFFFF"/>
          </a:solidFill>
          <a:ln w="12700">
            <a:solidFill>
              <a:srgbClr val="4A7BA7"/>
            </a:solidFill>
            <a:prstDash val="solid"/>
          </a:ln>
        </p:spPr>
      </p:sp>
      <p:sp>
        <p:nvSpPr>
          <p:cNvPr id="172" name="Shape 170"/>
          <p:cNvSpPr/>
          <p:nvPr/>
        </p:nvSpPr>
        <p:spPr>
          <a:xfrm rot="10800000">
            <a:off x="9116568" y="5157216"/>
            <a:ext cx="137160" cy="118872"/>
          </a:xfrm>
          <a:prstGeom prst="triangle">
            <a:avLst/>
          </a:prstGeom>
          <a:solidFill>
            <a:srgbClr val="1E3A5F"/>
          </a:solidFill>
          <a:ln w="12700">
            <a:solidFill>
              <a:srgbClr val="1E3A5F"/>
            </a:solidFill>
            <a:prstDash val="solid"/>
          </a:ln>
        </p:spPr>
      </p:sp>
      <p:sp>
        <p:nvSpPr>
          <p:cNvPr id="173" name="Text 171"/>
          <p:cNvSpPr/>
          <p:nvPr/>
        </p:nvSpPr>
        <p:spPr>
          <a:xfrm>
            <a:off x="9299448" y="5093208"/>
            <a:ext cx="2377440" cy="128016"/>
          </a:xfrm>
          <a:prstGeom prst="rect">
            <a:avLst/>
          </a:prstGeom>
          <a:noFill/>
          <a:ln/>
        </p:spPr>
        <p:txBody>
          <a:bodyPr wrap="square" rtlCol="0" anchor="ctr"/>
          <a:lstStyle/>
          <a:p>
            <a:pPr indent="0" marL="0">
              <a:buNone/>
            </a:pPr>
            <a:r>
              <a:rPr lang="en-US" sz="700" b="1" dirty="0">
                <a:solidFill>
                  <a:srgbClr val="1E3A5F"/>
                </a:solidFill>
                <a:latin typeface="Calibri" pitchFamily="34" charset="0"/>
                <a:ea typeface="Calibri" pitchFamily="34" charset="-122"/>
                <a:cs typeface="Calibri" pitchFamily="34" charset="-120"/>
              </a:rPr>
              <a:t>Shelter Capacity Monitoring</a:t>
            </a:r>
            <a:endParaRPr lang="en-US" sz="700" dirty="0"/>
          </a:p>
        </p:txBody>
      </p:sp>
      <p:sp>
        <p:nvSpPr>
          <p:cNvPr id="174" name="Text 172"/>
          <p:cNvSpPr/>
          <p:nvPr/>
        </p:nvSpPr>
        <p:spPr>
          <a:xfrm>
            <a:off x="9299448" y="5221224"/>
            <a:ext cx="2377440" cy="91440"/>
          </a:xfrm>
          <a:prstGeom prst="rect">
            <a:avLst/>
          </a:prstGeom>
          <a:noFill/>
          <a:ln/>
        </p:spPr>
        <p:txBody>
          <a:bodyPr wrap="square" rtlCol="0" anchor="ctr"/>
          <a:lstStyle/>
          <a:p>
            <a:pPr indent="0" marL="0">
              <a:buNone/>
            </a:pPr>
            <a:r>
              <a:rPr lang="en-US" sz="550" dirty="0">
                <a:solidFill>
                  <a:srgbClr val="5A5A5A"/>
                </a:solidFill>
                <a:latin typeface="Calibri" pitchFamily="34" charset="0"/>
                <a:ea typeface="Calibri" pitchFamily="34" charset="-122"/>
                <a:cs typeface="Calibri" pitchFamily="34" charset="-120"/>
              </a:rPr>
              <a:t>Range: 0–100% occupancy</a:t>
            </a:r>
            <a:endParaRPr lang="en-US" sz="550" dirty="0"/>
          </a:p>
        </p:txBody>
      </p:sp>
      <p:sp>
        <p:nvSpPr>
          <p:cNvPr id="175" name="Text 173"/>
          <p:cNvSpPr/>
          <p:nvPr/>
        </p:nvSpPr>
        <p:spPr>
          <a:xfrm>
            <a:off x="9299448" y="5321808"/>
            <a:ext cx="2377440" cy="82296"/>
          </a:xfrm>
          <a:prstGeom prst="rect">
            <a:avLst/>
          </a:prstGeom>
          <a:noFill/>
          <a:ln/>
        </p:spPr>
        <p:txBody>
          <a:bodyPr wrap="square" rtlCol="0" anchor="ctr"/>
          <a:lstStyle/>
          <a:p>
            <a:pPr indent="0" marL="0">
              <a:buNone/>
            </a:pPr>
            <a:r>
              <a:rPr lang="en-US" sz="550" i="1" dirty="0">
                <a:solidFill>
                  <a:srgbClr val="4A7BA7"/>
                </a:solidFill>
                <a:latin typeface="Calibri" pitchFamily="34" charset="0"/>
                <a:ea typeface="Calibri" pitchFamily="34" charset="-122"/>
                <a:cs typeface="Calibri" pitchFamily="34" charset="-120"/>
              </a:rPr>
              <a:t>Available / Near Full / Full</a:t>
            </a:r>
            <a:endParaRPr lang="en-US" sz="550" dirty="0"/>
          </a:p>
        </p:txBody>
      </p:sp>
      <p:sp>
        <p:nvSpPr>
          <p:cNvPr id="176" name="Text 174"/>
          <p:cNvSpPr/>
          <p:nvPr/>
        </p:nvSpPr>
        <p:spPr>
          <a:xfrm>
            <a:off x="228600" y="5486400"/>
            <a:ext cx="11612880" cy="320040"/>
          </a:xfrm>
          <a:prstGeom prst="rect">
            <a:avLst/>
          </a:prstGeom>
          <a:noFill/>
          <a:ln/>
        </p:spPr>
        <p:txBody>
          <a:bodyPr wrap="square" rtlCol="0" anchor="ctr"/>
          <a:lstStyle/>
          <a:p>
            <a:pPr indent="0" marL="0">
              <a:buNone/>
            </a:pPr>
            <a:r>
              <a:rPr lang="en-US" sz="700" i="1" dirty="0">
                <a:solidFill>
                  <a:srgbClr val="E67E22"/>
                </a:solidFill>
                <a:latin typeface="Calibri" pitchFamily="34" charset="0"/>
                <a:ea typeface="Calibri" pitchFamily="34" charset="-122"/>
                <a:cs typeface="Calibri" pitchFamily="34" charset="-120"/>
              </a:rPr>
              <a:t>⚠ Data Requirement Note: Large-scale landslide hazard assessment will be performed using geospatial AI and slope stability modeling integrated with satellite imagery, remote sensing data, terrain morphology, soil moisture, rainfall data, and other geospatial datasets enabling from the latest.</a:t>
            </a:r>
            <a:endParaRPr lang="en-US" sz="700" dirty="0"/>
          </a:p>
        </p:txBody>
      </p:sp>
      <p:sp>
        <p:nvSpPr>
          <p:cNvPr id="177" name="Text 175"/>
          <p:cNvSpPr/>
          <p:nvPr/>
        </p:nvSpPr>
        <p:spPr>
          <a:xfrm>
            <a:off x="274320" y="5943600"/>
            <a:ext cx="914400" cy="274320"/>
          </a:xfrm>
          <a:prstGeom prst="rect">
            <a:avLst/>
          </a:prstGeom>
          <a:noFill/>
          <a:ln/>
        </p:spPr>
        <p:txBody>
          <a:bodyPr wrap="square" rtlCol="0" anchor="ctr"/>
          <a:lstStyle/>
          <a:p>
            <a:pPr indent="0" marL="0">
              <a:buNone/>
            </a:pPr>
            <a:r>
              <a:rPr lang="en-US" sz="1400" b="1" dirty="0">
                <a:solidFill>
                  <a:srgbClr val="E67E22"/>
                </a:solidFill>
                <a:latin typeface="Calibri" pitchFamily="34" charset="0"/>
                <a:ea typeface="Calibri" pitchFamily="34" charset="-122"/>
                <a:cs typeface="Calibri" pitchFamily="34" charset="-120"/>
              </a:rPr>
              <a:t>Straive</a:t>
            </a:r>
            <a:endParaRPr lang="en-US" sz="1400" dirty="0"/>
          </a:p>
        </p:txBody>
      </p:sp>
      <p:sp>
        <p:nvSpPr>
          <p:cNvPr id="178" name="Text 176"/>
          <p:cNvSpPr/>
          <p:nvPr/>
        </p:nvSpPr>
        <p:spPr>
          <a:xfrm>
            <a:off x="4572000" y="5989320"/>
            <a:ext cx="3657600" cy="274320"/>
          </a:xfrm>
          <a:prstGeom prst="rect">
            <a:avLst/>
          </a:prstGeom>
          <a:noFill/>
          <a:ln/>
        </p:spPr>
        <p:txBody>
          <a:bodyPr wrap="square" rtlCol="0" anchor="ctr"/>
          <a:lstStyle/>
          <a:p>
            <a:pPr algn="ctr" indent="0" marL="0">
              <a:buNone/>
            </a:pPr>
            <a:r>
              <a:rPr lang="en-US" sz="700" dirty="0">
                <a:solidFill>
                  <a:srgbClr val="E8E8E8"/>
                </a:solidFill>
                <a:latin typeface="Calibri" pitchFamily="34" charset="0"/>
                <a:ea typeface="Calibri" pitchFamily="34" charset="-122"/>
                <a:cs typeface="Calibri" pitchFamily="34" charset="-120"/>
              </a:rPr>
              <a:t>© 2026 Straive. All rights reserved | www.straive.com</a:t>
            </a:r>
            <a:endParaRPr lang="en-US" sz="700" dirty="0"/>
          </a:p>
          <a:p>
            <a:pPr algn="ctr" indent="0" marL="0">
              <a:buNone/>
            </a:pPr>
            <a:r>
              <a:rPr lang="en-US" sz="700" dirty="0">
                <a:solidFill>
                  <a:srgbClr val="E8E8E8"/>
                </a:solidFill>
                <a:latin typeface="Calibri" pitchFamily="34" charset="0"/>
                <a:ea typeface="Calibri" pitchFamily="34" charset="-122"/>
                <a:cs typeface="Calibri" pitchFamily="34" charset="-120"/>
              </a:rPr>
              <a:t>Sensitivity Label: General</a:t>
            </a:r>
            <a:endParaRPr lang="en-US" sz="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2026-05-16T08:52:17Z</dcterms:created>
  <dcterms:modified xsi:type="dcterms:W3CDTF">2026-05-16T08:52:17Z</dcterms:modified>
</cp:coreProperties>
</file>